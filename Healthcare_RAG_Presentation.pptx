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rgbClr val="0096B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37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4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11D4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Medication
34%</c:v>
                  </c:pt>
                  <c:pt idx="1">
                    <c:v>Treatment
23%</c:v>
                  </c:pt>
                  <c:pt idx="2">
                    <c:v>Diagnosis
15%</c:v>
                  </c:pt>
                  <c:pt idx="3">
                    <c:v>General
13%</c:v>
                  </c:pt>
                  <c:pt idx="4">
                    <c:v>Prevention
11%</c:v>
                  </c:pt>
                  <c:pt idx="5">
                    <c:v>Symptoms
4%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23</c:v>
                </c:pt>
                <c:pt idx="2">
                  <c:v>15</c:v>
                </c:pt>
                <c:pt idx="3">
                  <c:v>13</c:v>
                </c:pt>
                <c:pt idx="4">
                  <c:v>11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57200"/>
            <a:ext cx="2011680" cy="2011680"/>
          </a:xfrm>
          <a:prstGeom prst="ellipse">
            <a:avLst/>
          </a:prstGeom>
          <a:solidFill>
            <a:srgbClr val="0096B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4389120"/>
            <a:ext cx="3200400" cy="3200400"/>
          </a:xfrm>
          <a:prstGeom prst="ellipse">
            <a:avLst/>
          </a:prstGeom>
          <a:solidFill>
            <a:srgbClr val="00C4D4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875520" y="128016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73152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96B7">
              <a:alpha val="2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731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D4"/>
                </a:solidFill>
              </a:rPr>
              <a:t>eyouth × DEPI  ·  Microsoft ML Track  · 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5544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RAG-Powered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Q&amp;A Assistant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Generation system for evidence-based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question answering from 211K PubMedQA research papers.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0080" y="4617720"/>
            <a:ext cx="923544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61772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PubMedQA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73352" y="4617720"/>
            <a:ext cx="662940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15" name="Text 12"/>
          <p:cNvSpPr/>
          <p:nvPr/>
        </p:nvSpPr>
        <p:spPr>
          <a:xfrm>
            <a:off x="1673352" y="4617720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FAISS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446020" y="4617720"/>
            <a:ext cx="836676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17" name="Text 14"/>
          <p:cNvSpPr/>
          <p:nvPr/>
        </p:nvSpPr>
        <p:spPr>
          <a:xfrm>
            <a:off x="2446020" y="4617720"/>
            <a:ext cx="83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BioBERT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92424" y="4617720"/>
            <a:ext cx="1271016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19" name="Text 16"/>
          <p:cNvSpPr/>
          <p:nvPr/>
        </p:nvSpPr>
        <p:spPr>
          <a:xfrm>
            <a:off x="3392424" y="4617720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Groq Llama 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73168" y="4617720"/>
            <a:ext cx="836676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21" name="Text 18"/>
          <p:cNvSpPr/>
          <p:nvPr/>
        </p:nvSpPr>
        <p:spPr>
          <a:xfrm>
            <a:off x="4773168" y="4617720"/>
            <a:ext cx="836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FastAPI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19572" y="4617720"/>
            <a:ext cx="749808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23" name="Text 20"/>
          <p:cNvSpPr/>
          <p:nvPr/>
        </p:nvSpPr>
        <p:spPr>
          <a:xfrm>
            <a:off x="5719572" y="461772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Docker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79108" y="4617720"/>
            <a:ext cx="662940" cy="310896"/>
          </a:xfrm>
          <a:prstGeom prst="roundRect">
            <a:avLst>
              <a:gd name="adj" fmla="val 14706"/>
            </a:avLst>
          </a:prstGeom>
          <a:solidFill>
            <a:srgbClr val="19376D"/>
          </a:solidFill>
          <a:ln/>
        </p:spPr>
      </p:sp>
      <p:sp>
        <p:nvSpPr>
          <p:cNvPr id="25" name="Text 22"/>
          <p:cNvSpPr/>
          <p:nvPr/>
        </p:nvSpPr>
        <p:spPr>
          <a:xfrm>
            <a:off x="6579108" y="4617720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Azure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5166360"/>
            <a:ext cx="1124712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5349240"/>
            <a:ext cx="1124712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22960" y="5413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D4"/>
                </a:solidFill>
              </a:rPr>
              <a:t>TEAM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" y="5705856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 Mostafa Sayed  (Leader)     Ziad Ahmed El-Nady     Youssef George Youssef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Doha Khaled Mahmoud     Eman Khalid Ismail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4389120" y="0"/>
            <a:ext cx="64008" cy="685800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C4D4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is vast.</a:t>
            </a:r>
            <a:endParaRPr lang="en-US" sz="3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critical.</a:t>
            </a:r>
            <a:endParaRPr lang="en-US" sz="3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fall short.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411480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0096B7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206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4D4"/>
                </a:solidFill>
              </a:rPr>
              <a:t>211,000+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PubMed research papers — no unified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evidence-based query system existed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731520"/>
            <a:ext cx="70408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31520"/>
            <a:ext cx="73152" cy="1691640"/>
          </a:xfrm>
          <a:prstGeom prst="rect">
            <a:avLst/>
          </a:prstGeom>
          <a:solidFill>
            <a:srgbClr val="0096B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8872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77840" y="91440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Search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577840" y="132588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juggle PubMed, Google Scholar, and hospital systems simultaneously with no integrated context.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2651760"/>
            <a:ext cx="70408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651760"/>
            <a:ext cx="73152" cy="1691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10896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8346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Review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577840" y="32461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interpreting research papers takes hours. Clinical decisions cannot wait.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54880" y="4572000"/>
            <a:ext cx="704088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4572000"/>
            <a:ext cx="73152" cy="16916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0292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77840" y="4754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Grounding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577840" y="5166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hallucinate medical facts without retrieving real, peer-reviewed sources.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C4D4"/>
                </a:solidFill>
              </a:rPr>
              <a:t>AT A GLANCE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Key metrics of the Healthcare RAG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201168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691640"/>
            <a:ext cx="822960" cy="822960"/>
          </a:xfrm>
          <a:prstGeom prst="ellipse">
            <a:avLst/>
          </a:prstGeom>
          <a:solidFill>
            <a:srgbClr val="0096B7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8288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211K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365760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PubMedQA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Dataset Samples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4681728"/>
            <a:ext cx="2011680" cy="0"/>
          </a:xfrm>
          <a:prstGeom prst="line">
            <a:avLst/>
          </a:prstGeom>
          <a:noFill/>
          <a:ln w="12700">
            <a:solidFill>
              <a:srgbClr val="0096B7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QA triples from biomedical research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10128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0128" y="1325880"/>
            <a:ext cx="274320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2"/>
          <p:cNvSpPr/>
          <p:nvPr/>
        </p:nvSpPr>
        <p:spPr>
          <a:xfrm>
            <a:off x="4270248" y="1691640"/>
            <a:ext cx="822960" cy="8229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82880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200" dirty="0"/>
          </a:p>
        </p:txBody>
      </p:sp>
      <p:sp>
        <p:nvSpPr>
          <p:cNvPr id="18" name="Text 14"/>
          <p:cNvSpPr/>
          <p:nvPr/>
        </p:nvSpPr>
        <p:spPr>
          <a:xfrm>
            <a:off x="3310128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Medical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Categories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75888" y="4681728"/>
            <a:ext cx="2011680" cy="0"/>
          </a:xfrm>
          <a:prstGeom prst="line">
            <a:avLst/>
          </a:prstGeom>
          <a:noFill/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01568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Symptoms · Diagnosis · Treatment · Medication · Prevention · General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254496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54496" y="1325880"/>
            <a:ext cx="2743200" cy="201168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23" name="Shape 19"/>
          <p:cNvSpPr/>
          <p:nvPr/>
        </p:nvSpPr>
        <p:spPr>
          <a:xfrm>
            <a:off x="7214616" y="1691640"/>
            <a:ext cx="822960" cy="822960"/>
          </a:xfrm>
          <a:prstGeom prst="ellipse">
            <a:avLst/>
          </a:prstGeom>
          <a:solidFill>
            <a:srgbClr val="00C49A">
              <a:alpha val="15000"/>
            </a:srgbClr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182880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54496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90.66%</a:t>
            </a:r>
            <a:endParaRPr lang="en-US" sz="5200" dirty="0"/>
          </a:p>
        </p:txBody>
      </p:sp>
      <p:sp>
        <p:nvSpPr>
          <p:cNvPr id="26" name="Text 21"/>
          <p:cNvSpPr/>
          <p:nvPr/>
        </p:nvSpPr>
        <p:spPr>
          <a:xfrm>
            <a:off x="6254496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Macro F1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Classifier Score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620256" y="4681728"/>
            <a:ext cx="2011680" cy="0"/>
          </a:xfrm>
          <a:prstGeom prst="line">
            <a:avLst/>
          </a:prstGeom>
          <a:noFill/>
          <a:ln w="12700">
            <a:solidFill>
              <a:srgbClr val="00C49A">
                <a:alpha val="4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45936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BioBERT fine-tuned — exceeded 78% target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9198864" y="1325880"/>
            <a:ext cx="2743200" cy="5120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198864" y="1325880"/>
            <a:ext cx="274320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6"/>
          <p:cNvSpPr/>
          <p:nvPr/>
        </p:nvSpPr>
        <p:spPr>
          <a:xfrm>
            <a:off x="10158984" y="1691640"/>
            <a:ext cx="822960" cy="82296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182880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98864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ms</a:t>
            </a:r>
            <a:endParaRPr lang="en-US" sz="5200" dirty="0"/>
          </a:p>
        </p:txBody>
      </p:sp>
      <p:sp>
        <p:nvSpPr>
          <p:cNvPr id="34" name="Text 28"/>
          <p:cNvSpPr/>
          <p:nvPr/>
        </p:nvSpPr>
        <p:spPr>
          <a:xfrm>
            <a:off x="9198864" y="38404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P95 Response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Latency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9564624" y="4681728"/>
            <a:ext cx="2011680" cy="0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290304" y="475488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Warm-path end-to-end inference time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3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34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36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7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39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405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4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35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45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465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480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495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5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96B7"/>
                </a:solidFill>
              </a:rPr>
              <a:t>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PubMedQA — 211K Biomedical Q&amp;A Triples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Source: qiaojin/PubMedQA  ·  pqa_artificial subset  ·  HuggingFace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737360"/>
            <a:ext cx="4480560" cy="10972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58952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</a:rPr>
              <a:t>Data Pipeline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1945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B7"/>
                </a:solidFill>
              </a:rPr>
              <a:t>Load  →  Clean  →  Label  →  Embed  →  Index  →  Evaluate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3017520"/>
            <a:ext cx="4480560" cy="23774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589520" y="31546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</a:rPr>
              <a:t>Embedding &amp; Indexing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Model: S-PubMedBert-MS-MARCO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Dimension: 768d vectors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Index: FAISS IndexFlatIP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Hybrid: BM25 keyword search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C4D4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5-Stage RAG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5984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5984" y="1371600"/>
            <a:ext cx="2103120" cy="164592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7" name="Shape 5"/>
          <p:cNvSpPr/>
          <p:nvPr/>
        </p:nvSpPr>
        <p:spPr>
          <a:xfrm>
            <a:off x="966064" y="1737360"/>
            <a:ext cx="822960" cy="822960"/>
          </a:xfrm>
          <a:prstGeom prst="ellipse">
            <a:avLst/>
          </a:prstGeom>
          <a:solidFill>
            <a:srgbClr val="0096B7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7424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47392" y="2167128"/>
            <a:ext cx="237744" cy="320040"/>
          </a:xfrm>
          <a:prstGeom prst="rightArrow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85136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85136" y="1371600"/>
            <a:ext cx="210312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0"/>
          <p:cNvSpPr/>
          <p:nvPr/>
        </p:nvSpPr>
        <p:spPr>
          <a:xfrm>
            <a:off x="3325216" y="1737360"/>
            <a:ext cx="822960" cy="82296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376" y="187452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76576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BioBERT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806544" y="2167128"/>
            <a:ext cx="237744" cy="320040"/>
          </a:xfrm>
          <a:prstGeom prst="rightArrow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44288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44288" y="1371600"/>
            <a:ext cx="2103120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Shape 15"/>
          <p:cNvSpPr/>
          <p:nvPr/>
        </p:nvSpPr>
        <p:spPr>
          <a:xfrm>
            <a:off x="5684368" y="1737360"/>
            <a:ext cx="822960" cy="82296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18745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5728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BM25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165696" y="2167128"/>
            <a:ext cx="237744" cy="320040"/>
          </a:xfrm>
          <a:prstGeom prst="rightArrow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03440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03440" y="1371600"/>
            <a:ext cx="21031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8043520" y="1737360"/>
            <a:ext cx="822960" cy="82296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680" y="187452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94880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CrossEncoder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524848" y="2167128"/>
            <a:ext cx="237744" cy="32004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762592" y="1371600"/>
            <a:ext cx="21031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762592" y="1371600"/>
            <a:ext cx="2103120" cy="1645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1" name="Shape 25"/>
          <p:cNvSpPr/>
          <p:nvPr/>
        </p:nvSpPr>
        <p:spPr>
          <a:xfrm>
            <a:off x="10402672" y="1737360"/>
            <a:ext cx="822960" cy="822960"/>
          </a:xfrm>
          <a:prstGeom prst="ellipse">
            <a:avLst/>
          </a:prstGeom>
          <a:solidFill>
            <a:srgbClr val="E11D48">
              <a:alpha val="15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9832" y="187452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54032" y="269748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57200" y="3520440"/>
            <a:ext cx="11277295" cy="658368"/>
          </a:xfrm>
          <a:prstGeom prst="rect">
            <a:avLst/>
          </a:prstGeom>
          <a:solidFill>
            <a:srgbClr val="0B24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457200" y="3520440"/>
            <a:ext cx="112772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</a:rPr>
              <a:t>Output:  Category  ·  Evidence-Based Answer  ·  Source Citations  ·  Medical Disclaimer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457200" y="437083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57200" y="4370832"/>
            <a:ext cx="64008" cy="86868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38" name="Text 31"/>
          <p:cNvSpPr/>
          <p:nvPr/>
        </p:nvSpPr>
        <p:spPr>
          <a:xfrm>
            <a:off x="64008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B7"/>
                </a:solidFill>
              </a:rPr>
              <a:t>Embeddings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40080" y="4782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S-PubMedBert-MS-MARCO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4370832" y="437083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370832" y="4370832"/>
            <a:ext cx="64008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2" name="Text 35"/>
          <p:cNvSpPr/>
          <p:nvPr/>
        </p:nvSpPr>
        <p:spPr>
          <a:xfrm>
            <a:off x="4553712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Vector Store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4553712" y="4782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FAISS + BM25 Hybrid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8284464" y="437083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284464" y="4370832"/>
            <a:ext cx="6400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39"/>
          <p:cNvSpPr/>
          <p:nvPr/>
        </p:nvSpPr>
        <p:spPr>
          <a:xfrm>
            <a:off x="8467344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Classifier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8467344" y="4782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BioBERT fine-tuned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457200" y="537667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457200" y="5376672"/>
            <a:ext cx="64008" cy="8686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0" name="Text 43"/>
          <p:cNvSpPr/>
          <p:nvPr/>
        </p:nvSpPr>
        <p:spPr>
          <a:xfrm>
            <a:off x="640080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Generator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640080" y="5788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Groq Llama 4 Scout 17B</a:t>
            </a:r>
            <a:endParaRPr lang="en-US" sz="1200" dirty="0"/>
          </a:p>
        </p:txBody>
      </p:sp>
      <p:sp>
        <p:nvSpPr>
          <p:cNvPr id="52" name="Shape 45"/>
          <p:cNvSpPr/>
          <p:nvPr/>
        </p:nvSpPr>
        <p:spPr>
          <a:xfrm>
            <a:off x="4370832" y="537667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4370832" y="5376672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47"/>
          <p:cNvSpPr/>
          <p:nvPr/>
        </p:nvSpPr>
        <p:spPr>
          <a:xfrm>
            <a:off x="4553712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Reranker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4553712" y="5788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cross-encoder MiniLM-L-12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8284464" y="5376672"/>
            <a:ext cx="3730752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0"/>
          <p:cNvSpPr/>
          <p:nvPr/>
        </p:nvSpPr>
        <p:spPr>
          <a:xfrm>
            <a:off x="8284464" y="5376672"/>
            <a:ext cx="64008" cy="86868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58" name="Text 51"/>
          <p:cNvSpPr/>
          <p:nvPr/>
        </p:nvSpPr>
        <p:spPr>
          <a:xfrm>
            <a:off x="8467344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9A"/>
                </a:solidFill>
              </a:rPr>
              <a:t>API</a:t>
            </a:r>
            <a:endParaRPr lang="en-US" sz="1300" dirty="0"/>
          </a:p>
        </p:txBody>
      </p:sp>
      <p:sp>
        <p:nvSpPr>
          <p:cNvPr id="59" name="Text 52"/>
          <p:cNvSpPr/>
          <p:nvPr/>
        </p:nvSpPr>
        <p:spPr>
          <a:xfrm>
            <a:off x="8467344" y="5788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FastAPI + Uvicorn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3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34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36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7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39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405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4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35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45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465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480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495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5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525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54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555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570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585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60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615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630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645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660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675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690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705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4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720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735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750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" presetClass="entr" presetSubtype="4" fill="hold" grpId="5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765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" presetClass="entr" presetSubtype="4" fill="hold" grpId="5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780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ntr" presetSubtype="4" fill="hold" grpId="5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795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" presetClass="entr" presetSubtype="4" fill="hold" grpId="5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810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4" fill="hold" grpId="5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825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" presetClass="entr" presetSubtype="4" fill="hold" grpId="5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840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" presetClass="entr" presetSubtype="4" fill="hold" grpId="5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855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" presetClass="entr" presetSubtype="4" fill="hold" grpId="5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C49A"/>
                </a:solidFill>
              </a:rPr>
              <a:t>RESULTS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Primary KPI Targets — Exceeded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3657600" cy="146304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856232"/>
            <a:ext cx="475488" cy="475488"/>
          </a:xfrm>
          <a:prstGeom prst="ellipse">
            <a:avLst/>
          </a:prstGeom>
          <a:solidFill>
            <a:srgbClr val="00C49A">
              <a:alpha val="2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1947672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288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90.66%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Macro F1 Score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78%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62272" y="160020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62272" y="1600200"/>
            <a:ext cx="3657600" cy="146304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14" name="Shape 11"/>
          <p:cNvSpPr/>
          <p:nvPr/>
        </p:nvSpPr>
        <p:spPr>
          <a:xfrm>
            <a:off x="7479792" y="1856232"/>
            <a:ext cx="475488" cy="475488"/>
          </a:xfrm>
          <a:prstGeom prst="ellipse">
            <a:avLst/>
          </a:prstGeom>
          <a:solidFill>
            <a:srgbClr val="0096B7">
              <a:alpha val="2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194767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62272" y="18288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0.806</a:t>
            </a:r>
            <a:endParaRPr lang="en-US" sz="5000" dirty="0"/>
          </a:p>
        </p:txBody>
      </p:sp>
      <p:sp>
        <p:nvSpPr>
          <p:cNvPr id="17" name="Text 13"/>
          <p:cNvSpPr/>
          <p:nvPr/>
        </p:nvSpPr>
        <p:spPr>
          <a:xfrm>
            <a:off x="4462272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BERTScore F1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462272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0.80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75904" y="160020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5904" y="1600200"/>
            <a:ext cx="3657600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11393424" y="1856232"/>
            <a:ext cx="475488" cy="475488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76" y="1947672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5904" y="182880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0.191</a:t>
            </a:r>
            <a:endParaRPr lang="en-US" sz="5000" dirty="0"/>
          </a:p>
        </p:txBody>
      </p:sp>
      <p:sp>
        <p:nvSpPr>
          <p:cNvPr id="24" name="Text 19"/>
          <p:cNvSpPr/>
          <p:nvPr/>
        </p:nvSpPr>
        <p:spPr>
          <a:xfrm>
            <a:off x="8375904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ROUGE-L Score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375904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0.15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393192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931920"/>
            <a:ext cx="3657600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Shape 23"/>
          <p:cNvSpPr/>
          <p:nvPr/>
        </p:nvSpPr>
        <p:spPr>
          <a:xfrm>
            <a:off x="3566160" y="4187952"/>
            <a:ext cx="475488" cy="475488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4279392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86.0%</a:t>
            </a:r>
            <a:endParaRPr lang="en-US" sz="5000" dirty="0"/>
          </a:p>
        </p:txBody>
      </p:sp>
      <p:sp>
        <p:nvSpPr>
          <p:cNvPr id="31" name="Text 25"/>
          <p:cNvSpPr/>
          <p:nvPr/>
        </p:nvSpPr>
        <p:spPr>
          <a:xfrm>
            <a:off x="548640" y="5120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Faithfulness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4864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≥ 70%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462272" y="393192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62272" y="3931920"/>
            <a:ext cx="3657600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29"/>
          <p:cNvSpPr/>
          <p:nvPr/>
        </p:nvSpPr>
        <p:spPr>
          <a:xfrm>
            <a:off x="7479792" y="4187952"/>
            <a:ext cx="475488" cy="475488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4" y="4279392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462272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5000" dirty="0"/>
          </a:p>
        </p:txBody>
      </p:sp>
      <p:sp>
        <p:nvSpPr>
          <p:cNvPr id="38" name="Text 31"/>
          <p:cNvSpPr/>
          <p:nvPr/>
        </p:nvSpPr>
        <p:spPr>
          <a:xfrm>
            <a:off x="4462272" y="5120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Hallucination Rate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4462272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Target: ≤ 15%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8375904" y="3931920"/>
            <a:ext cx="365760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375904" y="3931920"/>
            <a:ext cx="3657600" cy="146304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42" name="Shape 35"/>
          <p:cNvSpPr/>
          <p:nvPr/>
        </p:nvSpPr>
        <p:spPr>
          <a:xfrm>
            <a:off x="11393424" y="4187952"/>
            <a:ext cx="475488" cy="475488"/>
          </a:xfrm>
          <a:prstGeom prst="ellipse">
            <a:avLst/>
          </a:prstGeom>
          <a:solidFill>
            <a:srgbClr val="19376D">
              <a:alpha val="20000"/>
            </a:srgbClr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6576" y="4279392"/>
            <a:ext cx="320040" cy="32004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375904" y="41605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93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ms</a:t>
            </a:r>
            <a:endParaRPr lang="en-US" sz="5000" dirty="0"/>
          </a:p>
        </p:txBody>
      </p:sp>
      <p:sp>
        <p:nvSpPr>
          <p:cNvPr id="45" name="Text 37"/>
          <p:cNvSpPr/>
          <p:nvPr/>
        </p:nvSpPr>
        <p:spPr>
          <a:xfrm>
            <a:off x="8375904" y="5120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</a:rPr>
              <a:t>P95 Latency</a:t>
            </a:r>
            <a:endParaRPr lang="en-US" sz="1400" dirty="0"/>
          </a:p>
        </p:txBody>
      </p:sp>
      <p:sp>
        <p:nvSpPr>
          <p:cNvPr id="46" name="Text 38"/>
          <p:cNvSpPr/>
          <p:nvPr/>
        </p:nvSpPr>
        <p:spPr>
          <a:xfrm>
            <a:off x="8375904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Target: &lt; 5000ms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3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34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36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7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39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405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4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35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45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465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480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495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5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525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54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555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570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585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60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615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630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645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660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C4D4"/>
                </a:solidFill>
              </a:rPr>
              <a:t>BIOBERT CLASSIFIER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Medical Question Classification Engine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200400" cy="164592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</a:rPr>
              <a:t>Macro F1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Target: ≥ 78%  ✓  Exceeded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2377440" cy="0"/>
          </a:xfrm>
          <a:prstGeom prst="line">
            <a:avLst/>
          </a:prstGeom>
          <a:noFill/>
          <a:ln w="12700">
            <a:solidFill>
              <a:srgbClr val="00C49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319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dmis-lab/biobert-v1.1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Fine-tuned on 211K samples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Published: AbdoMatrix/biobert-medical-classifier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Fallback: DistilBERT (offline)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188720"/>
            <a:ext cx="78638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1188720"/>
            <a:ext cx="7863840" cy="164592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4173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6B7"/>
                </a:solidFill>
              </a:rPr>
              <a:t>Confidence-Gated Routing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60520" y="1874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Confidence threshold: 0.70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60520" y="2176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Above → category-specific FAISS retrieval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24780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Below → general retrieval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27797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→  Per-class softmax probabilities for scoring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3337560"/>
            <a:ext cx="786384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0" y="3337560"/>
            <a:ext cx="786384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5661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Class Expansion Factors  (rarer class → wider retrieval)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60520" y="4069080"/>
            <a:ext cx="1143000" cy="1371600"/>
          </a:xfrm>
          <a:prstGeom prst="rect">
            <a:avLst/>
          </a:prstGeom>
          <a:solidFill>
            <a:srgbClr val="E11D48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60520" y="4069080"/>
            <a:ext cx="1143000" cy="914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16052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Symptoms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6052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4069080"/>
            <a:ext cx="1143000" cy="13716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0680" y="4069080"/>
            <a:ext cx="1143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544068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Prevention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4069080"/>
            <a:ext cx="1143000" cy="13716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20840" y="4069080"/>
            <a:ext cx="114300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72084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Diagnosis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01000" y="4069080"/>
            <a:ext cx="1143000" cy="137160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01000" y="4069080"/>
            <a:ext cx="1143000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800100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General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0100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281160" y="4069080"/>
            <a:ext cx="1143000" cy="1371600"/>
          </a:xfrm>
          <a:prstGeom prst="rect">
            <a:avLst/>
          </a:prstGeom>
          <a:solidFill>
            <a:srgbClr val="0096B7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281160" y="4069080"/>
            <a:ext cx="1143000" cy="9144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44" name="Text 42"/>
          <p:cNvSpPr/>
          <p:nvPr/>
        </p:nvSpPr>
        <p:spPr>
          <a:xfrm>
            <a:off x="928116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28116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Treatment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28116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23%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61320" y="4069080"/>
            <a:ext cx="1143000" cy="1371600"/>
          </a:xfrm>
          <a:prstGeom prst="rect">
            <a:avLst/>
          </a:prstGeom>
          <a:solidFill>
            <a:srgbClr val="00C49A">
              <a:alpha val="1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561320" y="4069080"/>
            <a:ext cx="1143000" cy="91440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49" name="Text 47"/>
          <p:cNvSpPr/>
          <p:nvPr/>
        </p:nvSpPr>
        <p:spPr>
          <a:xfrm>
            <a:off x="10561320" y="418795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10561320" y="4773168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Medication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61320" y="509320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34%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3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34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36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7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39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405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4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35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45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465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480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495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5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525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54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555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570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585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60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615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630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645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660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675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690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705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4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720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735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· Cloud · CI/CD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3657600" cy="18288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0096B7">
              <a:alpha val="15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47672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670048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3 services: API · Dashboard · MLflow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32735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python:3.10-slim base image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7581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Dev (hot-reload) &amp; Prod (resource limits)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Full Makefile automation — 10 targets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4727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Health checks from container start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462272" y="1508760"/>
            <a:ext cx="365760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62272" y="1508760"/>
            <a:ext cx="3657600" cy="182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5"/>
          <p:cNvSpPr/>
          <p:nvPr/>
        </p:nvSpPr>
        <p:spPr>
          <a:xfrm>
            <a:off x="4645152" y="1828800"/>
            <a:ext cx="685800" cy="685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94767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68112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645152" y="2670048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45152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Azure Container Registry (ACR)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645152" y="32735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Azure App Service — Linux containers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5152" y="37581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Dual deployment: API + Dashboard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645152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Persistent FAISS volume mounts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645152" y="4727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Health probes active from second 1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375904" y="1508760"/>
            <a:ext cx="3657600" cy="4389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375904" y="1508760"/>
            <a:ext cx="36576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5"/>
          <p:cNvSpPr/>
          <p:nvPr/>
        </p:nvSpPr>
        <p:spPr>
          <a:xfrm>
            <a:off x="8558784" y="1828800"/>
            <a:ext cx="685800" cy="6858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947672"/>
            <a:ext cx="438912" cy="43891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381744" y="1874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8558784" y="2670048"/>
            <a:ext cx="32918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558784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GitHub Actions automated workflow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558784" y="32735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Flake8 linting on every push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8558784" y="375818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202+ pytest unit tests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558784" y="424281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Docker build smoke test gating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8558784" y="47274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→  MLflow experiment tracking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48640" y="6108192"/>
            <a:ext cx="11338560" cy="50292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9" name="Text 34"/>
          <p:cNvSpPr/>
          <p:nvPr/>
        </p:nvSpPr>
        <p:spPr>
          <a:xfrm>
            <a:off x="548640" y="6108192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4D4"/>
                </a:solidFill>
              </a:rPr>
              <a:t>make docker-build  ·  docker-dev  ·  docker-prod  ·  docker-push  ·  docker-test  ·  docker-logs  ·  docker-exec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3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34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36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7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39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405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4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35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45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465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480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495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5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525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54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555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C4D4"/>
                </a:solidFill>
              </a:rPr>
              <a:t>TEAM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eyouth × DEPI  ·  Microsoft Machine Learning Track  · 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9972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9972" y="1234440"/>
            <a:ext cx="2148840" cy="164592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7" name="Shape 5"/>
          <p:cNvSpPr/>
          <p:nvPr/>
        </p:nvSpPr>
        <p:spPr>
          <a:xfrm>
            <a:off x="801472" y="1600200"/>
            <a:ext cx="1005840" cy="1005840"/>
          </a:xfrm>
          <a:prstGeom prst="ellipse">
            <a:avLst/>
          </a:prstGeom>
          <a:solidFill>
            <a:srgbClr val="0096B7"/>
          </a:solidFill>
          <a:ln/>
        </p:spPr>
      </p:sp>
      <p:sp>
        <p:nvSpPr>
          <p:cNvPr id="8" name="Text 6"/>
          <p:cNvSpPr/>
          <p:nvPr/>
        </p:nvSpPr>
        <p:spPr>
          <a:xfrm>
            <a:off x="801472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1412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Abdelrahman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Sayed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0012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0096B7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0012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B7"/>
                </a:solidFill>
              </a:rPr>
              <a:t>Team Leader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2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412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System Architecture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&amp; Integration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25700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25700" y="1234440"/>
            <a:ext cx="2148840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197200" y="1600200"/>
            <a:ext cx="1005840" cy="10058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3197200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17140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Ahmed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El-Nady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45740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06B6D4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945740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Member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00020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7140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Docker · Azure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CI/CD Pipeline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1428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1428" y="1234440"/>
            <a:ext cx="214884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Shape 23"/>
          <p:cNvSpPr/>
          <p:nvPr/>
        </p:nvSpPr>
        <p:spPr>
          <a:xfrm>
            <a:off x="5592928" y="160020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592928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YG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112868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George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41468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341468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Member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95748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12868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RAG Pipeline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FAISS · Groq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17156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17156" y="1234440"/>
            <a:ext cx="2148840" cy="16459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4" name="Shape 32"/>
          <p:cNvSpPr/>
          <p:nvPr/>
        </p:nvSpPr>
        <p:spPr>
          <a:xfrm>
            <a:off x="7988656" y="1600200"/>
            <a:ext cx="1005840" cy="10058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7988656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DK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508596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Doha Khaled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37196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E11D48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737196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Member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91476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8596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Data Preprocessing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&amp; EDA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12884" y="1234440"/>
            <a:ext cx="2148840" cy="5303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12884" y="1234440"/>
            <a:ext cx="2148840" cy="164592"/>
          </a:xfrm>
          <a:prstGeom prst="rect">
            <a:avLst/>
          </a:prstGeom>
          <a:solidFill>
            <a:srgbClr val="00C49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84384" y="1600200"/>
            <a:ext cx="1005840" cy="1005840"/>
          </a:xfrm>
          <a:prstGeom prst="ellipse">
            <a:avLst/>
          </a:prstGeom>
          <a:solidFill>
            <a:srgbClr val="00C49A"/>
          </a:solidFill>
          <a:ln/>
        </p:spPr>
      </p:sp>
      <p:sp>
        <p:nvSpPr>
          <p:cNvPr id="44" name="Text 42"/>
          <p:cNvSpPr/>
          <p:nvPr/>
        </p:nvSpPr>
        <p:spPr>
          <a:xfrm>
            <a:off x="10384384" y="16276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EK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9904324" y="27889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 Khalid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132924" y="3657600"/>
            <a:ext cx="1508760" cy="320040"/>
          </a:xfrm>
          <a:prstGeom prst="roundRect">
            <a:avLst>
              <a:gd name="adj" fmla="val 11429"/>
            </a:avLst>
          </a:prstGeom>
          <a:solidFill>
            <a:srgbClr val="00C49A">
              <a:alpha val="1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132924" y="3657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A"/>
                </a:solidFill>
              </a:rPr>
              <a:t>Member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087204" y="4133088"/>
            <a:ext cx="16002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04324" y="42519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BioBERT Classifier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Model Training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6492240"/>
            <a:ext cx="11277295" cy="20116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6492240"/>
            <a:ext cx="1127729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Python  ·  FastAPI  ·  FAISS  ·  Groq  ·  BioBERT  ·  HuggingFace  ·  Docker  ·  Azure  ·  GitHub Actions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whenNotActive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5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0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75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9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0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3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5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65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80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95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21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225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240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255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270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285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300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315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330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2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345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ntr" presetSubtype="4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360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375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2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390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2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405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420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435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ntr" presetSubtype="4" fill="hold" grpId="2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450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3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465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4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480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3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495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" presetClass="entr" presetSubtype="4" fill="hold" grpId="3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5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525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" presetClass="entr" presetSubtype="4" fill="hold" grpId="3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540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4" fill="hold" grpId="3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555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" presetClass="entr" presetSubtype="4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570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" presetClass="entr" presetSubtype="4" fill="hold" grpId="3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1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585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" presetClass="entr" presetSubtype="4" fill="hold" grpId="3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600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4" fill="hold" grpId="4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615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" presetClass="entr" presetSubtype="4" fill="hold" grpId="4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630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4" fill="hold" grpId="4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645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" presetClass="entr" presetSubtype="4" fill="hold" grpId="4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660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" presetClass="entr" presetSubtype="4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675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" presetClass="entr" presetSubtype="4" fill="hold" grpId="4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690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4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705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" presetClass="entr" presetSubtype="4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720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" presetClass="entr" presetSubtype="4" fill="hold" grpId="4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735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" presetClass="entr" presetSubtype="4" fill="hold" grpId="4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dir=fromRight,easing=linear)">
                                      <p:cBhvr>
                                        <p:cTn id="2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029200" cy="5029200"/>
          </a:xfrm>
          <a:prstGeom prst="ellipse">
            <a:avLst/>
          </a:prstGeom>
          <a:solidFill>
            <a:srgbClr val="0096B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4114800" cy="4114800"/>
          </a:xfrm>
          <a:prstGeom prst="ellipse">
            <a:avLst/>
          </a:prstGeom>
          <a:solidFill>
            <a:srgbClr val="0096B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-914400"/>
            <a:ext cx="2743200" cy="27432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B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31520" y="109728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9144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4D4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3200400" y="3611880"/>
            <a:ext cx="5760720" cy="0"/>
          </a:xfrm>
          <a:prstGeom prst="line">
            <a:avLst/>
          </a:prstGeom>
          <a:noFill/>
          <a:ln w="19050">
            <a:solidFill>
              <a:srgbClr val="0096B7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840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Healthcare RAG-Powered Medical Q&amp;A Assistant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43708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eyouth × DEPI  ·  Microsoft Machine Learning Track  ·  2026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4D4"/>
                </a:solidFill>
              </a:rPr>
              <a:t>github.com/AbdooMatrix/Healthcare-RAG-Powered-Medical-QA-Assistant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371600" y="5577840"/>
            <a:ext cx="941832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</a:rPr>
              <a:t>90.66% F1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55264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</a:rPr>
              <a:t>0.806 BERTScore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138928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</a:rPr>
              <a:t>86% Faithful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22592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</a:rPr>
              <a:t>10% Hallucinations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906256" y="55778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D4"/>
                </a:solidFill>
              </a:rPr>
              <a:t>264ms P95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RAG-Powered Medical Q&amp;A Assistant</dc:title>
  <dc:subject>PptxGenJS Presentation</dc:subject>
  <dc:creator>Abdelrahman Mostafa Sayed</dc:creator>
  <cp:lastModifiedBy>Abdelrahman Mostafa Sayed</cp:lastModifiedBy>
  <cp:revision>1</cp:revision>
  <dcterms:created xsi:type="dcterms:W3CDTF">2026-05-28T02:03:08Z</dcterms:created>
  <dcterms:modified xsi:type="dcterms:W3CDTF">2026-05-28T02:03:08Z</dcterms:modified>
</cp:coreProperties>
</file>