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nva Sans Bold" charset="1" panose="020B0803030501040103"/>
      <p:regular r:id="rId18"/>
    </p:embeddedFont>
    <p:embeddedFont>
      <p:font typeface="29LT Riwaya Informal" charset="1" panose="00000500000000000000"/>
      <p:regular r:id="rId19"/>
    </p:embeddedFont>
    <p:embeddedFont>
      <p:font typeface="Libre Baskerville Italics" charset="1" panose="02000000000000000000"/>
      <p:regular r:id="rId20"/>
    </p:embeddedFont>
    <p:embeddedFont>
      <p:font typeface="Segoe UI" charset="1" panose="020B0502040204020203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jpeg" Type="http://schemas.openxmlformats.org/officeDocument/2006/relationships/image"/><Relationship Id="rId6" Target="../media/image7.png" Type="http://schemas.openxmlformats.org/officeDocument/2006/relationships/image"/><Relationship Id="rId7" Target="../media/image8.jpeg" Type="http://schemas.openxmlformats.org/officeDocument/2006/relationships/image"/><Relationship Id="rId8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3.pn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7.png" Type="http://schemas.openxmlformats.org/officeDocument/2006/relationships/image"/><Relationship Id="rId4" Target="../media/image8.jpeg" Type="http://schemas.openxmlformats.org/officeDocument/2006/relationships/image"/><Relationship Id="rId5" Target="../media/image9.pn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922031" y="-152764"/>
            <a:ext cx="3365969" cy="1888227"/>
          </a:xfrm>
          <a:custGeom>
            <a:avLst/>
            <a:gdLst/>
            <a:ahLst/>
            <a:cxnLst/>
            <a:rect r="r" b="b" t="t" l="l"/>
            <a:pathLst>
              <a:path h="1888227" w="3365969">
                <a:moveTo>
                  <a:pt x="0" y="0"/>
                </a:moveTo>
                <a:lnTo>
                  <a:pt x="3365969" y="0"/>
                </a:lnTo>
                <a:lnTo>
                  <a:pt x="3365969" y="1888227"/>
                </a:lnTo>
                <a:lnTo>
                  <a:pt x="0" y="18882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0233" y="86473"/>
            <a:ext cx="1794945" cy="1648989"/>
          </a:xfrm>
          <a:custGeom>
            <a:avLst/>
            <a:gdLst/>
            <a:ahLst/>
            <a:cxnLst/>
            <a:rect r="r" b="b" t="t" l="l"/>
            <a:pathLst>
              <a:path h="1648989" w="1794945">
                <a:moveTo>
                  <a:pt x="0" y="0"/>
                </a:moveTo>
                <a:lnTo>
                  <a:pt x="1794945" y="0"/>
                </a:lnTo>
                <a:lnTo>
                  <a:pt x="1794945" y="1648990"/>
                </a:lnTo>
                <a:lnTo>
                  <a:pt x="0" y="16489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066745" y="218374"/>
            <a:ext cx="10154510" cy="1534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22"/>
              </a:lnSpc>
              <a:spcBef>
                <a:spcPct val="0"/>
              </a:spcBef>
            </a:pPr>
            <a:r>
              <a:rPr lang="en-US" b="true" sz="4444">
                <a:solidFill>
                  <a:srgbClr val="003DF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Healthcare RAG-Powered Medical Question Answering Assistant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241917" y="2040282"/>
            <a:ext cx="11804166" cy="480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64"/>
              </a:lnSpc>
              <a:spcBef>
                <a:spcPct val="0"/>
              </a:spcBef>
            </a:pPr>
            <a:r>
              <a:rPr lang="en-US" sz="2832" strike="noStrike">
                <a:solidFill>
                  <a:srgbClr val="000000"/>
                </a:solidFill>
                <a:latin typeface="29LT Riwaya Informal"/>
                <a:ea typeface="29LT Riwaya Informal"/>
                <a:cs typeface="29LT Riwaya Informal"/>
                <a:sym typeface="29LT Riwaya Informal"/>
              </a:rPr>
              <a:t>Retrieval-Augmented Generation for Evidence-Based Medical Question Answering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28520" y="2777974"/>
            <a:ext cx="3630960" cy="75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22"/>
              </a:lnSpc>
              <a:spcBef>
                <a:spcPct val="0"/>
              </a:spcBef>
            </a:pPr>
            <a:r>
              <a:rPr lang="en-US" b="true" sz="4444" strike="noStrike" u="none">
                <a:solidFill>
                  <a:srgbClr val="003DF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Presented by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24472" y="3733099"/>
            <a:ext cx="5962718" cy="582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4982" indent="-377491" lvl="1">
              <a:lnSpc>
                <a:spcPts val="4895"/>
              </a:lnSpc>
              <a:buFont typeface="Arial"/>
              <a:buChar char="•"/>
            </a:pPr>
            <a:r>
              <a:rPr lang="en-US" b="true" sz="349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Abd El-Rahman Mostafa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24472" y="4359099"/>
            <a:ext cx="4200497" cy="582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4982" indent="-377491" lvl="1">
              <a:lnSpc>
                <a:spcPts val="489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96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Youssef George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24472" y="4989334"/>
            <a:ext cx="3518148" cy="58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4982" indent="-377491" lvl="1">
              <a:lnSpc>
                <a:spcPts val="489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96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Doha Khaled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24472" y="5624413"/>
            <a:ext cx="4192191" cy="58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4982" indent="-377491" lvl="1">
              <a:lnSpc>
                <a:spcPts val="489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96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Eman El-Kalawy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37717" y="6259491"/>
            <a:ext cx="3504902" cy="58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4982" indent="-377491" lvl="1">
              <a:lnSpc>
                <a:spcPts val="489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496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Ziad El-Nady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45301" y="7104120"/>
            <a:ext cx="2997398" cy="75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22"/>
              </a:lnSpc>
              <a:spcBef>
                <a:spcPct val="0"/>
              </a:spcBef>
            </a:pPr>
            <a:r>
              <a:rPr lang="en-US" b="true" sz="4444" strike="noStrike" u="none">
                <a:solidFill>
                  <a:srgbClr val="003DF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Supervisor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166619" y="8058021"/>
            <a:ext cx="5729883" cy="58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5"/>
              </a:lnSpc>
            </a:pPr>
            <a:r>
              <a:rPr lang="en-US" b="true" sz="349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ENG/</a:t>
            </a:r>
            <a:r>
              <a:rPr lang="en-US" b="true" sz="349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Abd El-Rahman Tarek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747059" y="9550699"/>
            <a:ext cx="1390204" cy="480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64"/>
              </a:lnSpc>
              <a:spcBef>
                <a:spcPct val="0"/>
              </a:spcBef>
            </a:pPr>
            <a:r>
              <a:rPr lang="en-US" sz="2832" strike="noStrike" u="none">
                <a:solidFill>
                  <a:srgbClr val="000000"/>
                </a:solidFill>
                <a:latin typeface="29LT Riwaya Informal"/>
                <a:ea typeface="29LT Riwaya Informal"/>
                <a:cs typeface="29LT Riwaya Informal"/>
                <a:sym typeface="29LT Riwaya Informal"/>
              </a:rPr>
              <a:t>July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7039" y="2211225"/>
            <a:ext cx="5788102" cy="4840958"/>
          </a:xfrm>
          <a:custGeom>
            <a:avLst/>
            <a:gdLst/>
            <a:ahLst/>
            <a:cxnLst/>
            <a:rect r="r" b="b" t="t" l="l"/>
            <a:pathLst>
              <a:path h="4840958" w="5788102">
                <a:moveTo>
                  <a:pt x="0" y="0"/>
                </a:moveTo>
                <a:lnTo>
                  <a:pt x="5788102" y="0"/>
                </a:lnTo>
                <a:lnTo>
                  <a:pt x="5788102" y="4840958"/>
                </a:lnTo>
                <a:lnTo>
                  <a:pt x="0" y="4840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2187905" y="7280406"/>
            <a:ext cx="2538841" cy="609322"/>
          </a:xfrm>
          <a:custGeom>
            <a:avLst/>
            <a:gdLst/>
            <a:ahLst/>
            <a:cxnLst/>
            <a:rect r="r" b="b" t="t" l="l"/>
            <a:pathLst>
              <a:path h="609322" w="2538841">
                <a:moveTo>
                  <a:pt x="0" y="0"/>
                </a:moveTo>
                <a:lnTo>
                  <a:pt x="2538841" y="0"/>
                </a:lnTo>
                <a:lnTo>
                  <a:pt x="2538841" y="609322"/>
                </a:lnTo>
                <a:lnTo>
                  <a:pt x="0" y="6093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128177" y="4798242"/>
            <a:ext cx="6750705" cy="3050912"/>
          </a:xfrm>
          <a:custGeom>
            <a:avLst/>
            <a:gdLst/>
            <a:ahLst/>
            <a:cxnLst/>
            <a:rect r="r" b="b" t="t" l="l"/>
            <a:pathLst>
              <a:path h="3050912" w="6750705">
                <a:moveTo>
                  <a:pt x="0" y="0"/>
                </a:moveTo>
                <a:lnTo>
                  <a:pt x="6750705" y="0"/>
                </a:lnTo>
                <a:lnTo>
                  <a:pt x="6750705" y="3050912"/>
                </a:lnTo>
                <a:lnTo>
                  <a:pt x="0" y="30509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3175" r="0" b="-3568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69730" y="9363740"/>
            <a:ext cx="1542521" cy="865317"/>
          </a:xfrm>
          <a:custGeom>
            <a:avLst/>
            <a:gdLst/>
            <a:ahLst/>
            <a:cxnLst/>
            <a:rect r="r" b="b" t="t" l="l"/>
            <a:pathLst>
              <a:path h="865317" w="1542521">
                <a:moveTo>
                  <a:pt x="0" y="0"/>
                </a:moveTo>
                <a:lnTo>
                  <a:pt x="1542521" y="0"/>
                </a:lnTo>
                <a:lnTo>
                  <a:pt x="1542521" y="865317"/>
                </a:lnTo>
                <a:lnTo>
                  <a:pt x="0" y="8653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780926" y="9477430"/>
            <a:ext cx="1462944" cy="537692"/>
          </a:xfrm>
          <a:custGeom>
            <a:avLst/>
            <a:gdLst/>
            <a:ahLst/>
            <a:cxnLst/>
            <a:rect r="r" b="b" t="t" l="l"/>
            <a:pathLst>
              <a:path h="537692" w="1462944">
                <a:moveTo>
                  <a:pt x="0" y="0"/>
                </a:moveTo>
                <a:lnTo>
                  <a:pt x="1462944" y="0"/>
                </a:lnTo>
                <a:lnTo>
                  <a:pt x="1462944" y="537691"/>
                </a:lnTo>
                <a:lnTo>
                  <a:pt x="0" y="5376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26314" r="0" b="-26314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322766" y="8999509"/>
            <a:ext cx="2841084" cy="1593779"/>
          </a:xfrm>
          <a:custGeom>
            <a:avLst/>
            <a:gdLst/>
            <a:ahLst/>
            <a:cxnLst/>
            <a:rect r="r" b="b" t="t" l="l"/>
            <a:pathLst>
              <a:path h="1593779" w="2841084">
                <a:moveTo>
                  <a:pt x="0" y="0"/>
                </a:moveTo>
                <a:lnTo>
                  <a:pt x="2841084" y="0"/>
                </a:lnTo>
                <a:lnTo>
                  <a:pt x="2841084" y="1593779"/>
                </a:lnTo>
                <a:lnTo>
                  <a:pt x="0" y="15937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453485" y="110895"/>
            <a:ext cx="5381030" cy="75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22"/>
              </a:lnSpc>
              <a:spcBef>
                <a:spcPct val="0"/>
              </a:spcBef>
            </a:pPr>
            <a:r>
              <a:rPr lang="en-US" b="true" sz="4444" strike="noStrike" u="none">
                <a:solidFill>
                  <a:srgbClr val="003DF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 Statement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17069" y="1266195"/>
            <a:ext cx="11853862" cy="605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35"/>
              </a:lnSpc>
              <a:spcBef>
                <a:spcPct val="0"/>
              </a:spcBef>
            </a:pPr>
            <a:r>
              <a:rPr lang="en-US" sz="4047" i="true" spc="218" strike="noStrike" u="none">
                <a:solidFill>
                  <a:srgbClr val="000000"/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Every Great Project Starts with a Question...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57890" y="3859289"/>
            <a:ext cx="4841506" cy="938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94"/>
              </a:lnSpc>
              <a:spcBef>
                <a:spcPct val="0"/>
              </a:spcBef>
            </a:pPr>
            <a:r>
              <a:rPr lang="en-US" sz="3157" i="true" spc="170" strike="noStrike" u="none">
                <a:solidFill>
                  <a:srgbClr val="000000"/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What are the symptoms of Type 2 Diabetes?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77039" y="8738580"/>
            <a:ext cx="7085465" cy="51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71"/>
              </a:lnSpc>
              <a:spcBef>
                <a:spcPct val="0"/>
              </a:spcBef>
            </a:pPr>
            <a:r>
              <a:rPr lang="en-US" sz="3480" i="true" spc="187" strike="noStrike" u="none">
                <a:solidFill>
                  <a:srgbClr val="000000"/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 AI gives an answer instantly...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751034" y="3436363"/>
            <a:ext cx="8508266" cy="84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85"/>
              </a:lnSpc>
              <a:spcBef>
                <a:spcPct val="0"/>
              </a:spcBef>
            </a:pPr>
            <a:r>
              <a:rPr lang="en-US" sz="5714" i="true" spc="308" strike="noStrike" u="none">
                <a:solidFill>
                  <a:srgbClr val="000000"/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 But... Can we trust it?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95195" y="190886"/>
            <a:ext cx="3497610" cy="75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22"/>
              </a:lnSpc>
              <a:spcBef>
                <a:spcPct val="0"/>
              </a:spcBef>
            </a:pPr>
            <a:r>
              <a:rPr lang="en-US" b="true" sz="4444" strike="noStrike" u="none">
                <a:solidFill>
                  <a:srgbClr val="003DF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Our Solution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800698" y="1398709"/>
            <a:ext cx="10686604" cy="605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35"/>
              </a:lnSpc>
              <a:spcBef>
                <a:spcPct val="0"/>
              </a:spcBef>
            </a:pPr>
            <a:r>
              <a:rPr lang="en-US" sz="4047" i="true" spc="218" strike="noStrike" u="none">
                <a:solidFill>
                  <a:srgbClr val="000000"/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Retrieval-Augmented Generation (RAG)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4440607"/>
            <a:ext cx="3367767" cy="1035413"/>
            <a:chOff x="0" y="0"/>
            <a:chExt cx="550186" cy="1691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50186" cy="169154"/>
            </a:xfrm>
            <a:custGeom>
              <a:avLst/>
              <a:gdLst/>
              <a:ahLst/>
              <a:cxnLst/>
              <a:rect r="r" b="b" t="t" l="l"/>
              <a:pathLst>
                <a:path h="169154" w="550186">
                  <a:moveTo>
                    <a:pt x="27586" y="0"/>
                  </a:moveTo>
                  <a:lnTo>
                    <a:pt x="522600" y="0"/>
                  </a:lnTo>
                  <a:cubicBezTo>
                    <a:pt x="529916" y="0"/>
                    <a:pt x="536933" y="2906"/>
                    <a:pt x="542106" y="8080"/>
                  </a:cubicBezTo>
                  <a:cubicBezTo>
                    <a:pt x="547280" y="13253"/>
                    <a:pt x="550186" y="20270"/>
                    <a:pt x="550186" y="27586"/>
                  </a:cubicBezTo>
                  <a:lnTo>
                    <a:pt x="550186" y="141568"/>
                  </a:lnTo>
                  <a:cubicBezTo>
                    <a:pt x="550186" y="148884"/>
                    <a:pt x="547280" y="155901"/>
                    <a:pt x="542106" y="161074"/>
                  </a:cubicBezTo>
                  <a:cubicBezTo>
                    <a:pt x="536933" y="166247"/>
                    <a:pt x="529916" y="169154"/>
                    <a:pt x="522600" y="169154"/>
                  </a:cubicBezTo>
                  <a:lnTo>
                    <a:pt x="27586" y="169154"/>
                  </a:lnTo>
                  <a:cubicBezTo>
                    <a:pt x="20270" y="169154"/>
                    <a:pt x="13253" y="166247"/>
                    <a:pt x="8080" y="161074"/>
                  </a:cubicBezTo>
                  <a:cubicBezTo>
                    <a:pt x="2906" y="155901"/>
                    <a:pt x="0" y="148884"/>
                    <a:pt x="0" y="141568"/>
                  </a:cubicBezTo>
                  <a:lnTo>
                    <a:pt x="0" y="27586"/>
                  </a:lnTo>
                  <a:cubicBezTo>
                    <a:pt x="0" y="20270"/>
                    <a:pt x="2906" y="13253"/>
                    <a:pt x="8080" y="8080"/>
                  </a:cubicBezTo>
                  <a:cubicBezTo>
                    <a:pt x="13253" y="2906"/>
                    <a:pt x="20270" y="0"/>
                    <a:pt x="27586" y="0"/>
                  </a:cubicBezTo>
                  <a:close/>
                </a:path>
              </a:pathLst>
            </a:custGeom>
            <a:solidFill>
              <a:srgbClr val="3863E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50186" cy="2072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493237" y="4666922"/>
            <a:ext cx="2438692" cy="512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7"/>
              </a:lnSpc>
              <a:spcBef>
                <a:spcPct val="0"/>
              </a:spcBef>
            </a:pPr>
            <a:r>
              <a:rPr lang="en-US" sz="3069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User Question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962515" y="4253848"/>
            <a:ext cx="4251004" cy="1408930"/>
            <a:chOff x="0" y="0"/>
            <a:chExt cx="694479" cy="2301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4479" cy="230174"/>
            </a:xfrm>
            <a:custGeom>
              <a:avLst/>
              <a:gdLst/>
              <a:ahLst/>
              <a:cxnLst/>
              <a:rect r="r" b="b" t="t" l="l"/>
              <a:pathLst>
                <a:path h="230174" w="694479">
                  <a:moveTo>
                    <a:pt x="21854" y="0"/>
                  </a:moveTo>
                  <a:lnTo>
                    <a:pt x="672625" y="0"/>
                  </a:lnTo>
                  <a:cubicBezTo>
                    <a:pt x="678421" y="0"/>
                    <a:pt x="683980" y="2303"/>
                    <a:pt x="688078" y="6401"/>
                  </a:cubicBezTo>
                  <a:cubicBezTo>
                    <a:pt x="692177" y="10499"/>
                    <a:pt x="694479" y="16058"/>
                    <a:pt x="694479" y="21854"/>
                  </a:cubicBezTo>
                  <a:lnTo>
                    <a:pt x="694479" y="208320"/>
                  </a:lnTo>
                  <a:cubicBezTo>
                    <a:pt x="694479" y="214116"/>
                    <a:pt x="692177" y="219675"/>
                    <a:pt x="688078" y="223773"/>
                  </a:cubicBezTo>
                  <a:cubicBezTo>
                    <a:pt x="683980" y="227872"/>
                    <a:pt x="678421" y="230174"/>
                    <a:pt x="672625" y="230174"/>
                  </a:cubicBezTo>
                  <a:lnTo>
                    <a:pt x="21854" y="230174"/>
                  </a:lnTo>
                  <a:cubicBezTo>
                    <a:pt x="16058" y="230174"/>
                    <a:pt x="10499" y="227872"/>
                    <a:pt x="6401" y="223773"/>
                  </a:cubicBezTo>
                  <a:cubicBezTo>
                    <a:pt x="2303" y="219675"/>
                    <a:pt x="0" y="214116"/>
                    <a:pt x="0" y="208320"/>
                  </a:cubicBezTo>
                  <a:lnTo>
                    <a:pt x="0" y="21854"/>
                  </a:lnTo>
                  <a:cubicBezTo>
                    <a:pt x="0" y="16058"/>
                    <a:pt x="2303" y="10499"/>
                    <a:pt x="6401" y="6401"/>
                  </a:cubicBezTo>
                  <a:cubicBezTo>
                    <a:pt x="10499" y="2303"/>
                    <a:pt x="16058" y="0"/>
                    <a:pt x="21854" y="0"/>
                  </a:cubicBezTo>
                  <a:close/>
                </a:path>
              </a:pathLst>
            </a:custGeom>
            <a:solidFill>
              <a:srgbClr val="3863E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94479" cy="2682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096399" y="4441341"/>
            <a:ext cx="3983237" cy="94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8"/>
              </a:lnSpc>
              <a:spcBef>
                <a:spcPct val="0"/>
              </a:spcBef>
            </a:pPr>
            <a:r>
              <a:rPr lang="en-US" sz="2784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Retrieve EvidenceRetrieve Evidence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396467" y="4574174"/>
            <a:ext cx="2566048" cy="768278"/>
            <a:chOff x="0" y="0"/>
            <a:chExt cx="2714752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14752" cy="812800"/>
            </a:xfrm>
            <a:custGeom>
              <a:avLst/>
              <a:gdLst/>
              <a:ahLst/>
              <a:cxnLst/>
              <a:rect r="r" b="b" t="t" l="l"/>
              <a:pathLst>
                <a:path h="812800" w="2714752">
                  <a:moveTo>
                    <a:pt x="2714752" y="406400"/>
                  </a:moveTo>
                  <a:lnTo>
                    <a:pt x="2308352" y="0"/>
                  </a:lnTo>
                  <a:lnTo>
                    <a:pt x="2308352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2308352" y="609600"/>
                  </a:lnTo>
                  <a:lnTo>
                    <a:pt x="2308352" y="812800"/>
                  </a:lnTo>
                  <a:lnTo>
                    <a:pt x="2714752" y="406400"/>
                  </a:lnTo>
                  <a:close/>
                </a:path>
              </a:pathLst>
            </a:custGeom>
            <a:solidFill>
              <a:srgbClr val="001C7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165100"/>
              <a:ext cx="261315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634869" y="4440607"/>
            <a:ext cx="3818200" cy="1072261"/>
            <a:chOff x="0" y="0"/>
            <a:chExt cx="623773" cy="17517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23773" cy="175173"/>
            </a:xfrm>
            <a:custGeom>
              <a:avLst/>
              <a:gdLst/>
              <a:ahLst/>
              <a:cxnLst/>
              <a:rect r="r" b="b" t="t" l="l"/>
              <a:pathLst>
                <a:path h="175173" w="623773">
                  <a:moveTo>
                    <a:pt x="24332" y="0"/>
                  </a:moveTo>
                  <a:lnTo>
                    <a:pt x="599441" y="0"/>
                  </a:lnTo>
                  <a:cubicBezTo>
                    <a:pt x="612879" y="0"/>
                    <a:pt x="623773" y="10894"/>
                    <a:pt x="623773" y="24332"/>
                  </a:cubicBezTo>
                  <a:lnTo>
                    <a:pt x="623773" y="150842"/>
                  </a:lnTo>
                  <a:cubicBezTo>
                    <a:pt x="623773" y="164280"/>
                    <a:pt x="612879" y="175173"/>
                    <a:pt x="599441" y="175173"/>
                  </a:cubicBezTo>
                  <a:lnTo>
                    <a:pt x="24332" y="175173"/>
                  </a:lnTo>
                  <a:cubicBezTo>
                    <a:pt x="10894" y="175173"/>
                    <a:pt x="0" y="164280"/>
                    <a:pt x="0" y="150842"/>
                  </a:cubicBezTo>
                  <a:lnTo>
                    <a:pt x="0" y="24332"/>
                  </a:lnTo>
                  <a:cubicBezTo>
                    <a:pt x="0" y="10894"/>
                    <a:pt x="10894" y="0"/>
                    <a:pt x="24332" y="0"/>
                  </a:cubicBezTo>
                  <a:close/>
                </a:path>
              </a:pathLst>
            </a:custGeom>
            <a:solidFill>
              <a:srgbClr val="3863E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23773" cy="213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3804768" y="4601446"/>
            <a:ext cx="3478400" cy="606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20"/>
              </a:lnSpc>
              <a:spcBef>
                <a:spcPct val="0"/>
              </a:spcBef>
            </a:pPr>
            <a:r>
              <a:rPr lang="en-US" sz="3514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 Generate Answer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213519" y="4574174"/>
            <a:ext cx="2421350" cy="768278"/>
            <a:chOff x="0" y="0"/>
            <a:chExt cx="2561668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561668" cy="812800"/>
            </a:xfrm>
            <a:custGeom>
              <a:avLst/>
              <a:gdLst/>
              <a:ahLst/>
              <a:cxnLst/>
              <a:rect r="r" b="b" t="t" l="l"/>
              <a:pathLst>
                <a:path h="812800" w="2561668">
                  <a:moveTo>
                    <a:pt x="2561668" y="406400"/>
                  </a:moveTo>
                  <a:lnTo>
                    <a:pt x="2155268" y="0"/>
                  </a:lnTo>
                  <a:lnTo>
                    <a:pt x="2155268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2155268" y="609600"/>
                  </a:lnTo>
                  <a:lnTo>
                    <a:pt x="2155268" y="812800"/>
                  </a:lnTo>
                  <a:lnTo>
                    <a:pt x="2561668" y="406400"/>
                  </a:lnTo>
                  <a:close/>
                </a:path>
              </a:pathLst>
            </a:custGeom>
            <a:solidFill>
              <a:srgbClr val="001C72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165100"/>
              <a:ext cx="2460068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1816" y="1751526"/>
            <a:ext cx="3367767" cy="1035413"/>
            <a:chOff x="0" y="0"/>
            <a:chExt cx="550186" cy="1691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0186" cy="169154"/>
            </a:xfrm>
            <a:custGeom>
              <a:avLst/>
              <a:gdLst/>
              <a:ahLst/>
              <a:cxnLst/>
              <a:rect r="r" b="b" t="t" l="l"/>
              <a:pathLst>
                <a:path h="169154" w="550186">
                  <a:moveTo>
                    <a:pt x="27586" y="0"/>
                  </a:moveTo>
                  <a:lnTo>
                    <a:pt x="522600" y="0"/>
                  </a:lnTo>
                  <a:cubicBezTo>
                    <a:pt x="529916" y="0"/>
                    <a:pt x="536933" y="2906"/>
                    <a:pt x="542106" y="8080"/>
                  </a:cubicBezTo>
                  <a:cubicBezTo>
                    <a:pt x="547280" y="13253"/>
                    <a:pt x="550186" y="20270"/>
                    <a:pt x="550186" y="27586"/>
                  </a:cubicBezTo>
                  <a:lnTo>
                    <a:pt x="550186" y="141568"/>
                  </a:lnTo>
                  <a:cubicBezTo>
                    <a:pt x="550186" y="148884"/>
                    <a:pt x="547280" y="155901"/>
                    <a:pt x="542106" y="161074"/>
                  </a:cubicBezTo>
                  <a:cubicBezTo>
                    <a:pt x="536933" y="166247"/>
                    <a:pt x="529916" y="169154"/>
                    <a:pt x="522600" y="169154"/>
                  </a:cubicBezTo>
                  <a:lnTo>
                    <a:pt x="27586" y="169154"/>
                  </a:lnTo>
                  <a:cubicBezTo>
                    <a:pt x="20270" y="169154"/>
                    <a:pt x="13253" y="166247"/>
                    <a:pt x="8080" y="161074"/>
                  </a:cubicBezTo>
                  <a:cubicBezTo>
                    <a:pt x="2906" y="155901"/>
                    <a:pt x="0" y="148884"/>
                    <a:pt x="0" y="141568"/>
                  </a:cubicBezTo>
                  <a:lnTo>
                    <a:pt x="0" y="27586"/>
                  </a:lnTo>
                  <a:cubicBezTo>
                    <a:pt x="0" y="20270"/>
                    <a:pt x="2906" y="13253"/>
                    <a:pt x="8080" y="8080"/>
                  </a:cubicBezTo>
                  <a:cubicBezTo>
                    <a:pt x="13253" y="2906"/>
                    <a:pt x="20270" y="0"/>
                    <a:pt x="27586" y="0"/>
                  </a:cubicBezTo>
                  <a:close/>
                </a:path>
              </a:pathLst>
            </a:custGeom>
            <a:solidFill>
              <a:srgbClr val="3863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50186" cy="2072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65631" y="1698335"/>
            <a:ext cx="4251004" cy="1088604"/>
            <a:chOff x="0" y="0"/>
            <a:chExt cx="694479" cy="1778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94479" cy="177843"/>
            </a:xfrm>
            <a:custGeom>
              <a:avLst/>
              <a:gdLst/>
              <a:ahLst/>
              <a:cxnLst/>
              <a:rect r="r" b="b" t="t" l="l"/>
              <a:pathLst>
                <a:path h="177843" w="694479">
                  <a:moveTo>
                    <a:pt x="21854" y="0"/>
                  </a:moveTo>
                  <a:lnTo>
                    <a:pt x="672625" y="0"/>
                  </a:lnTo>
                  <a:cubicBezTo>
                    <a:pt x="678421" y="0"/>
                    <a:pt x="683980" y="2303"/>
                    <a:pt x="688078" y="6401"/>
                  </a:cubicBezTo>
                  <a:cubicBezTo>
                    <a:pt x="692177" y="10499"/>
                    <a:pt x="694479" y="16058"/>
                    <a:pt x="694479" y="21854"/>
                  </a:cubicBezTo>
                  <a:lnTo>
                    <a:pt x="694479" y="155989"/>
                  </a:lnTo>
                  <a:cubicBezTo>
                    <a:pt x="694479" y="161785"/>
                    <a:pt x="692177" y="167344"/>
                    <a:pt x="688078" y="171442"/>
                  </a:cubicBezTo>
                  <a:cubicBezTo>
                    <a:pt x="683980" y="175541"/>
                    <a:pt x="678421" y="177843"/>
                    <a:pt x="672625" y="177843"/>
                  </a:cubicBezTo>
                  <a:lnTo>
                    <a:pt x="21854" y="177843"/>
                  </a:lnTo>
                  <a:cubicBezTo>
                    <a:pt x="16058" y="177843"/>
                    <a:pt x="10499" y="175541"/>
                    <a:pt x="6401" y="171442"/>
                  </a:cubicBezTo>
                  <a:cubicBezTo>
                    <a:pt x="2303" y="167344"/>
                    <a:pt x="0" y="161785"/>
                    <a:pt x="0" y="155989"/>
                  </a:cubicBezTo>
                  <a:lnTo>
                    <a:pt x="0" y="21854"/>
                  </a:lnTo>
                  <a:cubicBezTo>
                    <a:pt x="0" y="16058"/>
                    <a:pt x="2303" y="10499"/>
                    <a:pt x="6401" y="6401"/>
                  </a:cubicBezTo>
                  <a:cubicBezTo>
                    <a:pt x="10499" y="2303"/>
                    <a:pt x="16058" y="0"/>
                    <a:pt x="21854" y="0"/>
                  </a:cubicBezTo>
                  <a:close/>
                </a:path>
              </a:pathLst>
            </a:custGeom>
            <a:solidFill>
              <a:srgbClr val="3863E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94479" cy="2159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299583" y="1885093"/>
            <a:ext cx="2566048" cy="768278"/>
            <a:chOff x="0" y="0"/>
            <a:chExt cx="2714752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14752" cy="812800"/>
            </a:xfrm>
            <a:custGeom>
              <a:avLst/>
              <a:gdLst/>
              <a:ahLst/>
              <a:cxnLst/>
              <a:rect r="r" b="b" t="t" l="l"/>
              <a:pathLst>
                <a:path h="812800" w="2714752">
                  <a:moveTo>
                    <a:pt x="2714752" y="406400"/>
                  </a:moveTo>
                  <a:lnTo>
                    <a:pt x="2308352" y="0"/>
                  </a:lnTo>
                  <a:lnTo>
                    <a:pt x="2308352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2308352" y="609600"/>
                  </a:lnTo>
                  <a:lnTo>
                    <a:pt x="2308352" y="812800"/>
                  </a:lnTo>
                  <a:lnTo>
                    <a:pt x="2714752" y="406400"/>
                  </a:lnTo>
                  <a:close/>
                </a:path>
              </a:pathLst>
            </a:custGeom>
            <a:solidFill>
              <a:srgbClr val="001C7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65100"/>
              <a:ext cx="261315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537984" y="1751526"/>
            <a:ext cx="3818200" cy="1072261"/>
            <a:chOff x="0" y="0"/>
            <a:chExt cx="623773" cy="17517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23773" cy="175173"/>
            </a:xfrm>
            <a:custGeom>
              <a:avLst/>
              <a:gdLst/>
              <a:ahLst/>
              <a:cxnLst/>
              <a:rect r="r" b="b" t="t" l="l"/>
              <a:pathLst>
                <a:path h="175173" w="623773">
                  <a:moveTo>
                    <a:pt x="24332" y="0"/>
                  </a:moveTo>
                  <a:lnTo>
                    <a:pt x="599441" y="0"/>
                  </a:lnTo>
                  <a:cubicBezTo>
                    <a:pt x="612879" y="0"/>
                    <a:pt x="623773" y="10894"/>
                    <a:pt x="623773" y="24332"/>
                  </a:cubicBezTo>
                  <a:lnTo>
                    <a:pt x="623773" y="150842"/>
                  </a:lnTo>
                  <a:cubicBezTo>
                    <a:pt x="623773" y="164280"/>
                    <a:pt x="612879" y="175173"/>
                    <a:pt x="599441" y="175173"/>
                  </a:cubicBezTo>
                  <a:lnTo>
                    <a:pt x="24332" y="175173"/>
                  </a:lnTo>
                  <a:cubicBezTo>
                    <a:pt x="10894" y="175173"/>
                    <a:pt x="0" y="164280"/>
                    <a:pt x="0" y="150842"/>
                  </a:cubicBezTo>
                  <a:lnTo>
                    <a:pt x="0" y="24332"/>
                  </a:lnTo>
                  <a:cubicBezTo>
                    <a:pt x="0" y="10894"/>
                    <a:pt x="10894" y="0"/>
                    <a:pt x="24332" y="0"/>
                  </a:cubicBezTo>
                  <a:close/>
                </a:path>
              </a:pathLst>
            </a:custGeom>
            <a:solidFill>
              <a:srgbClr val="3863E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23773" cy="213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116635" y="1885093"/>
            <a:ext cx="2421350" cy="768278"/>
            <a:chOff x="0" y="0"/>
            <a:chExt cx="2561668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61668" cy="812800"/>
            </a:xfrm>
            <a:custGeom>
              <a:avLst/>
              <a:gdLst/>
              <a:ahLst/>
              <a:cxnLst/>
              <a:rect r="r" b="b" t="t" l="l"/>
              <a:pathLst>
                <a:path h="812800" w="2561668">
                  <a:moveTo>
                    <a:pt x="2561668" y="406400"/>
                  </a:moveTo>
                  <a:lnTo>
                    <a:pt x="2155268" y="0"/>
                  </a:lnTo>
                  <a:lnTo>
                    <a:pt x="2155268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2155268" y="609600"/>
                  </a:lnTo>
                  <a:lnTo>
                    <a:pt x="2155268" y="812800"/>
                  </a:lnTo>
                  <a:lnTo>
                    <a:pt x="2561668" y="406400"/>
                  </a:lnTo>
                  <a:close/>
                </a:path>
              </a:pathLst>
            </a:custGeom>
            <a:solidFill>
              <a:srgbClr val="001C7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165100"/>
              <a:ext cx="2460068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5400000">
            <a:off x="13935617" y="3914267"/>
            <a:ext cx="3022934" cy="768278"/>
            <a:chOff x="0" y="0"/>
            <a:chExt cx="3198115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198114" cy="812800"/>
            </a:xfrm>
            <a:custGeom>
              <a:avLst/>
              <a:gdLst/>
              <a:ahLst/>
              <a:cxnLst/>
              <a:rect r="r" b="b" t="t" l="l"/>
              <a:pathLst>
                <a:path h="812800" w="3198114">
                  <a:moveTo>
                    <a:pt x="3198114" y="406400"/>
                  </a:moveTo>
                  <a:lnTo>
                    <a:pt x="2791714" y="0"/>
                  </a:lnTo>
                  <a:lnTo>
                    <a:pt x="2791714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2791714" y="609600"/>
                  </a:lnTo>
                  <a:lnTo>
                    <a:pt x="2791714" y="812800"/>
                  </a:lnTo>
                  <a:lnTo>
                    <a:pt x="3198114" y="406400"/>
                  </a:lnTo>
                  <a:close/>
                </a:path>
              </a:pathLst>
            </a:custGeom>
            <a:solidFill>
              <a:srgbClr val="001C7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165100"/>
              <a:ext cx="3096515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321582" y="5809873"/>
            <a:ext cx="4251004" cy="1088604"/>
            <a:chOff x="0" y="0"/>
            <a:chExt cx="694479" cy="17784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94479" cy="177843"/>
            </a:xfrm>
            <a:custGeom>
              <a:avLst/>
              <a:gdLst/>
              <a:ahLst/>
              <a:cxnLst/>
              <a:rect r="r" b="b" t="t" l="l"/>
              <a:pathLst>
                <a:path h="177843" w="694479">
                  <a:moveTo>
                    <a:pt x="21854" y="0"/>
                  </a:moveTo>
                  <a:lnTo>
                    <a:pt x="672625" y="0"/>
                  </a:lnTo>
                  <a:cubicBezTo>
                    <a:pt x="678421" y="0"/>
                    <a:pt x="683980" y="2303"/>
                    <a:pt x="688078" y="6401"/>
                  </a:cubicBezTo>
                  <a:cubicBezTo>
                    <a:pt x="692177" y="10499"/>
                    <a:pt x="694479" y="16058"/>
                    <a:pt x="694479" y="21854"/>
                  </a:cubicBezTo>
                  <a:lnTo>
                    <a:pt x="694479" y="155989"/>
                  </a:lnTo>
                  <a:cubicBezTo>
                    <a:pt x="694479" y="161785"/>
                    <a:pt x="692177" y="167344"/>
                    <a:pt x="688078" y="171442"/>
                  </a:cubicBezTo>
                  <a:cubicBezTo>
                    <a:pt x="683980" y="175541"/>
                    <a:pt x="678421" y="177843"/>
                    <a:pt x="672625" y="177843"/>
                  </a:cubicBezTo>
                  <a:lnTo>
                    <a:pt x="21854" y="177843"/>
                  </a:lnTo>
                  <a:cubicBezTo>
                    <a:pt x="16058" y="177843"/>
                    <a:pt x="10499" y="175541"/>
                    <a:pt x="6401" y="171442"/>
                  </a:cubicBezTo>
                  <a:cubicBezTo>
                    <a:pt x="2303" y="167344"/>
                    <a:pt x="0" y="161785"/>
                    <a:pt x="0" y="155989"/>
                  </a:cubicBezTo>
                  <a:lnTo>
                    <a:pt x="0" y="21854"/>
                  </a:lnTo>
                  <a:cubicBezTo>
                    <a:pt x="0" y="16058"/>
                    <a:pt x="2303" y="10499"/>
                    <a:pt x="6401" y="6401"/>
                  </a:cubicBezTo>
                  <a:cubicBezTo>
                    <a:pt x="10499" y="2303"/>
                    <a:pt x="16058" y="0"/>
                    <a:pt x="21854" y="0"/>
                  </a:cubicBezTo>
                  <a:close/>
                </a:path>
              </a:pathLst>
            </a:custGeom>
            <a:solidFill>
              <a:srgbClr val="3863E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694479" cy="2159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-10800000">
            <a:off x="4396467" y="5984439"/>
            <a:ext cx="8925116" cy="768278"/>
            <a:chOff x="0" y="0"/>
            <a:chExt cx="944233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442330" cy="812800"/>
            </a:xfrm>
            <a:custGeom>
              <a:avLst/>
              <a:gdLst/>
              <a:ahLst/>
              <a:cxnLst/>
              <a:rect r="r" b="b" t="t" l="l"/>
              <a:pathLst>
                <a:path h="812800" w="9442330">
                  <a:moveTo>
                    <a:pt x="9442330" y="406400"/>
                  </a:moveTo>
                  <a:lnTo>
                    <a:pt x="9035930" y="0"/>
                  </a:lnTo>
                  <a:lnTo>
                    <a:pt x="903593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9035930" y="609600"/>
                  </a:lnTo>
                  <a:lnTo>
                    <a:pt x="9035930" y="812800"/>
                  </a:lnTo>
                  <a:lnTo>
                    <a:pt x="9442330" y="406400"/>
                  </a:lnTo>
                  <a:close/>
                </a:path>
              </a:pathLst>
            </a:custGeom>
            <a:solidFill>
              <a:srgbClr val="001C7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165100"/>
              <a:ext cx="934073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28700" y="5840797"/>
            <a:ext cx="3367767" cy="1035413"/>
            <a:chOff x="0" y="0"/>
            <a:chExt cx="550186" cy="16915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50186" cy="169154"/>
            </a:xfrm>
            <a:custGeom>
              <a:avLst/>
              <a:gdLst/>
              <a:ahLst/>
              <a:cxnLst/>
              <a:rect r="r" b="b" t="t" l="l"/>
              <a:pathLst>
                <a:path h="169154" w="550186">
                  <a:moveTo>
                    <a:pt x="27586" y="0"/>
                  </a:moveTo>
                  <a:lnTo>
                    <a:pt x="522600" y="0"/>
                  </a:lnTo>
                  <a:cubicBezTo>
                    <a:pt x="529916" y="0"/>
                    <a:pt x="536933" y="2906"/>
                    <a:pt x="542106" y="8080"/>
                  </a:cubicBezTo>
                  <a:cubicBezTo>
                    <a:pt x="547280" y="13253"/>
                    <a:pt x="550186" y="20270"/>
                    <a:pt x="550186" y="27586"/>
                  </a:cubicBezTo>
                  <a:lnTo>
                    <a:pt x="550186" y="141568"/>
                  </a:lnTo>
                  <a:cubicBezTo>
                    <a:pt x="550186" y="148884"/>
                    <a:pt x="547280" y="155901"/>
                    <a:pt x="542106" y="161074"/>
                  </a:cubicBezTo>
                  <a:cubicBezTo>
                    <a:pt x="536933" y="166247"/>
                    <a:pt x="529916" y="169154"/>
                    <a:pt x="522600" y="169154"/>
                  </a:cubicBezTo>
                  <a:lnTo>
                    <a:pt x="27586" y="169154"/>
                  </a:lnTo>
                  <a:cubicBezTo>
                    <a:pt x="20270" y="169154"/>
                    <a:pt x="13253" y="166247"/>
                    <a:pt x="8080" y="161074"/>
                  </a:cubicBezTo>
                  <a:cubicBezTo>
                    <a:pt x="2906" y="155901"/>
                    <a:pt x="0" y="148884"/>
                    <a:pt x="0" y="141568"/>
                  </a:cubicBezTo>
                  <a:lnTo>
                    <a:pt x="0" y="27586"/>
                  </a:lnTo>
                  <a:cubicBezTo>
                    <a:pt x="0" y="20270"/>
                    <a:pt x="2906" y="13253"/>
                    <a:pt x="8080" y="8080"/>
                  </a:cubicBezTo>
                  <a:cubicBezTo>
                    <a:pt x="13253" y="2906"/>
                    <a:pt x="20270" y="0"/>
                    <a:pt x="27586" y="0"/>
                  </a:cubicBezTo>
                  <a:close/>
                </a:path>
              </a:pathLst>
            </a:custGeom>
            <a:solidFill>
              <a:srgbClr val="3863E4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550186" cy="2072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6149281">
            <a:off x="6864302" y="2770034"/>
            <a:ext cx="1835684" cy="1562000"/>
          </a:xfrm>
          <a:custGeom>
            <a:avLst/>
            <a:gdLst/>
            <a:ahLst/>
            <a:cxnLst/>
            <a:rect r="r" b="b" t="t" l="l"/>
            <a:pathLst>
              <a:path h="1562000" w="1835684">
                <a:moveTo>
                  <a:pt x="0" y="0"/>
                </a:moveTo>
                <a:lnTo>
                  <a:pt x="1835684" y="0"/>
                </a:lnTo>
                <a:lnTo>
                  <a:pt x="1835684" y="1562000"/>
                </a:lnTo>
                <a:lnTo>
                  <a:pt x="0" y="156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6564064" y="224603"/>
            <a:ext cx="5159871" cy="605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35"/>
              </a:lnSpc>
              <a:spcBef>
                <a:spcPct val="0"/>
              </a:spcBef>
            </a:pPr>
            <a:r>
              <a:rPr lang="en-US" sz="4047" i="true" spc="218" strike="noStrike" u="none">
                <a:solidFill>
                  <a:srgbClr val="000000"/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How Does It Work?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63607" y="1895407"/>
            <a:ext cx="2904185" cy="621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17"/>
              </a:lnSpc>
              <a:spcBef>
                <a:spcPct val="0"/>
              </a:spcBef>
            </a:pPr>
            <a:r>
              <a:rPr lang="en-US" sz="3655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User Question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256684" y="1871537"/>
            <a:ext cx="3774632" cy="646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0"/>
              </a:lnSpc>
              <a:spcBef>
                <a:spcPct val="0"/>
              </a:spcBef>
            </a:pPr>
            <a:r>
              <a:rPr lang="en-US" sz="3793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BioBERT Classifier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815719" y="1886333"/>
            <a:ext cx="3262730" cy="689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76"/>
              </a:lnSpc>
              <a:spcBef>
                <a:spcPct val="0"/>
              </a:spcBef>
            </a:pPr>
            <a:r>
              <a:rPr lang="en-US" sz="3982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FAISS Retrieval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815613" y="5860383"/>
            <a:ext cx="3441951" cy="902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78"/>
              </a:lnSpc>
              <a:spcBef>
                <a:spcPct val="0"/>
              </a:spcBef>
            </a:pPr>
            <a:r>
              <a:rPr lang="en-US" sz="5341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Groq Llama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18370" y="6015237"/>
            <a:ext cx="3181267" cy="613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33"/>
              </a:lnSpc>
              <a:spcBef>
                <a:spcPct val="0"/>
              </a:spcBef>
            </a:pPr>
            <a:r>
              <a:rPr lang="en-US" sz="3595" strike="noStrike" u="none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Medical Answer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894125" y="3910889"/>
            <a:ext cx="1907977" cy="605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35"/>
              </a:lnSpc>
              <a:spcBef>
                <a:spcPct val="0"/>
              </a:spcBef>
            </a:pPr>
            <a:r>
              <a:rPr lang="en-US" sz="4047" i="true" spc="218" strike="noStrike" u="none">
                <a:solidFill>
                  <a:srgbClr val="000000"/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Predict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6149281">
            <a:off x="12897650" y="2850413"/>
            <a:ext cx="1835684" cy="1562000"/>
          </a:xfrm>
          <a:custGeom>
            <a:avLst/>
            <a:gdLst/>
            <a:ahLst/>
            <a:cxnLst/>
            <a:rect r="r" b="b" t="t" l="l"/>
            <a:pathLst>
              <a:path h="1562000" w="1835684">
                <a:moveTo>
                  <a:pt x="0" y="0"/>
                </a:moveTo>
                <a:lnTo>
                  <a:pt x="1835684" y="0"/>
                </a:lnTo>
                <a:lnTo>
                  <a:pt x="1835684" y="1562000"/>
                </a:lnTo>
                <a:lnTo>
                  <a:pt x="0" y="156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0615538" y="3910889"/>
            <a:ext cx="2216795" cy="605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35"/>
              </a:lnSpc>
              <a:spcBef>
                <a:spcPct val="0"/>
              </a:spcBef>
            </a:pPr>
            <a:r>
              <a:rPr lang="en-US" sz="4047" i="true" spc="218" strike="noStrike" u="none">
                <a:solidFill>
                  <a:srgbClr val="000000"/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Retrieve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6149281">
            <a:off x="13466668" y="6847063"/>
            <a:ext cx="1835684" cy="1562000"/>
          </a:xfrm>
          <a:custGeom>
            <a:avLst/>
            <a:gdLst/>
            <a:ahLst/>
            <a:cxnLst/>
            <a:rect r="r" b="b" t="t" l="l"/>
            <a:pathLst>
              <a:path h="1562000" w="1835684">
                <a:moveTo>
                  <a:pt x="0" y="0"/>
                </a:moveTo>
                <a:lnTo>
                  <a:pt x="1835684" y="0"/>
                </a:lnTo>
                <a:lnTo>
                  <a:pt x="1835684" y="1562000"/>
                </a:lnTo>
                <a:lnTo>
                  <a:pt x="0" y="156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11041672" y="7965277"/>
            <a:ext cx="2381845" cy="605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35"/>
              </a:lnSpc>
              <a:spcBef>
                <a:spcPct val="0"/>
              </a:spcBef>
            </a:pPr>
            <a:r>
              <a:rPr lang="en-US" sz="4047" i="true" spc="218">
                <a:solidFill>
                  <a:srgbClr val="000000"/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Generate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13350" y="274824"/>
            <a:ext cx="8261300" cy="75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22"/>
              </a:lnSpc>
              <a:spcBef>
                <a:spcPct val="0"/>
              </a:spcBef>
            </a:pPr>
            <a:r>
              <a:rPr lang="en-US" b="true" sz="4444">
                <a:solidFill>
                  <a:srgbClr val="003DF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Knowledge Base Construction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305369" y="2177345"/>
            <a:ext cx="2836282" cy="691050"/>
            <a:chOff x="0" y="0"/>
            <a:chExt cx="712769" cy="1736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12769" cy="173664"/>
            </a:xfrm>
            <a:custGeom>
              <a:avLst/>
              <a:gdLst/>
              <a:ahLst/>
              <a:cxnLst/>
              <a:rect r="r" b="b" t="t" l="l"/>
              <a:pathLst>
                <a:path h="173664" w="712769">
                  <a:moveTo>
                    <a:pt x="32755" y="0"/>
                  </a:moveTo>
                  <a:lnTo>
                    <a:pt x="680013" y="0"/>
                  </a:lnTo>
                  <a:cubicBezTo>
                    <a:pt x="688701" y="0"/>
                    <a:pt x="697032" y="3451"/>
                    <a:pt x="703175" y="9594"/>
                  </a:cubicBezTo>
                  <a:cubicBezTo>
                    <a:pt x="709318" y="15737"/>
                    <a:pt x="712769" y="24068"/>
                    <a:pt x="712769" y="32755"/>
                  </a:cubicBezTo>
                  <a:lnTo>
                    <a:pt x="712769" y="140908"/>
                  </a:lnTo>
                  <a:cubicBezTo>
                    <a:pt x="712769" y="158999"/>
                    <a:pt x="698104" y="173664"/>
                    <a:pt x="680013" y="173664"/>
                  </a:cubicBezTo>
                  <a:lnTo>
                    <a:pt x="32755" y="173664"/>
                  </a:lnTo>
                  <a:cubicBezTo>
                    <a:pt x="24068" y="173664"/>
                    <a:pt x="15737" y="170213"/>
                    <a:pt x="9594" y="164070"/>
                  </a:cubicBezTo>
                  <a:cubicBezTo>
                    <a:pt x="3451" y="157927"/>
                    <a:pt x="0" y="149596"/>
                    <a:pt x="0" y="140908"/>
                  </a:cubicBezTo>
                  <a:lnTo>
                    <a:pt x="0" y="32755"/>
                  </a:lnTo>
                  <a:cubicBezTo>
                    <a:pt x="0" y="24068"/>
                    <a:pt x="3451" y="15737"/>
                    <a:pt x="9594" y="9594"/>
                  </a:cubicBezTo>
                  <a:cubicBezTo>
                    <a:pt x="15737" y="3451"/>
                    <a:pt x="24068" y="0"/>
                    <a:pt x="32755" y="0"/>
                  </a:cubicBezTo>
                  <a:close/>
                </a:path>
              </a:pathLst>
            </a:custGeom>
            <a:solidFill>
              <a:srgbClr val="3863E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712769" cy="2117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05369" y="3744695"/>
            <a:ext cx="2996135" cy="763064"/>
            <a:chOff x="0" y="0"/>
            <a:chExt cx="687810" cy="17517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87810" cy="175173"/>
            </a:xfrm>
            <a:custGeom>
              <a:avLst/>
              <a:gdLst/>
              <a:ahLst/>
              <a:cxnLst/>
              <a:rect r="r" b="b" t="t" l="l"/>
              <a:pathLst>
                <a:path h="175173" w="687810">
                  <a:moveTo>
                    <a:pt x="31008" y="0"/>
                  </a:moveTo>
                  <a:lnTo>
                    <a:pt x="656802" y="0"/>
                  </a:lnTo>
                  <a:cubicBezTo>
                    <a:pt x="665026" y="0"/>
                    <a:pt x="672913" y="3267"/>
                    <a:pt x="678728" y="9082"/>
                  </a:cubicBezTo>
                  <a:cubicBezTo>
                    <a:pt x="684543" y="14897"/>
                    <a:pt x="687810" y="22784"/>
                    <a:pt x="687810" y="31008"/>
                  </a:cubicBezTo>
                  <a:lnTo>
                    <a:pt x="687810" y="144166"/>
                  </a:lnTo>
                  <a:cubicBezTo>
                    <a:pt x="687810" y="152390"/>
                    <a:pt x="684543" y="160276"/>
                    <a:pt x="678728" y="166092"/>
                  </a:cubicBezTo>
                  <a:cubicBezTo>
                    <a:pt x="672913" y="171907"/>
                    <a:pt x="665026" y="175173"/>
                    <a:pt x="656802" y="175173"/>
                  </a:cubicBezTo>
                  <a:lnTo>
                    <a:pt x="31008" y="175173"/>
                  </a:lnTo>
                  <a:cubicBezTo>
                    <a:pt x="22784" y="175173"/>
                    <a:pt x="14897" y="171907"/>
                    <a:pt x="9082" y="166092"/>
                  </a:cubicBezTo>
                  <a:cubicBezTo>
                    <a:pt x="3267" y="160276"/>
                    <a:pt x="0" y="152390"/>
                    <a:pt x="0" y="144166"/>
                  </a:cubicBezTo>
                  <a:lnTo>
                    <a:pt x="0" y="31008"/>
                  </a:lnTo>
                  <a:cubicBezTo>
                    <a:pt x="0" y="22784"/>
                    <a:pt x="3267" y="14897"/>
                    <a:pt x="9082" y="9082"/>
                  </a:cubicBezTo>
                  <a:cubicBezTo>
                    <a:pt x="14897" y="3267"/>
                    <a:pt x="22784" y="0"/>
                    <a:pt x="31008" y="0"/>
                  </a:cubicBezTo>
                  <a:close/>
                </a:path>
              </a:pathLst>
            </a:custGeom>
            <a:solidFill>
              <a:srgbClr val="3863E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687810" cy="213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2377293" y="3065794"/>
            <a:ext cx="950659" cy="415309"/>
            <a:chOff x="0" y="0"/>
            <a:chExt cx="1440126" cy="62913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40126" cy="629139"/>
            </a:xfrm>
            <a:custGeom>
              <a:avLst/>
              <a:gdLst/>
              <a:ahLst/>
              <a:cxnLst/>
              <a:rect r="r" b="b" t="t" l="l"/>
              <a:pathLst>
                <a:path h="629139" w="1440126">
                  <a:moveTo>
                    <a:pt x="1440126" y="314570"/>
                  </a:moveTo>
                  <a:lnTo>
                    <a:pt x="1033726" y="0"/>
                  </a:lnTo>
                  <a:lnTo>
                    <a:pt x="1033726" y="203200"/>
                  </a:lnTo>
                  <a:lnTo>
                    <a:pt x="0" y="203200"/>
                  </a:lnTo>
                  <a:lnTo>
                    <a:pt x="0" y="425939"/>
                  </a:lnTo>
                  <a:lnTo>
                    <a:pt x="1033726" y="425939"/>
                  </a:lnTo>
                  <a:lnTo>
                    <a:pt x="1033726" y="629139"/>
                  </a:lnTo>
                  <a:lnTo>
                    <a:pt x="1440126" y="314570"/>
                  </a:lnTo>
                  <a:close/>
                </a:path>
              </a:pathLst>
            </a:custGeom>
            <a:solidFill>
              <a:srgbClr val="001C7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65100"/>
              <a:ext cx="1338526" cy="2608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5400000">
            <a:off x="2368882" y="4722409"/>
            <a:ext cx="869110" cy="439811"/>
            <a:chOff x="0" y="0"/>
            <a:chExt cx="1099726" cy="55651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9726" cy="556514"/>
            </a:xfrm>
            <a:custGeom>
              <a:avLst/>
              <a:gdLst/>
              <a:ahLst/>
              <a:cxnLst/>
              <a:rect r="r" b="b" t="t" l="l"/>
              <a:pathLst>
                <a:path h="556514" w="1099726">
                  <a:moveTo>
                    <a:pt x="1099726" y="278257"/>
                  </a:moveTo>
                  <a:lnTo>
                    <a:pt x="693326" y="0"/>
                  </a:lnTo>
                  <a:lnTo>
                    <a:pt x="693326" y="203200"/>
                  </a:lnTo>
                  <a:lnTo>
                    <a:pt x="0" y="203200"/>
                  </a:lnTo>
                  <a:lnTo>
                    <a:pt x="0" y="353314"/>
                  </a:lnTo>
                  <a:lnTo>
                    <a:pt x="693326" y="353314"/>
                  </a:lnTo>
                  <a:lnTo>
                    <a:pt x="693326" y="556514"/>
                  </a:lnTo>
                  <a:lnTo>
                    <a:pt x="1099726" y="278257"/>
                  </a:lnTo>
                  <a:close/>
                </a:path>
              </a:pathLst>
            </a:custGeom>
            <a:solidFill>
              <a:srgbClr val="001C7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165100"/>
              <a:ext cx="998126" cy="1882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02418" y="7209889"/>
            <a:ext cx="4802037" cy="880520"/>
            <a:chOff x="0" y="0"/>
            <a:chExt cx="938292" cy="17204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38292" cy="172049"/>
            </a:xfrm>
            <a:custGeom>
              <a:avLst/>
              <a:gdLst/>
              <a:ahLst/>
              <a:cxnLst/>
              <a:rect r="r" b="b" t="t" l="l"/>
              <a:pathLst>
                <a:path h="172049" w="938292">
                  <a:moveTo>
                    <a:pt x="19347" y="0"/>
                  </a:moveTo>
                  <a:lnTo>
                    <a:pt x="918945" y="0"/>
                  </a:lnTo>
                  <a:cubicBezTo>
                    <a:pt x="924076" y="0"/>
                    <a:pt x="928997" y="2038"/>
                    <a:pt x="932625" y="5666"/>
                  </a:cubicBezTo>
                  <a:cubicBezTo>
                    <a:pt x="936253" y="9295"/>
                    <a:pt x="938292" y="14216"/>
                    <a:pt x="938292" y="19347"/>
                  </a:cubicBezTo>
                  <a:lnTo>
                    <a:pt x="938292" y="152702"/>
                  </a:lnTo>
                  <a:cubicBezTo>
                    <a:pt x="938292" y="157833"/>
                    <a:pt x="936253" y="162754"/>
                    <a:pt x="932625" y="166382"/>
                  </a:cubicBezTo>
                  <a:cubicBezTo>
                    <a:pt x="928997" y="170010"/>
                    <a:pt x="924076" y="172049"/>
                    <a:pt x="918945" y="172049"/>
                  </a:cubicBezTo>
                  <a:lnTo>
                    <a:pt x="19347" y="172049"/>
                  </a:lnTo>
                  <a:cubicBezTo>
                    <a:pt x="14216" y="172049"/>
                    <a:pt x="9295" y="170010"/>
                    <a:pt x="5666" y="166382"/>
                  </a:cubicBezTo>
                  <a:cubicBezTo>
                    <a:pt x="2038" y="162754"/>
                    <a:pt x="0" y="157833"/>
                    <a:pt x="0" y="152702"/>
                  </a:cubicBezTo>
                  <a:lnTo>
                    <a:pt x="0" y="19347"/>
                  </a:lnTo>
                  <a:cubicBezTo>
                    <a:pt x="0" y="14216"/>
                    <a:pt x="2038" y="9295"/>
                    <a:pt x="5666" y="5666"/>
                  </a:cubicBezTo>
                  <a:cubicBezTo>
                    <a:pt x="9295" y="2038"/>
                    <a:pt x="14216" y="0"/>
                    <a:pt x="19347" y="0"/>
                  </a:cubicBezTo>
                  <a:close/>
                </a:path>
              </a:pathLst>
            </a:custGeom>
            <a:solidFill>
              <a:srgbClr val="3863E4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938292" cy="2387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961"/>
                </a:lnSpc>
                <a:spcBef>
                  <a:spcPct val="0"/>
                </a:spcBef>
              </a:pPr>
              <a:r>
                <a:rPr lang="en-US" sz="3543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Embedding Generation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5400000">
            <a:off x="2316485" y="6524435"/>
            <a:ext cx="973903" cy="439811"/>
            <a:chOff x="0" y="0"/>
            <a:chExt cx="1201888" cy="5427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01888" cy="542768"/>
            </a:xfrm>
            <a:custGeom>
              <a:avLst/>
              <a:gdLst/>
              <a:ahLst/>
              <a:cxnLst/>
              <a:rect r="r" b="b" t="t" l="l"/>
              <a:pathLst>
                <a:path h="542768" w="1201888">
                  <a:moveTo>
                    <a:pt x="1201888" y="271384"/>
                  </a:moveTo>
                  <a:lnTo>
                    <a:pt x="795488" y="0"/>
                  </a:lnTo>
                  <a:lnTo>
                    <a:pt x="795488" y="203200"/>
                  </a:lnTo>
                  <a:lnTo>
                    <a:pt x="0" y="203200"/>
                  </a:lnTo>
                  <a:lnTo>
                    <a:pt x="0" y="339568"/>
                  </a:lnTo>
                  <a:lnTo>
                    <a:pt x="795488" y="339568"/>
                  </a:lnTo>
                  <a:lnTo>
                    <a:pt x="795488" y="542768"/>
                  </a:lnTo>
                  <a:lnTo>
                    <a:pt x="1201888" y="271384"/>
                  </a:lnTo>
                  <a:close/>
                </a:path>
              </a:pathLst>
            </a:custGeom>
            <a:solidFill>
              <a:srgbClr val="001C7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165100"/>
              <a:ext cx="1100288" cy="174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13046" y="8991545"/>
            <a:ext cx="5335964" cy="1019615"/>
            <a:chOff x="0" y="0"/>
            <a:chExt cx="1042618" cy="19922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42618" cy="199227"/>
            </a:xfrm>
            <a:custGeom>
              <a:avLst/>
              <a:gdLst/>
              <a:ahLst/>
              <a:cxnLst/>
              <a:rect r="r" b="b" t="t" l="l"/>
              <a:pathLst>
                <a:path h="199227" w="1042618">
                  <a:moveTo>
                    <a:pt x="17411" y="0"/>
                  </a:moveTo>
                  <a:lnTo>
                    <a:pt x="1025207" y="0"/>
                  </a:lnTo>
                  <a:cubicBezTo>
                    <a:pt x="1029825" y="0"/>
                    <a:pt x="1034253" y="1834"/>
                    <a:pt x="1037518" y="5099"/>
                  </a:cubicBezTo>
                  <a:cubicBezTo>
                    <a:pt x="1040784" y="8365"/>
                    <a:pt x="1042618" y="12793"/>
                    <a:pt x="1042618" y="17411"/>
                  </a:cubicBezTo>
                  <a:lnTo>
                    <a:pt x="1042618" y="181816"/>
                  </a:lnTo>
                  <a:cubicBezTo>
                    <a:pt x="1042618" y="186434"/>
                    <a:pt x="1040784" y="190862"/>
                    <a:pt x="1037518" y="194128"/>
                  </a:cubicBezTo>
                  <a:cubicBezTo>
                    <a:pt x="1034253" y="197393"/>
                    <a:pt x="1029825" y="199227"/>
                    <a:pt x="1025207" y="199227"/>
                  </a:cubicBezTo>
                  <a:lnTo>
                    <a:pt x="17411" y="199227"/>
                  </a:lnTo>
                  <a:cubicBezTo>
                    <a:pt x="12793" y="199227"/>
                    <a:pt x="8365" y="197393"/>
                    <a:pt x="5099" y="194128"/>
                  </a:cubicBezTo>
                  <a:cubicBezTo>
                    <a:pt x="1834" y="190862"/>
                    <a:pt x="0" y="186434"/>
                    <a:pt x="0" y="181816"/>
                  </a:cubicBezTo>
                  <a:lnTo>
                    <a:pt x="0" y="17411"/>
                  </a:lnTo>
                  <a:cubicBezTo>
                    <a:pt x="0" y="12793"/>
                    <a:pt x="1834" y="8365"/>
                    <a:pt x="5099" y="5099"/>
                  </a:cubicBezTo>
                  <a:cubicBezTo>
                    <a:pt x="8365" y="1834"/>
                    <a:pt x="12793" y="0"/>
                    <a:pt x="17411" y="0"/>
                  </a:cubicBezTo>
                  <a:close/>
                </a:path>
              </a:pathLst>
            </a:custGeom>
            <a:solidFill>
              <a:srgbClr val="3863E4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1042618" cy="2659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961"/>
                </a:lnSpc>
                <a:spcBef>
                  <a:spcPct val="0"/>
                </a:spcBef>
              </a:pPr>
              <a:r>
                <a:rPr lang="en-US" sz="3543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FAISS Vector Database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5400000">
            <a:off x="2305526" y="8376750"/>
            <a:ext cx="995821" cy="423140"/>
            <a:chOff x="0" y="0"/>
            <a:chExt cx="1260060" cy="53541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60060" cy="535419"/>
            </a:xfrm>
            <a:custGeom>
              <a:avLst/>
              <a:gdLst/>
              <a:ahLst/>
              <a:cxnLst/>
              <a:rect r="r" b="b" t="t" l="l"/>
              <a:pathLst>
                <a:path h="535419" w="1260060">
                  <a:moveTo>
                    <a:pt x="1260060" y="267710"/>
                  </a:moveTo>
                  <a:lnTo>
                    <a:pt x="853660" y="0"/>
                  </a:lnTo>
                  <a:lnTo>
                    <a:pt x="853660" y="203200"/>
                  </a:lnTo>
                  <a:lnTo>
                    <a:pt x="0" y="203200"/>
                  </a:lnTo>
                  <a:lnTo>
                    <a:pt x="0" y="332219"/>
                  </a:lnTo>
                  <a:lnTo>
                    <a:pt x="853660" y="332219"/>
                  </a:lnTo>
                  <a:lnTo>
                    <a:pt x="853660" y="535419"/>
                  </a:lnTo>
                  <a:lnTo>
                    <a:pt x="1260060" y="267710"/>
                  </a:lnTo>
                  <a:close/>
                </a:path>
              </a:pathLst>
            </a:custGeom>
            <a:solidFill>
              <a:srgbClr val="001C72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165100"/>
              <a:ext cx="1158460" cy="1671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70935" y="5376869"/>
            <a:ext cx="3840502" cy="880520"/>
            <a:chOff x="0" y="0"/>
            <a:chExt cx="750413" cy="17204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50413" cy="172049"/>
            </a:xfrm>
            <a:custGeom>
              <a:avLst/>
              <a:gdLst/>
              <a:ahLst/>
              <a:cxnLst/>
              <a:rect r="r" b="b" t="t" l="l"/>
              <a:pathLst>
                <a:path h="172049" w="750413">
                  <a:moveTo>
                    <a:pt x="24190" y="0"/>
                  </a:moveTo>
                  <a:lnTo>
                    <a:pt x="726222" y="0"/>
                  </a:lnTo>
                  <a:cubicBezTo>
                    <a:pt x="732638" y="0"/>
                    <a:pt x="738791" y="2549"/>
                    <a:pt x="743328" y="7085"/>
                  </a:cubicBezTo>
                  <a:cubicBezTo>
                    <a:pt x="747864" y="11622"/>
                    <a:pt x="750413" y="17775"/>
                    <a:pt x="750413" y="24190"/>
                  </a:cubicBezTo>
                  <a:lnTo>
                    <a:pt x="750413" y="147858"/>
                  </a:lnTo>
                  <a:cubicBezTo>
                    <a:pt x="750413" y="154274"/>
                    <a:pt x="747864" y="160427"/>
                    <a:pt x="743328" y="164964"/>
                  </a:cubicBezTo>
                  <a:cubicBezTo>
                    <a:pt x="738791" y="169500"/>
                    <a:pt x="732638" y="172049"/>
                    <a:pt x="726222" y="172049"/>
                  </a:cubicBezTo>
                  <a:lnTo>
                    <a:pt x="24190" y="172049"/>
                  </a:lnTo>
                  <a:cubicBezTo>
                    <a:pt x="17775" y="172049"/>
                    <a:pt x="11622" y="169500"/>
                    <a:pt x="7085" y="164964"/>
                  </a:cubicBezTo>
                  <a:cubicBezTo>
                    <a:pt x="2549" y="160427"/>
                    <a:pt x="0" y="154274"/>
                    <a:pt x="0" y="147858"/>
                  </a:cubicBezTo>
                  <a:lnTo>
                    <a:pt x="0" y="24190"/>
                  </a:lnTo>
                  <a:cubicBezTo>
                    <a:pt x="0" y="17775"/>
                    <a:pt x="2549" y="11622"/>
                    <a:pt x="7085" y="7085"/>
                  </a:cubicBezTo>
                  <a:cubicBezTo>
                    <a:pt x="11622" y="2549"/>
                    <a:pt x="17775" y="0"/>
                    <a:pt x="24190" y="0"/>
                  </a:cubicBezTo>
                  <a:close/>
                </a:path>
              </a:pathLst>
            </a:custGeom>
            <a:solidFill>
              <a:srgbClr val="3863E4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750413" cy="2387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961"/>
                </a:lnSpc>
                <a:spcBef>
                  <a:spcPct val="0"/>
                </a:spcBef>
              </a:pPr>
              <a:r>
                <a:rPr lang="en-US" sz="3543" strike="noStrike" u="none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Category Labelling</a:t>
              </a: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7123963">
            <a:off x="5569521" y="770073"/>
            <a:ext cx="1521283" cy="1294474"/>
          </a:xfrm>
          <a:custGeom>
            <a:avLst/>
            <a:gdLst/>
            <a:ahLst/>
            <a:cxnLst/>
            <a:rect r="r" b="b" t="t" l="l"/>
            <a:pathLst>
              <a:path h="1294474" w="1521283">
                <a:moveTo>
                  <a:pt x="0" y="0"/>
                </a:moveTo>
                <a:lnTo>
                  <a:pt x="1521283" y="0"/>
                </a:lnTo>
                <a:lnTo>
                  <a:pt x="1521283" y="1294474"/>
                </a:lnTo>
                <a:lnTo>
                  <a:pt x="0" y="12944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6330162" y="2522870"/>
            <a:ext cx="11845088" cy="7080650"/>
          </a:xfrm>
          <a:custGeom>
            <a:avLst/>
            <a:gdLst/>
            <a:ahLst/>
            <a:cxnLst/>
            <a:rect r="r" b="b" t="t" l="l"/>
            <a:pathLst>
              <a:path h="7080650" w="11845088">
                <a:moveTo>
                  <a:pt x="0" y="0"/>
                </a:moveTo>
                <a:lnTo>
                  <a:pt x="11845088" y="0"/>
                </a:lnTo>
                <a:lnTo>
                  <a:pt x="11845088" y="7080650"/>
                </a:lnTo>
                <a:lnTo>
                  <a:pt x="0" y="70806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305369" y="2283755"/>
            <a:ext cx="2782124" cy="416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2357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PubMedQA Dataset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77037" y="3844028"/>
            <a:ext cx="2852800" cy="513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22"/>
              </a:lnSpc>
              <a:spcBef>
                <a:spcPct val="0"/>
              </a:spcBef>
            </a:pPr>
            <a:r>
              <a:rPr lang="en-US" sz="3016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Data Preparation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39027" y="1375618"/>
            <a:ext cx="4657932" cy="496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93"/>
              </a:lnSpc>
              <a:spcBef>
                <a:spcPct val="0"/>
              </a:spcBef>
            </a:pPr>
            <a:r>
              <a:rPr lang="en-US" sz="3327" i="true" spc="179" strike="noStrike" u="none">
                <a:solidFill>
                  <a:srgbClr val="000000"/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Offline Data Pipeline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35362" y="422730"/>
            <a:ext cx="12017276" cy="605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735"/>
              </a:lnSpc>
              <a:spcBef>
                <a:spcPct val="0"/>
              </a:spcBef>
            </a:pPr>
            <a:r>
              <a:rPr lang="en-US" sz="4047" i="true" spc="218" strike="noStrike" u="none">
                <a:solidFill>
                  <a:srgbClr val="000000"/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What Happens When a User Asks a Question?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386571" y="2551049"/>
            <a:ext cx="3063953" cy="942006"/>
            <a:chOff x="0" y="0"/>
            <a:chExt cx="550186" cy="16915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50186" cy="169154"/>
            </a:xfrm>
            <a:custGeom>
              <a:avLst/>
              <a:gdLst/>
              <a:ahLst/>
              <a:cxnLst/>
              <a:rect r="r" b="b" t="t" l="l"/>
              <a:pathLst>
                <a:path h="169154" w="550186">
                  <a:moveTo>
                    <a:pt x="30321" y="0"/>
                  </a:moveTo>
                  <a:lnTo>
                    <a:pt x="519865" y="0"/>
                  </a:lnTo>
                  <a:cubicBezTo>
                    <a:pt x="527907" y="0"/>
                    <a:pt x="535619" y="3195"/>
                    <a:pt x="541305" y="8881"/>
                  </a:cubicBezTo>
                  <a:cubicBezTo>
                    <a:pt x="546992" y="14567"/>
                    <a:pt x="550186" y="22280"/>
                    <a:pt x="550186" y="30321"/>
                  </a:cubicBezTo>
                  <a:lnTo>
                    <a:pt x="550186" y="138832"/>
                  </a:lnTo>
                  <a:cubicBezTo>
                    <a:pt x="550186" y="155578"/>
                    <a:pt x="536611" y="169154"/>
                    <a:pt x="519865" y="169154"/>
                  </a:cubicBezTo>
                  <a:lnTo>
                    <a:pt x="30321" y="169154"/>
                  </a:lnTo>
                  <a:cubicBezTo>
                    <a:pt x="22280" y="169154"/>
                    <a:pt x="14567" y="165959"/>
                    <a:pt x="8881" y="160273"/>
                  </a:cubicBezTo>
                  <a:cubicBezTo>
                    <a:pt x="3195" y="154586"/>
                    <a:pt x="0" y="146874"/>
                    <a:pt x="0" y="138832"/>
                  </a:cubicBezTo>
                  <a:lnTo>
                    <a:pt x="0" y="30321"/>
                  </a:lnTo>
                  <a:cubicBezTo>
                    <a:pt x="0" y="13575"/>
                    <a:pt x="13575" y="0"/>
                    <a:pt x="30321" y="0"/>
                  </a:cubicBezTo>
                  <a:close/>
                </a:path>
              </a:pathLst>
            </a:custGeom>
            <a:solidFill>
              <a:srgbClr val="3863E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50186" cy="2072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809177" y="2752652"/>
            <a:ext cx="2218740" cy="471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0"/>
              </a:lnSpc>
              <a:spcBef>
                <a:spcPct val="0"/>
              </a:spcBef>
            </a:pPr>
            <a:r>
              <a:rPr lang="en-US" sz="2793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User Question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785083" y="2517525"/>
            <a:ext cx="3473751" cy="975530"/>
            <a:chOff x="0" y="0"/>
            <a:chExt cx="623773" cy="17517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23773" cy="175173"/>
            </a:xfrm>
            <a:custGeom>
              <a:avLst/>
              <a:gdLst/>
              <a:ahLst/>
              <a:cxnLst/>
              <a:rect r="r" b="b" t="t" l="l"/>
              <a:pathLst>
                <a:path h="175173" w="623773">
                  <a:moveTo>
                    <a:pt x="26744" y="0"/>
                  </a:moveTo>
                  <a:lnTo>
                    <a:pt x="597028" y="0"/>
                  </a:lnTo>
                  <a:cubicBezTo>
                    <a:pt x="611799" y="0"/>
                    <a:pt x="623773" y="11974"/>
                    <a:pt x="623773" y="26744"/>
                  </a:cubicBezTo>
                  <a:lnTo>
                    <a:pt x="623773" y="148429"/>
                  </a:lnTo>
                  <a:cubicBezTo>
                    <a:pt x="623773" y="155522"/>
                    <a:pt x="620955" y="162325"/>
                    <a:pt x="615939" y="167340"/>
                  </a:cubicBezTo>
                  <a:cubicBezTo>
                    <a:pt x="610924" y="172356"/>
                    <a:pt x="604121" y="175173"/>
                    <a:pt x="597028" y="175173"/>
                  </a:cubicBezTo>
                  <a:lnTo>
                    <a:pt x="26744" y="175173"/>
                  </a:lnTo>
                  <a:cubicBezTo>
                    <a:pt x="19651" y="175173"/>
                    <a:pt x="12849" y="172356"/>
                    <a:pt x="7833" y="167340"/>
                  </a:cubicBezTo>
                  <a:cubicBezTo>
                    <a:pt x="2818" y="162325"/>
                    <a:pt x="0" y="155522"/>
                    <a:pt x="0" y="148429"/>
                  </a:cubicBezTo>
                  <a:lnTo>
                    <a:pt x="0" y="26744"/>
                  </a:lnTo>
                  <a:cubicBezTo>
                    <a:pt x="0" y="19651"/>
                    <a:pt x="2818" y="12849"/>
                    <a:pt x="7833" y="7833"/>
                  </a:cubicBezTo>
                  <a:cubicBezTo>
                    <a:pt x="12849" y="2818"/>
                    <a:pt x="19651" y="0"/>
                    <a:pt x="26744" y="0"/>
                  </a:cubicBezTo>
                  <a:close/>
                </a:path>
              </a:pathLst>
            </a:custGeom>
            <a:solidFill>
              <a:srgbClr val="3863E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23773" cy="213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698788" y="2490439"/>
            <a:ext cx="3646341" cy="984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9"/>
              </a:lnSpc>
              <a:spcBef>
                <a:spcPct val="0"/>
              </a:spcBef>
            </a:pPr>
            <a:r>
              <a:rPr lang="en-US" sz="2885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Category Selection (Or prediction)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450524" y="2672567"/>
            <a:ext cx="2334559" cy="698970"/>
            <a:chOff x="0" y="0"/>
            <a:chExt cx="2714752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14752" cy="812800"/>
            </a:xfrm>
            <a:custGeom>
              <a:avLst/>
              <a:gdLst/>
              <a:ahLst/>
              <a:cxnLst/>
              <a:rect r="r" b="b" t="t" l="l"/>
              <a:pathLst>
                <a:path h="812800" w="2714752">
                  <a:moveTo>
                    <a:pt x="2714752" y="406400"/>
                  </a:moveTo>
                  <a:lnTo>
                    <a:pt x="2308352" y="0"/>
                  </a:lnTo>
                  <a:lnTo>
                    <a:pt x="2308352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2308352" y="609600"/>
                  </a:lnTo>
                  <a:lnTo>
                    <a:pt x="2308352" y="812800"/>
                  </a:lnTo>
                  <a:lnTo>
                    <a:pt x="2714752" y="406400"/>
                  </a:lnTo>
                  <a:close/>
                </a:path>
              </a:pathLst>
            </a:custGeom>
            <a:solidFill>
              <a:srgbClr val="001C7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165100"/>
              <a:ext cx="261315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855508" y="2551049"/>
            <a:ext cx="4022930" cy="975530"/>
            <a:chOff x="0" y="0"/>
            <a:chExt cx="722387" cy="1751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22387" cy="175173"/>
            </a:xfrm>
            <a:custGeom>
              <a:avLst/>
              <a:gdLst/>
              <a:ahLst/>
              <a:cxnLst/>
              <a:rect r="r" b="b" t="t" l="l"/>
              <a:pathLst>
                <a:path h="175173" w="722387">
                  <a:moveTo>
                    <a:pt x="23093" y="0"/>
                  </a:moveTo>
                  <a:lnTo>
                    <a:pt x="699294" y="0"/>
                  </a:lnTo>
                  <a:cubicBezTo>
                    <a:pt x="712048" y="0"/>
                    <a:pt x="722387" y="10339"/>
                    <a:pt x="722387" y="23093"/>
                  </a:cubicBezTo>
                  <a:lnTo>
                    <a:pt x="722387" y="152080"/>
                  </a:lnTo>
                  <a:cubicBezTo>
                    <a:pt x="722387" y="164834"/>
                    <a:pt x="712048" y="175173"/>
                    <a:pt x="699294" y="175173"/>
                  </a:cubicBezTo>
                  <a:lnTo>
                    <a:pt x="23093" y="175173"/>
                  </a:lnTo>
                  <a:cubicBezTo>
                    <a:pt x="10339" y="175173"/>
                    <a:pt x="0" y="164834"/>
                    <a:pt x="0" y="152080"/>
                  </a:cubicBezTo>
                  <a:lnTo>
                    <a:pt x="0" y="23093"/>
                  </a:lnTo>
                  <a:cubicBezTo>
                    <a:pt x="0" y="10339"/>
                    <a:pt x="10339" y="0"/>
                    <a:pt x="23093" y="0"/>
                  </a:cubicBezTo>
                  <a:close/>
                </a:path>
              </a:pathLst>
            </a:custGeom>
            <a:solidFill>
              <a:srgbClr val="3863E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722387" cy="2227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39"/>
                </a:lnSpc>
                <a:spcBef>
                  <a:spcPct val="0"/>
                </a:spcBef>
              </a:pPr>
              <a:r>
                <a:rPr lang="en-US" sz="2885" strike="noStrike" u="none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Embedding Generation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58834" y="2672567"/>
            <a:ext cx="2596674" cy="698970"/>
            <a:chOff x="0" y="0"/>
            <a:chExt cx="3019553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019553" cy="812800"/>
            </a:xfrm>
            <a:custGeom>
              <a:avLst/>
              <a:gdLst/>
              <a:ahLst/>
              <a:cxnLst/>
              <a:rect r="r" b="b" t="t" l="l"/>
              <a:pathLst>
                <a:path h="812800" w="3019553">
                  <a:moveTo>
                    <a:pt x="3019553" y="406400"/>
                  </a:moveTo>
                  <a:lnTo>
                    <a:pt x="2613153" y="0"/>
                  </a:lnTo>
                  <a:lnTo>
                    <a:pt x="2613153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2613153" y="609600"/>
                  </a:lnTo>
                  <a:lnTo>
                    <a:pt x="2613153" y="812800"/>
                  </a:lnTo>
                  <a:lnTo>
                    <a:pt x="3019553" y="406400"/>
                  </a:lnTo>
                  <a:close/>
                </a:path>
              </a:pathLst>
            </a:custGeom>
            <a:solidFill>
              <a:srgbClr val="001C7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165100"/>
              <a:ext cx="2917953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296450" y="5583648"/>
            <a:ext cx="3243516" cy="925990"/>
            <a:chOff x="0" y="0"/>
            <a:chExt cx="582430" cy="16627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82430" cy="166278"/>
            </a:xfrm>
            <a:custGeom>
              <a:avLst/>
              <a:gdLst/>
              <a:ahLst/>
              <a:cxnLst/>
              <a:rect r="r" b="b" t="t" l="l"/>
              <a:pathLst>
                <a:path h="166278" w="582430">
                  <a:moveTo>
                    <a:pt x="28643" y="0"/>
                  </a:moveTo>
                  <a:lnTo>
                    <a:pt x="553787" y="0"/>
                  </a:lnTo>
                  <a:cubicBezTo>
                    <a:pt x="561384" y="0"/>
                    <a:pt x="568669" y="3018"/>
                    <a:pt x="574041" y="8389"/>
                  </a:cubicBezTo>
                  <a:cubicBezTo>
                    <a:pt x="579412" y="13761"/>
                    <a:pt x="582430" y="21046"/>
                    <a:pt x="582430" y="28643"/>
                  </a:cubicBezTo>
                  <a:lnTo>
                    <a:pt x="582430" y="137635"/>
                  </a:lnTo>
                  <a:cubicBezTo>
                    <a:pt x="582430" y="145231"/>
                    <a:pt x="579412" y="152517"/>
                    <a:pt x="574041" y="157888"/>
                  </a:cubicBezTo>
                  <a:cubicBezTo>
                    <a:pt x="568669" y="163260"/>
                    <a:pt x="561384" y="166278"/>
                    <a:pt x="553787" y="166278"/>
                  </a:cubicBezTo>
                  <a:lnTo>
                    <a:pt x="28643" y="166278"/>
                  </a:lnTo>
                  <a:cubicBezTo>
                    <a:pt x="21046" y="166278"/>
                    <a:pt x="13761" y="163260"/>
                    <a:pt x="8389" y="157888"/>
                  </a:cubicBezTo>
                  <a:cubicBezTo>
                    <a:pt x="3018" y="152517"/>
                    <a:pt x="0" y="145231"/>
                    <a:pt x="0" y="137635"/>
                  </a:cubicBezTo>
                  <a:lnTo>
                    <a:pt x="0" y="28643"/>
                  </a:lnTo>
                  <a:cubicBezTo>
                    <a:pt x="0" y="21046"/>
                    <a:pt x="3018" y="13761"/>
                    <a:pt x="8389" y="8389"/>
                  </a:cubicBezTo>
                  <a:cubicBezTo>
                    <a:pt x="13761" y="3018"/>
                    <a:pt x="21046" y="0"/>
                    <a:pt x="28643" y="0"/>
                  </a:cubicBezTo>
                  <a:close/>
                </a:path>
              </a:pathLst>
            </a:custGeom>
            <a:solidFill>
              <a:srgbClr val="3863E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82430" cy="2043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602150" y="5704581"/>
            <a:ext cx="2632117" cy="620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67"/>
              </a:lnSpc>
              <a:spcBef>
                <a:spcPct val="0"/>
              </a:spcBef>
            </a:pPr>
            <a:r>
              <a:rPr lang="en-US" sz="3690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FAISS Search</a:t>
            </a:r>
          </a:p>
        </p:txBody>
      </p:sp>
      <p:grpSp>
        <p:nvGrpSpPr>
          <p:cNvPr name="Group 24" id="24"/>
          <p:cNvGrpSpPr/>
          <p:nvPr/>
        </p:nvGrpSpPr>
        <p:grpSpPr>
          <a:xfrm rot="5400000">
            <a:off x="14792752" y="4225669"/>
            <a:ext cx="2018361" cy="620182"/>
            <a:chOff x="0" y="0"/>
            <a:chExt cx="3019553" cy="92781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019553" cy="927819"/>
            </a:xfrm>
            <a:custGeom>
              <a:avLst/>
              <a:gdLst/>
              <a:ahLst/>
              <a:cxnLst/>
              <a:rect r="r" b="b" t="t" l="l"/>
              <a:pathLst>
                <a:path h="927819" w="3019553">
                  <a:moveTo>
                    <a:pt x="3019553" y="463909"/>
                  </a:moveTo>
                  <a:lnTo>
                    <a:pt x="2613153" y="0"/>
                  </a:lnTo>
                  <a:lnTo>
                    <a:pt x="2613153" y="203200"/>
                  </a:lnTo>
                  <a:lnTo>
                    <a:pt x="0" y="203200"/>
                  </a:lnTo>
                  <a:lnTo>
                    <a:pt x="0" y="724619"/>
                  </a:lnTo>
                  <a:lnTo>
                    <a:pt x="2613153" y="724619"/>
                  </a:lnTo>
                  <a:lnTo>
                    <a:pt x="2613153" y="927819"/>
                  </a:lnTo>
                  <a:lnTo>
                    <a:pt x="3019553" y="463909"/>
                  </a:lnTo>
                  <a:close/>
                </a:path>
              </a:pathLst>
            </a:custGeom>
            <a:solidFill>
              <a:srgbClr val="001C72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165100"/>
              <a:ext cx="2917953" cy="559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9411" y="5544941"/>
            <a:ext cx="3686269" cy="976645"/>
            <a:chOff x="0" y="0"/>
            <a:chExt cx="661934" cy="17537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61934" cy="175374"/>
            </a:xfrm>
            <a:custGeom>
              <a:avLst/>
              <a:gdLst/>
              <a:ahLst/>
              <a:cxnLst/>
              <a:rect r="r" b="b" t="t" l="l"/>
              <a:pathLst>
                <a:path h="175374" w="661934">
                  <a:moveTo>
                    <a:pt x="25202" y="0"/>
                  </a:moveTo>
                  <a:lnTo>
                    <a:pt x="636731" y="0"/>
                  </a:lnTo>
                  <a:cubicBezTo>
                    <a:pt x="643415" y="0"/>
                    <a:pt x="649826" y="2655"/>
                    <a:pt x="654552" y="7382"/>
                  </a:cubicBezTo>
                  <a:cubicBezTo>
                    <a:pt x="659279" y="12108"/>
                    <a:pt x="661934" y="18518"/>
                    <a:pt x="661934" y="25202"/>
                  </a:cubicBezTo>
                  <a:lnTo>
                    <a:pt x="661934" y="150171"/>
                  </a:lnTo>
                  <a:cubicBezTo>
                    <a:pt x="661934" y="156855"/>
                    <a:pt x="659279" y="163266"/>
                    <a:pt x="654552" y="167992"/>
                  </a:cubicBezTo>
                  <a:cubicBezTo>
                    <a:pt x="649826" y="172718"/>
                    <a:pt x="643415" y="175374"/>
                    <a:pt x="636731" y="175374"/>
                  </a:cubicBezTo>
                  <a:lnTo>
                    <a:pt x="25202" y="175374"/>
                  </a:lnTo>
                  <a:cubicBezTo>
                    <a:pt x="18518" y="175374"/>
                    <a:pt x="12108" y="172718"/>
                    <a:pt x="7382" y="167992"/>
                  </a:cubicBezTo>
                  <a:cubicBezTo>
                    <a:pt x="2655" y="163266"/>
                    <a:pt x="0" y="156855"/>
                    <a:pt x="0" y="150171"/>
                  </a:cubicBezTo>
                  <a:lnTo>
                    <a:pt x="0" y="25202"/>
                  </a:lnTo>
                  <a:cubicBezTo>
                    <a:pt x="0" y="18518"/>
                    <a:pt x="2655" y="12108"/>
                    <a:pt x="7382" y="7382"/>
                  </a:cubicBezTo>
                  <a:cubicBezTo>
                    <a:pt x="12108" y="2655"/>
                    <a:pt x="18518" y="0"/>
                    <a:pt x="25202" y="0"/>
                  </a:cubicBezTo>
                  <a:close/>
                </a:path>
              </a:pathLst>
            </a:custGeom>
            <a:solidFill>
              <a:srgbClr val="3863E4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661934" cy="2134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396556" y="5770347"/>
            <a:ext cx="3571979" cy="479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9"/>
              </a:lnSpc>
              <a:spcBef>
                <a:spcPct val="0"/>
              </a:spcBef>
            </a:pPr>
            <a:r>
              <a:rPr lang="en-US" sz="2885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Top-k Medical Chunks</a:t>
            </a:r>
          </a:p>
        </p:txBody>
      </p:sp>
      <p:grpSp>
        <p:nvGrpSpPr>
          <p:cNvPr name="Group 31" id="31"/>
          <p:cNvGrpSpPr/>
          <p:nvPr/>
        </p:nvGrpSpPr>
        <p:grpSpPr>
          <a:xfrm rot="-10800000">
            <a:off x="13025680" y="5697158"/>
            <a:ext cx="1270770" cy="698970"/>
            <a:chOff x="0" y="0"/>
            <a:chExt cx="147772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477720" cy="812800"/>
            </a:xfrm>
            <a:custGeom>
              <a:avLst/>
              <a:gdLst/>
              <a:ahLst/>
              <a:cxnLst/>
              <a:rect r="r" b="b" t="t" l="l"/>
              <a:pathLst>
                <a:path h="812800" w="1477720">
                  <a:moveTo>
                    <a:pt x="1477720" y="406400"/>
                  </a:moveTo>
                  <a:lnTo>
                    <a:pt x="1071320" y="0"/>
                  </a:lnTo>
                  <a:lnTo>
                    <a:pt x="107132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1071320" y="609600"/>
                  </a:lnTo>
                  <a:lnTo>
                    <a:pt x="1071320" y="812800"/>
                  </a:lnTo>
                  <a:lnTo>
                    <a:pt x="1477720" y="406400"/>
                  </a:lnTo>
                  <a:close/>
                </a:path>
              </a:pathLst>
            </a:custGeom>
            <a:solidFill>
              <a:srgbClr val="001C72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165100"/>
              <a:ext cx="137612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543400" y="5579579"/>
            <a:ext cx="2628731" cy="942006"/>
            <a:chOff x="0" y="0"/>
            <a:chExt cx="472035" cy="16915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72035" cy="169154"/>
            </a:xfrm>
            <a:custGeom>
              <a:avLst/>
              <a:gdLst/>
              <a:ahLst/>
              <a:cxnLst/>
              <a:rect r="r" b="b" t="t" l="l"/>
              <a:pathLst>
                <a:path h="169154" w="472035">
                  <a:moveTo>
                    <a:pt x="35341" y="0"/>
                  </a:moveTo>
                  <a:lnTo>
                    <a:pt x="436693" y="0"/>
                  </a:lnTo>
                  <a:cubicBezTo>
                    <a:pt x="446066" y="0"/>
                    <a:pt x="455056" y="3723"/>
                    <a:pt x="461683" y="10351"/>
                  </a:cubicBezTo>
                  <a:cubicBezTo>
                    <a:pt x="468311" y="16979"/>
                    <a:pt x="472035" y="25968"/>
                    <a:pt x="472035" y="35341"/>
                  </a:cubicBezTo>
                  <a:lnTo>
                    <a:pt x="472035" y="133812"/>
                  </a:lnTo>
                  <a:cubicBezTo>
                    <a:pt x="472035" y="143185"/>
                    <a:pt x="468311" y="152175"/>
                    <a:pt x="461683" y="158802"/>
                  </a:cubicBezTo>
                  <a:cubicBezTo>
                    <a:pt x="455056" y="165430"/>
                    <a:pt x="446066" y="169154"/>
                    <a:pt x="436693" y="169154"/>
                  </a:cubicBezTo>
                  <a:lnTo>
                    <a:pt x="35341" y="169154"/>
                  </a:lnTo>
                  <a:cubicBezTo>
                    <a:pt x="25968" y="169154"/>
                    <a:pt x="16979" y="165430"/>
                    <a:pt x="10351" y="158802"/>
                  </a:cubicBezTo>
                  <a:cubicBezTo>
                    <a:pt x="3723" y="152175"/>
                    <a:pt x="0" y="143185"/>
                    <a:pt x="0" y="133812"/>
                  </a:cubicBezTo>
                  <a:lnTo>
                    <a:pt x="0" y="35341"/>
                  </a:lnTo>
                  <a:cubicBezTo>
                    <a:pt x="0" y="25968"/>
                    <a:pt x="3723" y="16979"/>
                    <a:pt x="10351" y="10351"/>
                  </a:cubicBezTo>
                  <a:cubicBezTo>
                    <a:pt x="16979" y="3723"/>
                    <a:pt x="25968" y="0"/>
                    <a:pt x="35341" y="0"/>
                  </a:cubicBezTo>
                  <a:close/>
                </a:path>
              </a:pathLst>
            </a:custGeom>
            <a:solidFill>
              <a:srgbClr val="3863E4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472035" cy="216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10"/>
                </a:lnSpc>
                <a:spcBef>
                  <a:spcPct val="0"/>
                </a:spcBef>
              </a:pPr>
              <a:r>
                <a:rPr lang="en-US" sz="2793" strike="noStrike" u="none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Groq Llama 4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-10800000">
            <a:off x="8172132" y="5673715"/>
            <a:ext cx="1167280" cy="698970"/>
            <a:chOff x="0" y="0"/>
            <a:chExt cx="1357376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357376" cy="812800"/>
            </a:xfrm>
            <a:custGeom>
              <a:avLst/>
              <a:gdLst/>
              <a:ahLst/>
              <a:cxnLst/>
              <a:rect r="r" b="b" t="t" l="l"/>
              <a:pathLst>
                <a:path h="812800" w="1357376">
                  <a:moveTo>
                    <a:pt x="1357376" y="406400"/>
                  </a:moveTo>
                  <a:lnTo>
                    <a:pt x="950976" y="0"/>
                  </a:lnTo>
                  <a:lnTo>
                    <a:pt x="950976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950976" y="609600"/>
                  </a:lnTo>
                  <a:lnTo>
                    <a:pt x="950976" y="812800"/>
                  </a:lnTo>
                  <a:lnTo>
                    <a:pt x="1357376" y="406400"/>
                  </a:lnTo>
                  <a:close/>
                </a:path>
              </a:pathLst>
            </a:custGeom>
            <a:solidFill>
              <a:srgbClr val="001C72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165100"/>
              <a:ext cx="125577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-10800000">
            <a:off x="4092653" y="5701098"/>
            <a:ext cx="1450747" cy="698970"/>
            <a:chOff x="0" y="0"/>
            <a:chExt cx="1687007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687007" cy="812800"/>
            </a:xfrm>
            <a:custGeom>
              <a:avLst/>
              <a:gdLst/>
              <a:ahLst/>
              <a:cxnLst/>
              <a:rect r="r" b="b" t="t" l="l"/>
              <a:pathLst>
                <a:path h="812800" w="1687007">
                  <a:moveTo>
                    <a:pt x="1687007" y="406400"/>
                  </a:moveTo>
                  <a:lnTo>
                    <a:pt x="1280607" y="0"/>
                  </a:lnTo>
                  <a:lnTo>
                    <a:pt x="1280607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1280607" y="609600"/>
                  </a:lnTo>
                  <a:lnTo>
                    <a:pt x="1280607" y="812800"/>
                  </a:lnTo>
                  <a:lnTo>
                    <a:pt x="1687007" y="406400"/>
                  </a:lnTo>
                  <a:close/>
                </a:path>
              </a:pathLst>
            </a:custGeom>
            <a:solidFill>
              <a:srgbClr val="001C72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165100"/>
              <a:ext cx="158540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28700" y="5544941"/>
            <a:ext cx="3063953" cy="942006"/>
            <a:chOff x="0" y="0"/>
            <a:chExt cx="550186" cy="16915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50186" cy="169154"/>
            </a:xfrm>
            <a:custGeom>
              <a:avLst/>
              <a:gdLst/>
              <a:ahLst/>
              <a:cxnLst/>
              <a:rect r="r" b="b" t="t" l="l"/>
              <a:pathLst>
                <a:path h="169154" w="550186">
                  <a:moveTo>
                    <a:pt x="30321" y="0"/>
                  </a:moveTo>
                  <a:lnTo>
                    <a:pt x="519865" y="0"/>
                  </a:lnTo>
                  <a:cubicBezTo>
                    <a:pt x="527907" y="0"/>
                    <a:pt x="535619" y="3195"/>
                    <a:pt x="541305" y="8881"/>
                  </a:cubicBezTo>
                  <a:cubicBezTo>
                    <a:pt x="546992" y="14567"/>
                    <a:pt x="550186" y="22280"/>
                    <a:pt x="550186" y="30321"/>
                  </a:cubicBezTo>
                  <a:lnTo>
                    <a:pt x="550186" y="138832"/>
                  </a:lnTo>
                  <a:cubicBezTo>
                    <a:pt x="550186" y="155578"/>
                    <a:pt x="536611" y="169154"/>
                    <a:pt x="519865" y="169154"/>
                  </a:cubicBezTo>
                  <a:lnTo>
                    <a:pt x="30321" y="169154"/>
                  </a:lnTo>
                  <a:cubicBezTo>
                    <a:pt x="22280" y="169154"/>
                    <a:pt x="14567" y="165959"/>
                    <a:pt x="8881" y="160273"/>
                  </a:cubicBezTo>
                  <a:cubicBezTo>
                    <a:pt x="3195" y="154586"/>
                    <a:pt x="0" y="146874"/>
                    <a:pt x="0" y="138832"/>
                  </a:cubicBezTo>
                  <a:lnTo>
                    <a:pt x="0" y="30321"/>
                  </a:lnTo>
                  <a:cubicBezTo>
                    <a:pt x="0" y="13575"/>
                    <a:pt x="13575" y="0"/>
                    <a:pt x="30321" y="0"/>
                  </a:cubicBezTo>
                  <a:close/>
                </a:path>
              </a:pathLst>
            </a:custGeom>
            <a:solidFill>
              <a:srgbClr val="3863E4"/>
            </a:solidFill>
            <a:ln cap="sq">
              <a:noFill/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550186" cy="216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39"/>
                </a:lnSpc>
                <a:spcBef>
                  <a:spcPct val="0"/>
                </a:spcBef>
              </a:pPr>
              <a:r>
                <a:rPr lang="en-US" sz="2885" strike="noStrike" u="none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Final Answer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6470961" y="8017011"/>
            <a:ext cx="5346078" cy="77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6126"/>
              </a:lnSpc>
              <a:spcBef>
                <a:spcPct val="0"/>
              </a:spcBef>
            </a:pPr>
            <a:r>
              <a:rPr lang="en-US" sz="5236" i="true" spc="282" strike="noStrike" u="none">
                <a:solidFill>
                  <a:srgbClr val="000000"/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Online Pipeline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44880" y="1687290"/>
            <a:ext cx="12643120" cy="7765621"/>
          </a:xfrm>
          <a:custGeom>
            <a:avLst/>
            <a:gdLst/>
            <a:ahLst/>
            <a:cxnLst/>
            <a:rect r="r" b="b" t="t" l="l"/>
            <a:pathLst>
              <a:path h="7765621" w="12643120">
                <a:moveTo>
                  <a:pt x="0" y="0"/>
                </a:moveTo>
                <a:lnTo>
                  <a:pt x="12643120" y="0"/>
                </a:lnTo>
                <a:lnTo>
                  <a:pt x="12643120" y="7765622"/>
                </a:lnTo>
                <a:lnTo>
                  <a:pt x="0" y="77656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881" t="0" r="-1228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2981" y="1245428"/>
            <a:ext cx="4939833" cy="4131497"/>
          </a:xfrm>
          <a:custGeom>
            <a:avLst/>
            <a:gdLst/>
            <a:ahLst/>
            <a:cxnLst/>
            <a:rect r="r" b="b" t="t" l="l"/>
            <a:pathLst>
              <a:path h="4131497" w="4939833">
                <a:moveTo>
                  <a:pt x="0" y="0"/>
                </a:moveTo>
                <a:lnTo>
                  <a:pt x="4939833" y="0"/>
                </a:lnTo>
                <a:lnTo>
                  <a:pt x="4939833" y="4131497"/>
                </a:lnTo>
                <a:lnTo>
                  <a:pt x="0" y="4131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4658753">
            <a:off x="2099554" y="4775828"/>
            <a:ext cx="3596676" cy="3060444"/>
          </a:xfrm>
          <a:custGeom>
            <a:avLst/>
            <a:gdLst/>
            <a:ahLst/>
            <a:cxnLst/>
            <a:rect r="r" b="b" t="t" l="l"/>
            <a:pathLst>
              <a:path h="3060444" w="3596676">
                <a:moveTo>
                  <a:pt x="0" y="3060444"/>
                </a:moveTo>
                <a:lnTo>
                  <a:pt x="3596676" y="3060444"/>
                </a:lnTo>
                <a:lnTo>
                  <a:pt x="3596676" y="0"/>
                </a:lnTo>
                <a:lnTo>
                  <a:pt x="0" y="0"/>
                </a:lnTo>
                <a:lnTo>
                  <a:pt x="0" y="30604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089021" y="433620"/>
            <a:ext cx="6109959" cy="59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735"/>
              </a:lnSpc>
              <a:spcBef>
                <a:spcPct val="0"/>
              </a:spcBef>
            </a:pPr>
            <a:r>
              <a:rPr lang="en-US" sz="4047" i="true" spc="218" strike="noStrike" u="none">
                <a:solidFill>
                  <a:srgbClr val="000000"/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Let's Ask Our Assistant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74051" y="2653358"/>
            <a:ext cx="4131964" cy="79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53"/>
              </a:lnSpc>
              <a:spcBef>
                <a:spcPct val="0"/>
              </a:spcBef>
            </a:pPr>
            <a:r>
              <a:rPr lang="en-US" sz="2695" i="true" spc="145" strike="noStrike" u="none">
                <a:solidFill>
                  <a:srgbClr val="000000"/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What are the symptoms of Type 2 Diabetes?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97116" y="243540"/>
            <a:ext cx="6093768" cy="605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735"/>
              </a:lnSpc>
              <a:spcBef>
                <a:spcPct val="0"/>
              </a:spcBef>
            </a:pPr>
            <a:r>
              <a:rPr lang="en-US" sz="4047" i="true" spc="218" strike="noStrike" u="none">
                <a:solidFill>
                  <a:srgbClr val="000000"/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What Did We Achieve?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081794" y="2215219"/>
            <a:ext cx="3821016" cy="1259166"/>
            <a:chOff x="0" y="0"/>
            <a:chExt cx="960236" cy="3164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60236" cy="316433"/>
            </a:xfrm>
            <a:custGeom>
              <a:avLst/>
              <a:gdLst/>
              <a:ahLst/>
              <a:cxnLst/>
              <a:rect r="r" b="b" t="t" l="l"/>
              <a:pathLst>
                <a:path h="316433" w="960236">
                  <a:moveTo>
                    <a:pt x="24314" y="0"/>
                  </a:moveTo>
                  <a:lnTo>
                    <a:pt x="935922" y="0"/>
                  </a:lnTo>
                  <a:cubicBezTo>
                    <a:pt x="942371" y="0"/>
                    <a:pt x="948555" y="2562"/>
                    <a:pt x="953115" y="7121"/>
                  </a:cubicBezTo>
                  <a:cubicBezTo>
                    <a:pt x="957675" y="11681"/>
                    <a:pt x="960236" y="17865"/>
                    <a:pt x="960236" y="24314"/>
                  </a:cubicBezTo>
                  <a:lnTo>
                    <a:pt x="960236" y="292120"/>
                  </a:lnTo>
                  <a:cubicBezTo>
                    <a:pt x="960236" y="305548"/>
                    <a:pt x="949351" y="316433"/>
                    <a:pt x="935922" y="316433"/>
                  </a:cubicBezTo>
                  <a:lnTo>
                    <a:pt x="24314" y="316433"/>
                  </a:lnTo>
                  <a:cubicBezTo>
                    <a:pt x="17865" y="316433"/>
                    <a:pt x="11681" y="313872"/>
                    <a:pt x="7121" y="309312"/>
                  </a:cubicBezTo>
                  <a:cubicBezTo>
                    <a:pt x="2562" y="304752"/>
                    <a:pt x="0" y="298568"/>
                    <a:pt x="0" y="292120"/>
                  </a:cubicBezTo>
                  <a:lnTo>
                    <a:pt x="0" y="24314"/>
                  </a:lnTo>
                  <a:cubicBezTo>
                    <a:pt x="0" y="17865"/>
                    <a:pt x="2562" y="11681"/>
                    <a:pt x="7121" y="7121"/>
                  </a:cubicBezTo>
                  <a:cubicBezTo>
                    <a:pt x="11681" y="2562"/>
                    <a:pt x="17865" y="0"/>
                    <a:pt x="24314" y="0"/>
                  </a:cubicBezTo>
                  <a:close/>
                </a:path>
              </a:pathLst>
            </a:custGeom>
            <a:solidFill>
              <a:srgbClr val="3863E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960236" cy="354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656228" y="2468448"/>
            <a:ext cx="4672148" cy="680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43"/>
              </a:lnSpc>
              <a:spcBef>
                <a:spcPct val="0"/>
              </a:spcBef>
            </a:pPr>
            <a:r>
              <a:rPr lang="en-US" sz="3959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91% </a:t>
            </a:r>
            <a:r>
              <a:rPr lang="en-US" sz="3959">
                <a:solidFill>
                  <a:srgbClr val="FFFFFF"/>
                </a:solidFill>
                <a:latin typeface="Segoe UI"/>
                <a:ea typeface="Segoe UI"/>
                <a:cs typeface="Segoe UI"/>
                <a:sym typeface="Segoe UI"/>
              </a:rPr>
              <a:t>Accuracy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737608" y="2215219"/>
            <a:ext cx="4521692" cy="1259166"/>
            <a:chOff x="0" y="0"/>
            <a:chExt cx="1136319" cy="3164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6319" cy="316433"/>
            </a:xfrm>
            <a:custGeom>
              <a:avLst/>
              <a:gdLst/>
              <a:ahLst/>
              <a:cxnLst/>
              <a:rect r="r" b="b" t="t" l="l"/>
              <a:pathLst>
                <a:path h="316433" w="1136319">
                  <a:moveTo>
                    <a:pt x="20546" y="0"/>
                  </a:moveTo>
                  <a:lnTo>
                    <a:pt x="1115773" y="0"/>
                  </a:lnTo>
                  <a:cubicBezTo>
                    <a:pt x="1121222" y="0"/>
                    <a:pt x="1126448" y="2165"/>
                    <a:pt x="1130301" y="6018"/>
                  </a:cubicBezTo>
                  <a:cubicBezTo>
                    <a:pt x="1134154" y="9871"/>
                    <a:pt x="1136319" y="15097"/>
                    <a:pt x="1136319" y="20546"/>
                  </a:cubicBezTo>
                  <a:lnTo>
                    <a:pt x="1136319" y="295887"/>
                  </a:lnTo>
                  <a:cubicBezTo>
                    <a:pt x="1136319" y="307235"/>
                    <a:pt x="1127120" y="316433"/>
                    <a:pt x="1115773" y="316433"/>
                  </a:cubicBezTo>
                  <a:lnTo>
                    <a:pt x="20546" y="316433"/>
                  </a:lnTo>
                  <a:cubicBezTo>
                    <a:pt x="15097" y="316433"/>
                    <a:pt x="9871" y="314269"/>
                    <a:pt x="6018" y="310416"/>
                  </a:cubicBezTo>
                  <a:cubicBezTo>
                    <a:pt x="2165" y="306562"/>
                    <a:pt x="0" y="301336"/>
                    <a:pt x="0" y="295887"/>
                  </a:cubicBezTo>
                  <a:lnTo>
                    <a:pt x="0" y="20546"/>
                  </a:lnTo>
                  <a:cubicBezTo>
                    <a:pt x="0" y="15097"/>
                    <a:pt x="2165" y="9871"/>
                    <a:pt x="6018" y="6018"/>
                  </a:cubicBezTo>
                  <a:cubicBezTo>
                    <a:pt x="9871" y="2165"/>
                    <a:pt x="15097" y="0"/>
                    <a:pt x="20546" y="0"/>
                  </a:cubicBezTo>
                  <a:close/>
                </a:path>
              </a:pathLst>
            </a:custGeom>
            <a:solidFill>
              <a:srgbClr val="3863E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1136319" cy="402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543"/>
                </a:lnSpc>
                <a:spcBef>
                  <a:spcPct val="0"/>
                </a:spcBef>
              </a:pPr>
              <a:r>
                <a:rPr lang="en-US" sz="3959" strike="noStrike" u="none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90.66% Macro F1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854548" y="6862129"/>
            <a:ext cx="4275509" cy="1259166"/>
            <a:chOff x="0" y="0"/>
            <a:chExt cx="1074452" cy="3164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4452" cy="316433"/>
            </a:xfrm>
            <a:custGeom>
              <a:avLst/>
              <a:gdLst/>
              <a:ahLst/>
              <a:cxnLst/>
              <a:rect r="r" b="b" t="t" l="l"/>
              <a:pathLst>
                <a:path h="316433" w="1074452">
                  <a:moveTo>
                    <a:pt x="21729" y="0"/>
                  </a:moveTo>
                  <a:lnTo>
                    <a:pt x="1052723" y="0"/>
                  </a:lnTo>
                  <a:cubicBezTo>
                    <a:pt x="1064723" y="0"/>
                    <a:pt x="1074452" y="9728"/>
                    <a:pt x="1074452" y="21729"/>
                  </a:cubicBezTo>
                  <a:lnTo>
                    <a:pt x="1074452" y="294704"/>
                  </a:lnTo>
                  <a:cubicBezTo>
                    <a:pt x="1074452" y="300467"/>
                    <a:pt x="1072163" y="305994"/>
                    <a:pt x="1068088" y="310069"/>
                  </a:cubicBezTo>
                  <a:cubicBezTo>
                    <a:pt x="1064013" y="314144"/>
                    <a:pt x="1058486" y="316433"/>
                    <a:pt x="1052723" y="316433"/>
                  </a:cubicBezTo>
                  <a:lnTo>
                    <a:pt x="21729" y="316433"/>
                  </a:lnTo>
                  <a:cubicBezTo>
                    <a:pt x="15966" y="316433"/>
                    <a:pt x="10439" y="314144"/>
                    <a:pt x="6364" y="310069"/>
                  </a:cubicBezTo>
                  <a:cubicBezTo>
                    <a:pt x="2289" y="305994"/>
                    <a:pt x="0" y="300467"/>
                    <a:pt x="0" y="294704"/>
                  </a:cubicBezTo>
                  <a:lnTo>
                    <a:pt x="0" y="21729"/>
                  </a:lnTo>
                  <a:cubicBezTo>
                    <a:pt x="0" y="15966"/>
                    <a:pt x="2289" y="10439"/>
                    <a:pt x="6364" y="6364"/>
                  </a:cubicBezTo>
                  <a:cubicBezTo>
                    <a:pt x="10439" y="2289"/>
                    <a:pt x="15966" y="0"/>
                    <a:pt x="21729" y="0"/>
                  </a:cubicBezTo>
                  <a:close/>
                </a:path>
              </a:pathLst>
            </a:custGeom>
            <a:solidFill>
              <a:srgbClr val="3863E4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1074452" cy="402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543"/>
                </a:lnSpc>
                <a:spcBef>
                  <a:spcPct val="0"/>
                </a:spcBef>
              </a:pPr>
              <a:r>
                <a:rPr lang="en-US" sz="3959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10% Hallucination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737608" y="4666317"/>
            <a:ext cx="4521692" cy="1259166"/>
            <a:chOff x="0" y="0"/>
            <a:chExt cx="1136319" cy="31643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36319" cy="316433"/>
            </a:xfrm>
            <a:custGeom>
              <a:avLst/>
              <a:gdLst/>
              <a:ahLst/>
              <a:cxnLst/>
              <a:rect r="r" b="b" t="t" l="l"/>
              <a:pathLst>
                <a:path h="316433" w="1136319">
                  <a:moveTo>
                    <a:pt x="20546" y="0"/>
                  </a:moveTo>
                  <a:lnTo>
                    <a:pt x="1115773" y="0"/>
                  </a:lnTo>
                  <a:cubicBezTo>
                    <a:pt x="1121222" y="0"/>
                    <a:pt x="1126448" y="2165"/>
                    <a:pt x="1130301" y="6018"/>
                  </a:cubicBezTo>
                  <a:cubicBezTo>
                    <a:pt x="1134154" y="9871"/>
                    <a:pt x="1136319" y="15097"/>
                    <a:pt x="1136319" y="20546"/>
                  </a:cubicBezTo>
                  <a:lnTo>
                    <a:pt x="1136319" y="295887"/>
                  </a:lnTo>
                  <a:cubicBezTo>
                    <a:pt x="1136319" y="307235"/>
                    <a:pt x="1127120" y="316433"/>
                    <a:pt x="1115773" y="316433"/>
                  </a:cubicBezTo>
                  <a:lnTo>
                    <a:pt x="20546" y="316433"/>
                  </a:lnTo>
                  <a:cubicBezTo>
                    <a:pt x="15097" y="316433"/>
                    <a:pt x="9871" y="314269"/>
                    <a:pt x="6018" y="310416"/>
                  </a:cubicBezTo>
                  <a:cubicBezTo>
                    <a:pt x="2165" y="306562"/>
                    <a:pt x="0" y="301336"/>
                    <a:pt x="0" y="295887"/>
                  </a:cubicBezTo>
                  <a:lnTo>
                    <a:pt x="0" y="20546"/>
                  </a:lnTo>
                  <a:cubicBezTo>
                    <a:pt x="0" y="15097"/>
                    <a:pt x="2165" y="9871"/>
                    <a:pt x="6018" y="6018"/>
                  </a:cubicBezTo>
                  <a:cubicBezTo>
                    <a:pt x="9871" y="2165"/>
                    <a:pt x="15097" y="0"/>
                    <a:pt x="20546" y="0"/>
                  </a:cubicBezTo>
                  <a:close/>
                </a:path>
              </a:pathLst>
            </a:custGeom>
            <a:solidFill>
              <a:srgbClr val="3863E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85725"/>
              <a:ext cx="1136319" cy="402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543"/>
                </a:lnSpc>
                <a:spcBef>
                  <a:spcPct val="0"/>
                </a:spcBef>
              </a:pPr>
              <a:r>
                <a:rPr lang="en-US" sz="3959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86% </a:t>
              </a:r>
              <a:r>
                <a:rPr lang="en-US" sz="3959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Faithfulness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79026" y="4666317"/>
            <a:ext cx="6131353" cy="1259166"/>
            <a:chOff x="0" y="0"/>
            <a:chExt cx="1540833" cy="31643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40833" cy="316433"/>
            </a:xfrm>
            <a:custGeom>
              <a:avLst/>
              <a:gdLst/>
              <a:ahLst/>
              <a:cxnLst/>
              <a:rect r="r" b="b" t="t" l="l"/>
              <a:pathLst>
                <a:path h="316433" w="1540833">
                  <a:moveTo>
                    <a:pt x="15152" y="0"/>
                  </a:moveTo>
                  <a:lnTo>
                    <a:pt x="1525681" y="0"/>
                  </a:lnTo>
                  <a:cubicBezTo>
                    <a:pt x="1534049" y="0"/>
                    <a:pt x="1540833" y="6784"/>
                    <a:pt x="1540833" y="15152"/>
                  </a:cubicBezTo>
                  <a:lnTo>
                    <a:pt x="1540833" y="301281"/>
                  </a:lnTo>
                  <a:cubicBezTo>
                    <a:pt x="1540833" y="305300"/>
                    <a:pt x="1539236" y="309154"/>
                    <a:pt x="1536395" y="311995"/>
                  </a:cubicBezTo>
                  <a:cubicBezTo>
                    <a:pt x="1533553" y="314837"/>
                    <a:pt x="1529699" y="316433"/>
                    <a:pt x="1525681" y="316433"/>
                  </a:cubicBezTo>
                  <a:lnTo>
                    <a:pt x="15152" y="316433"/>
                  </a:lnTo>
                  <a:cubicBezTo>
                    <a:pt x="11134" y="316433"/>
                    <a:pt x="7280" y="314837"/>
                    <a:pt x="4438" y="311995"/>
                  </a:cubicBezTo>
                  <a:cubicBezTo>
                    <a:pt x="1596" y="309154"/>
                    <a:pt x="0" y="305300"/>
                    <a:pt x="0" y="301281"/>
                  </a:cubicBezTo>
                  <a:lnTo>
                    <a:pt x="0" y="15152"/>
                  </a:lnTo>
                  <a:cubicBezTo>
                    <a:pt x="0" y="11134"/>
                    <a:pt x="1596" y="7280"/>
                    <a:pt x="4438" y="4438"/>
                  </a:cubicBezTo>
                  <a:cubicBezTo>
                    <a:pt x="7280" y="1596"/>
                    <a:pt x="11134" y="0"/>
                    <a:pt x="15152" y="0"/>
                  </a:cubicBezTo>
                  <a:close/>
                </a:path>
              </a:pathLst>
            </a:custGeom>
            <a:solidFill>
              <a:srgbClr val="3863E4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85725"/>
              <a:ext cx="1540833" cy="402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543"/>
                </a:lnSpc>
                <a:spcBef>
                  <a:spcPct val="0"/>
                </a:spcBef>
              </a:pPr>
              <a:r>
                <a:rPr lang="en-US" sz="3959" strike="noStrike" u="none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94.2% Retrieval Precision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737608" y="6862129"/>
            <a:ext cx="4521692" cy="1259166"/>
            <a:chOff x="0" y="0"/>
            <a:chExt cx="1136319" cy="31643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36319" cy="316433"/>
            </a:xfrm>
            <a:custGeom>
              <a:avLst/>
              <a:gdLst/>
              <a:ahLst/>
              <a:cxnLst/>
              <a:rect r="r" b="b" t="t" l="l"/>
              <a:pathLst>
                <a:path h="316433" w="1136319">
                  <a:moveTo>
                    <a:pt x="20546" y="0"/>
                  </a:moveTo>
                  <a:lnTo>
                    <a:pt x="1115773" y="0"/>
                  </a:lnTo>
                  <a:cubicBezTo>
                    <a:pt x="1121222" y="0"/>
                    <a:pt x="1126448" y="2165"/>
                    <a:pt x="1130301" y="6018"/>
                  </a:cubicBezTo>
                  <a:cubicBezTo>
                    <a:pt x="1134154" y="9871"/>
                    <a:pt x="1136319" y="15097"/>
                    <a:pt x="1136319" y="20546"/>
                  </a:cubicBezTo>
                  <a:lnTo>
                    <a:pt x="1136319" y="295887"/>
                  </a:lnTo>
                  <a:cubicBezTo>
                    <a:pt x="1136319" y="307235"/>
                    <a:pt x="1127120" y="316433"/>
                    <a:pt x="1115773" y="316433"/>
                  </a:cubicBezTo>
                  <a:lnTo>
                    <a:pt x="20546" y="316433"/>
                  </a:lnTo>
                  <a:cubicBezTo>
                    <a:pt x="15097" y="316433"/>
                    <a:pt x="9871" y="314269"/>
                    <a:pt x="6018" y="310416"/>
                  </a:cubicBezTo>
                  <a:cubicBezTo>
                    <a:pt x="2165" y="306562"/>
                    <a:pt x="0" y="301336"/>
                    <a:pt x="0" y="295887"/>
                  </a:cubicBezTo>
                  <a:lnTo>
                    <a:pt x="0" y="20546"/>
                  </a:lnTo>
                  <a:cubicBezTo>
                    <a:pt x="0" y="15097"/>
                    <a:pt x="2165" y="9871"/>
                    <a:pt x="6018" y="6018"/>
                  </a:cubicBezTo>
                  <a:cubicBezTo>
                    <a:pt x="9871" y="2165"/>
                    <a:pt x="15097" y="0"/>
                    <a:pt x="20546" y="0"/>
                  </a:cubicBezTo>
                  <a:close/>
                </a:path>
              </a:pathLst>
            </a:custGeom>
            <a:solidFill>
              <a:srgbClr val="3863E4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85725"/>
              <a:ext cx="1136319" cy="402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543"/>
                </a:lnSpc>
                <a:spcBef>
                  <a:spcPct val="0"/>
                </a:spcBef>
              </a:pPr>
              <a:r>
                <a:rPr lang="en-US" sz="3959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264 ms </a:t>
              </a:r>
              <a:r>
                <a:rPr lang="en-US" sz="3959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rPr>
                <a:t>Latency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018347" y="3537862"/>
            <a:ext cx="6081315" cy="3921560"/>
          </a:xfrm>
          <a:custGeom>
            <a:avLst/>
            <a:gdLst/>
            <a:ahLst/>
            <a:cxnLst/>
            <a:rect r="r" b="b" t="t" l="l"/>
            <a:pathLst>
              <a:path h="3921560" w="6081315">
                <a:moveTo>
                  <a:pt x="0" y="0"/>
                </a:moveTo>
                <a:lnTo>
                  <a:pt x="6081315" y="0"/>
                </a:lnTo>
                <a:lnTo>
                  <a:pt x="6081315" y="3921560"/>
                </a:lnTo>
                <a:lnTo>
                  <a:pt x="0" y="39215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773" t="0" r="-1788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08378" y="2898857"/>
            <a:ext cx="2198715" cy="1233425"/>
          </a:xfrm>
          <a:custGeom>
            <a:avLst/>
            <a:gdLst/>
            <a:ahLst/>
            <a:cxnLst/>
            <a:rect r="r" b="b" t="t" l="l"/>
            <a:pathLst>
              <a:path h="1233425" w="2198715">
                <a:moveTo>
                  <a:pt x="0" y="0"/>
                </a:moveTo>
                <a:lnTo>
                  <a:pt x="2198715" y="0"/>
                </a:lnTo>
                <a:lnTo>
                  <a:pt x="2198715" y="1233426"/>
                </a:lnTo>
                <a:lnTo>
                  <a:pt x="0" y="12334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08378" y="4897985"/>
            <a:ext cx="2085285" cy="766427"/>
          </a:xfrm>
          <a:custGeom>
            <a:avLst/>
            <a:gdLst/>
            <a:ahLst/>
            <a:cxnLst/>
            <a:rect r="r" b="b" t="t" l="l"/>
            <a:pathLst>
              <a:path h="766427" w="2085285">
                <a:moveTo>
                  <a:pt x="0" y="0"/>
                </a:moveTo>
                <a:lnTo>
                  <a:pt x="2085286" y="0"/>
                </a:lnTo>
                <a:lnTo>
                  <a:pt x="2085286" y="766427"/>
                </a:lnTo>
                <a:lnTo>
                  <a:pt x="0" y="7664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6314" r="0" b="-2631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97770" y="5826649"/>
            <a:ext cx="4106502" cy="2271777"/>
          </a:xfrm>
          <a:custGeom>
            <a:avLst/>
            <a:gdLst/>
            <a:ahLst/>
            <a:cxnLst/>
            <a:rect r="r" b="b" t="t" l="l"/>
            <a:pathLst>
              <a:path h="2271777" w="4106502">
                <a:moveTo>
                  <a:pt x="0" y="0"/>
                </a:moveTo>
                <a:lnTo>
                  <a:pt x="4106502" y="0"/>
                </a:lnTo>
                <a:lnTo>
                  <a:pt x="4106502" y="2271778"/>
                </a:lnTo>
                <a:lnTo>
                  <a:pt x="0" y="22717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701" r="0" b="-70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006749" y="4469489"/>
            <a:ext cx="3442464" cy="2058307"/>
          </a:xfrm>
          <a:custGeom>
            <a:avLst/>
            <a:gdLst/>
            <a:ahLst/>
            <a:cxnLst/>
            <a:rect r="r" b="b" t="t" l="l"/>
            <a:pathLst>
              <a:path h="2058307" w="3442464">
                <a:moveTo>
                  <a:pt x="0" y="0"/>
                </a:moveTo>
                <a:lnTo>
                  <a:pt x="3442464" y="0"/>
                </a:lnTo>
                <a:lnTo>
                  <a:pt x="3442464" y="2058306"/>
                </a:lnTo>
                <a:lnTo>
                  <a:pt x="0" y="20583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604272" y="422730"/>
            <a:ext cx="7079456" cy="605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735"/>
              </a:lnSpc>
              <a:spcBef>
                <a:spcPct val="0"/>
              </a:spcBef>
            </a:pPr>
            <a:r>
              <a:rPr lang="en-US" sz="4047" i="true" spc="218" strike="noStrike" u="none">
                <a:solidFill>
                  <a:srgbClr val="000000"/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Why Is Our System Better?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2135540" y="3185524"/>
          <a:ext cx="3771900" cy="2514600"/>
        </p:xfrm>
        <a:graphic>
          <a:graphicData uri="http://schemas.openxmlformats.org/presentationml/2006/ole">
            <p:oleObj imgW="4521200" imgH="32639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51811" y="942975"/>
            <a:ext cx="5984379" cy="75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22"/>
              </a:lnSpc>
              <a:spcBef>
                <a:spcPct val="0"/>
              </a:spcBef>
            </a:pPr>
            <a:r>
              <a:rPr lang="en-US" b="true" sz="4444" strike="noStrike" u="none">
                <a:solidFill>
                  <a:srgbClr val="003DF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Future Improvements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687533" y="3365162"/>
            <a:ext cx="8912933" cy="3566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5955" indent="-517977" lvl="1">
              <a:lnSpc>
                <a:spcPts val="5614"/>
              </a:lnSpc>
              <a:buFont typeface="Arial"/>
              <a:buChar char="•"/>
            </a:pPr>
            <a:r>
              <a:rPr lang="en-US" sz="4798" i="true" spc="259" strike="noStrike" u="none">
                <a:solidFill>
                  <a:srgbClr val="000000"/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Automatic Classification</a:t>
            </a:r>
          </a:p>
          <a:p>
            <a:pPr algn="l" marL="1035955" indent="-517977" lvl="1">
              <a:lnSpc>
                <a:spcPts val="5614"/>
              </a:lnSpc>
              <a:buFont typeface="Arial"/>
              <a:buChar char="•"/>
            </a:pPr>
            <a:r>
              <a:rPr lang="en-US" sz="4798" i="true" spc="259" strike="noStrike" u="none">
                <a:solidFill>
                  <a:srgbClr val="000000"/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Hybrid Search</a:t>
            </a:r>
          </a:p>
          <a:p>
            <a:pPr algn="l" marL="1035955" indent="-517977" lvl="1">
              <a:lnSpc>
                <a:spcPts val="5614"/>
              </a:lnSpc>
              <a:buFont typeface="Arial"/>
              <a:buChar char="•"/>
            </a:pPr>
            <a:r>
              <a:rPr lang="en-US" sz="4798" i="true" spc="259" strike="noStrike" u="none">
                <a:solidFill>
                  <a:srgbClr val="000000"/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Larger Medical Corpus</a:t>
            </a:r>
          </a:p>
          <a:p>
            <a:pPr algn="l" marL="1035955" indent="-517977" lvl="1">
              <a:lnSpc>
                <a:spcPts val="5614"/>
              </a:lnSpc>
              <a:buFont typeface="Arial"/>
              <a:buChar char="•"/>
            </a:pPr>
            <a:r>
              <a:rPr lang="en-US" sz="4798" i="true" spc="259" strike="noStrike" u="none">
                <a:solidFill>
                  <a:srgbClr val="000000"/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Multilingual Support</a:t>
            </a:r>
          </a:p>
          <a:p>
            <a:pPr algn="l" marL="1035955" indent="-517977" lvl="1">
              <a:lnSpc>
                <a:spcPts val="5614"/>
              </a:lnSpc>
              <a:buFont typeface="Arial"/>
              <a:buChar char="•"/>
            </a:pPr>
            <a:r>
              <a:rPr lang="en-US" sz="4798" i="true" spc="259" strike="noStrike" u="none">
                <a:solidFill>
                  <a:srgbClr val="000000"/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Production Deployment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06850" y="866888"/>
            <a:ext cx="11874299" cy="8391412"/>
          </a:xfrm>
          <a:custGeom>
            <a:avLst/>
            <a:gdLst/>
            <a:ahLst/>
            <a:cxnLst/>
            <a:rect r="r" b="b" t="t" l="l"/>
            <a:pathLst>
              <a:path h="8391412" w="11874299">
                <a:moveTo>
                  <a:pt x="0" y="0"/>
                </a:moveTo>
                <a:lnTo>
                  <a:pt x="11874300" y="0"/>
                </a:lnTo>
                <a:lnTo>
                  <a:pt x="11874300" y="8391412"/>
                </a:lnTo>
                <a:lnTo>
                  <a:pt x="0" y="83914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DAHO4e3vzwE</dc:identifier>
  <dcterms:modified xsi:type="dcterms:W3CDTF">2011-08-01T06:04:30Z</dcterms:modified>
  <cp:revision>1</cp:revision>
  <dc:title>Healthcare RAG-Powered</dc:title>
</cp:coreProperties>
</file>