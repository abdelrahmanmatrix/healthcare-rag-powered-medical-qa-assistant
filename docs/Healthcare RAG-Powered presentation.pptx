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4879" y="1687290"/>
            <a:ext cx="12639674" cy="776287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980" y="1245428"/>
            <a:ext cx="4943474" cy="41338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096" y="5331679"/>
            <a:ext cx="77432" cy="19111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7858" y="5157504"/>
            <a:ext cx="116656" cy="17992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5857" y="4996327"/>
            <a:ext cx="186106" cy="10627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215" y="5154013"/>
            <a:ext cx="151325" cy="15974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0176" y="5408909"/>
            <a:ext cx="117269" cy="18247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15691" y="5635891"/>
            <a:ext cx="134880" cy="17228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24454" y="7478391"/>
            <a:ext cx="191593" cy="8026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18355" y="5874792"/>
            <a:ext cx="173551" cy="13414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88716" y="5004764"/>
            <a:ext cx="184204" cy="10975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38896" y="7501787"/>
            <a:ext cx="192145" cy="7283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35224" y="5458379"/>
            <a:ext cx="124745" cy="17775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30460" y="4787047"/>
            <a:ext cx="159284" cy="15200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76076" y="5028343"/>
            <a:ext cx="115574" cy="18288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31072" y="5708319"/>
            <a:ext cx="86955" cy="19001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15512" y="7230643"/>
            <a:ext cx="181635" cy="120119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44514" y="7070874"/>
            <a:ext cx="171367" cy="135615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00875" y="5706346"/>
            <a:ext cx="170005" cy="138061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313196" y="7430519"/>
            <a:ext cx="189735" cy="89961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203782" y="6866556"/>
            <a:ext cx="158109" cy="153717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007558" y="7349800"/>
            <a:ext cx="187184" cy="104159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8467" y="5866617"/>
            <a:ext cx="181199" cy="119155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017006" y="5979964"/>
            <a:ext cx="188238" cy="94714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703426" y="6004928"/>
            <a:ext cx="203152" cy="20789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880447" y="6331900"/>
            <a:ext cx="110336" cy="184603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10319" y="6618850"/>
            <a:ext cx="137453" cy="170172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5190442" y="7252260"/>
            <a:ext cx="523240" cy="577850"/>
          </a:xfrm>
          <a:custGeom>
            <a:avLst/>
            <a:gdLst/>
            <a:ahLst/>
            <a:cxnLst/>
            <a:rect l="l" t="t" r="r" b="b"/>
            <a:pathLst>
              <a:path w="523239" h="577850">
                <a:moveTo>
                  <a:pt x="523105" y="281333"/>
                </a:moveTo>
                <a:lnTo>
                  <a:pt x="513210" y="245216"/>
                </a:lnTo>
                <a:lnTo>
                  <a:pt x="484835" y="217462"/>
                </a:lnTo>
                <a:lnTo>
                  <a:pt x="110629" y="9449"/>
                </a:lnTo>
                <a:lnTo>
                  <a:pt x="72078" y="0"/>
                </a:lnTo>
                <a:lnTo>
                  <a:pt x="36179" y="10661"/>
                </a:lnTo>
                <a:lnTo>
                  <a:pt x="9847" y="37290"/>
                </a:lnTo>
                <a:lnTo>
                  <a:pt x="0" y="75746"/>
                </a:lnTo>
                <a:lnTo>
                  <a:pt x="6980" y="503892"/>
                </a:lnTo>
                <a:lnTo>
                  <a:pt x="18068" y="541985"/>
                </a:lnTo>
                <a:lnTo>
                  <a:pt x="45252" y="567747"/>
                </a:lnTo>
                <a:lnTo>
                  <a:pt x="81479" y="577236"/>
                </a:lnTo>
                <a:lnTo>
                  <a:pt x="119702" y="566535"/>
                </a:lnTo>
                <a:lnTo>
                  <a:pt x="486928" y="346402"/>
                </a:lnTo>
                <a:lnTo>
                  <a:pt x="514388" y="317749"/>
                </a:lnTo>
                <a:lnTo>
                  <a:pt x="523105" y="281333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76320" y="358373"/>
            <a:ext cx="6135358" cy="642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03CF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03CF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03CF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18347" y="3537861"/>
            <a:ext cx="6076949" cy="39242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0435" y="3035382"/>
            <a:ext cx="942123" cy="9556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8378" y="4981874"/>
            <a:ext cx="2085974" cy="61519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4460" y="6715029"/>
            <a:ext cx="2167775" cy="50764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06749" y="4470240"/>
            <a:ext cx="3438525" cy="2044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03CF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2661" y="163094"/>
            <a:ext cx="12042676" cy="15912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03CF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6355" y="3307481"/>
            <a:ext cx="7712709" cy="3602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30.jpg"/><Relationship Id="rId6" Type="http://schemas.openxmlformats.org/officeDocument/2006/relationships/image" Target="../media/image40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Relationship Id="rId22" Type="http://schemas.openxmlformats.org/officeDocument/2006/relationships/image" Target="../media/image61.png"/><Relationship Id="rId23" Type="http://schemas.openxmlformats.org/officeDocument/2006/relationships/image" Target="../media/image62.png"/><Relationship Id="rId24" Type="http://schemas.openxmlformats.org/officeDocument/2006/relationships/image" Target="../media/image63.png"/><Relationship Id="rId25" Type="http://schemas.openxmlformats.org/officeDocument/2006/relationships/image" Target="../media/image64.png"/><Relationship Id="rId26" Type="http://schemas.openxmlformats.org/officeDocument/2006/relationships/image" Target="../media/image65.png"/><Relationship Id="rId27" Type="http://schemas.openxmlformats.org/officeDocument/2006/relationships/image" Target="../media/image6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232" y="86473"/>
            <a:ext cx="1790699" cy="16478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24685" marR="5080" indent="-558800">
              <a:lnSpc>
                <a:spcPct val="115199"/>
              </a:lnSpc>
              <a:spcBef>
                <a:spcPts val="100"/>
              </a:spcBef>
            </a:pPr>
            <a:r>
              <a:rPr dirty="0" spc="-305"/>
              <a:t>Healthcare</a:t>
            </a:r>
            <a:r>
              <a:rPr dirty="0" spc="-409"/>
              <a:t> </a:t>
            </a:r>
            <a:r>
              <a:rPr dirty="0" spc="-295"/>
              <a:t>RAG-</a:t>
            </a:r>
            <a:r>
              <a:rPr dirty="0" spc="-355"/>
              <a:t>Powered</a:t>
            </a:r>
            <a:r>
              <a:rPr dirty="0" spc="-409"/>
              <a:t> </a:t>
            </a:r>
            <a:r>
              <a:rPr dirty="0" spc="-290"/>
              <a:t>Medical </a:t>
            </a:r>
            <a:r>
              <a:rPr dirty="0" spc="-265"/>
              <a:t>Question</a:t>
            </a:r>
            <a:r>
              <a:rPr dirty="0" spc="-425"/>
              <a:t> </a:t>
            </a:r>
            <a:r>
              <a:rPr dirty="0" spc="-360"/>
              <a:t>Answering</a:t>
            </a:r>
            <a:r>
              <a:rPr dirty="0" spc="-425"/>
              <a:t> </a:t>
            </a:r>
            <a:r>
              <a:rPr dirty="0" spc="-350"/>
              <a:t>Assistant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0913" y="482277"/>
            <a:ext cx="2292149" cy="6254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1635" y="3985635"/>
            <a:ext cx="157366" cy="1573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23355" y="4619146"/>
            <a:ext cx="151575" cy="1515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5946" y="5240198"/>
            <a:ext cx="161925" cy="1619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5946" y="5875276"/>
            <a:ext cx="161925" cy="1619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09192" y="6510355"/>
            <a:ext cx="161925" cy="1619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29217" y="1767235"/>
            <a:ext cx="14920594" cy="8213725"/>
          </a:xfrm>
          <a:prstGeom prst="rect">
            <a:avLst/>
          </a:prstGeom>
        </p:spPr>
        <p:txBody>
          <a:bodyPr wrap="square" lIns="0" tIns="262255" rIns="0" bIns="0" rtlCol="0" vert="horz">
            <a:spAutoFit/>
          </a:bodyPr>
          <a:lstStyle/>
          <a:p>
            <a:pPr algn="ctr" marR="3153410">
              <a:lnSpc>
                <a:spcPct val="100000"/>
              </a:lnSpc>
              <a:spcBef>
                <a:spcPts val="2065"/>
              </a:spcBef>
            </a:pPr>
            <a:r>
              <a:rPr dirty="0" sz="2800" spc="-65">
                <a:latin typeface="Tahoma"/>
                <a:cs typeface="Tahoma"/>
              </a:rPr>
              <a:t>Retrieval-</a:t>
            </a:r>
            <a:r>
              <a:rPr dirty="0" sz="2800" spc="-125">
                <a:latin typeface="Tahoma"/>
                <a:cs typeface="Tahoma"/>
              </a:rPr>
              <a:t>Augmented</a:t>
            </a:r>
            <a:r>
              <a:rPr dirty="0" sz="2800" spc="-380">
                <a:latin typeface="Tahoma"/>
                <a:cs typeface="Tahoma"/>
              </a:rPr>
              <a:t> </a:t>
            </a:r>
            <a:r>
              <a:rPr dirty="0" sz="2800" spc="-100">
                <a:latin typeface="Tahoma"/>
                <a:cs typeface="Tahoma"/>
              </a:rPr>
              <a:t>Generation</a:t>
            </a:r>
            <a:r>
              <a:rPr dirty="0" sz="2800" spc="-380">
                <a:latin typeface="Tahoma"/>
                <a:cs typeface="Tahoma"/>
              </a:rPr>
              <a:t> </a:t>
            </a:r>
            <a:r>
              <a:rPr dirty="0" sz="2800" spc="-85">
                <a:latin typeface="Tahoma"/>
                <a:cs typeface="Tahoma"/>
              </a:rPr>
              <a:t>for</a:t>
            </a:r>
            <a:r>
              <a:rPr dirty="0" sz="2800" spc="-380">
                <a:latin typeface="Tahoma"/>
                <a:cs typeface="Tahoma"/>
              </a:rPr>
              <a:t> </a:t>
            </a:r>
            <a:r>
              <a:rPr dirty="0" sz="2800" spc="-114">
                <a:latin typeface="Tahoma"/>
                <a:cs typeface="Tahoma"/>
              </a:rPr>
              <a:t>Evidence-</a:t>
            </a:r>
            <a:r>
              <a:rPr dirty="0" sz="2800" spc="-175">
                <a:latin typeface="Tahoma"/>
                <a:cs typeface="Tahoma"/>
              </a:rPr>
              <a:t>Based</a:t>
            </a:r>
            <a:r>
              <a:rPr dirty="0" sz="2800" spc="-38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Medical</a:t>
            </a:r>
            <a:r>
              <a:rPr dirty="0" sz="2800" spc="-375">
                <a:latin typeface="Tahoma"/>
                <a:cs typeface="Tahoma"/>
              </a:rPr>
              <a:t> </a:t>
            </a:r>
            <a:r>
              <a:rPr dirty="0" sz="2800" spc="-120">
                <a:latin typeface="Tahoma"/>
                <a:cs typeface="Tahoma"/>
              </a:rPr>
              <a:t>Question</a:t>
            </a:r>
            <a:r>
              <a:rPr dirty="0" sz="2800" spc="-3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Answering</a:t>
            </a:r>
            <a:endParaRPr sz="2800">
              <a:latin typeface="Tahoma"/>
              <a:cs typeface="Tahoma"/>
            </a:endParaRPr>
          </a:p>
          <a:p>
            <a:pPr algn="ctr" marR="3082925">
              <a:lnSpc>
                <a:spcPct val="100000"/>
              </a:lnSpc>
              <a:spcBef>
                <a:spcPts val="3040"/>
              </a:spcBef>
            </a:pPr>
            <a:r>
              <a:rPr dirty="0" sz="4450" spc="-305">
                <a:solidFill>
                  <a:srgbClr val="003CF4"/>
                </a:solidFill>
                <a:latin typeface="Arial Black"/>
                <a:cs typeface="Arial Black"/>
              </a:rPr>
              <a:t>Presented</a:t>
            </a:r>
            <a:r>
              <a:rPr dirty="0" sz="4450" spc="-405">
                <a:solidFill>
                  <a:srgbClr val="003CF4"/>
                </a:solidFill>
                <a:latin typeface="Arial Black"/>
                <a:cs typeface="Arial Black"/>
              </a:rPr>
              <a:t> </a:t>
            </a:r>
            <a:r>
              <a:rPr dirty="0" sz="4450" spc="-35">
                <a:solidFill>
                  <a:srgbClr val="003CF4"/>
                </a:solidFill>
                <a:latin typeface="Arial Black"/>
                <a:cs typeface="Arial Black"/>
              </a:rPr>
              <a:t>by</a:t>
            </a:r>
            <a:endParaRPr sz="4450">
              <a:latin typeface="Arial Black"/>
              <a:cs typeface="Arial Black"/>
            </a:endParaRPr>
          </a:p>
          <a:p>
            <a:pPr marL="3549650" marR="5878830" indent="-635">
              <a:lnSpc>
                <a:spcPct val="117100"/>
              </a:lnSpc>
              <a:spcBef>
                <a:spcPts val="1270"/>
              </a:spcBef>
            </a:pPr>
            <a:r>
              <a:rPr dirty="0" sz="3500" spc="-175">
                <a:latin typeface="Arial Black"/>
                <a:cs typeface="Arial Black"/>
              </a:rPr>
              <a:t>Abd</a:t>
            </a:r>
            <a:r>
              <a:rPr dirty="0" sz="3500" spc="-330">
                <a:latin typeface="Arial Black"/>
                <a:cs typeface="Arial Black"/>
              </a:rPr>
              <a:t> </a:t>
            </a:r>
            <a:r>
              <a:rPr dirty="0" sz="3500" spc="-130">
                <a:latin typeface="Arial Black"/>
                <a:cs typeface="Arial Black"/>
              </a:rPr>
              <a:t>El-</a:t>
            </a:r>
            <a:r>
              <a:rPr dirty="0" sz="3500" spc="-285">
                <a:latin typeface="Arial Black"/>
                <a:cs typeface="Arial Black"/>
              </a:rPr>
              <a:t>Rahman</a:t>
            </a:r>
            <a:r>
              <a:rPr dirty="0" sz="3500" spc="-315">
                <a:latin typeface="Arial Black"/>
                <a:cs typeface="Arial Black"/>
              </a:rPr>
              <a:t> </a:t>
            </a:r>
            <a:r>
              <a:rPr dirty="0" sz="3500" spc="-180">
                <a:latin typeface="Arial Black"/>
                <a:cs typeface="Arial Black"/>
              </a:rPr>
              <a:t>Moustafa </a:t>
            </a:r>
            <a:r>
              <a:rPr dirty="0" sz="3500" spc="-320">
                <a:latin typeface="Arial Black"/>
                <a:cs typeface="Arial Black"/>
              </a:rPr>
              <a:t>Youssef</a:t>
            </a:r>
            <a:r>
              <a:rPr dirty="0" sz="3500" spc="-325">
                <a:latin typeface="Arial Black"/>
                <a:cs typeface="Arial Black"/>
              </a:rPr>
              <a:t> </a:t>
            </a:r>
            <a:r>
              <a:rPr dirty="0" sz="3500" spc="-290">
                <a:latin typeface="Arial Black"/>
                <a:cs typeface="Arial Black"/>
              </a:rPr>
              <a:t>George</a:t>
            </a:r>
            <a:endParaRPr sz="3500">
              <a:latin typeface="Arial Black"/>
              <a:cs typeface="Arial Black"/>
            </a:endParaRPr>
          </a:p>
          <a:p>
            <a:pPr marL="3549650" marR="7925434">
              <a:lnSpc>
                <a:spcPct val="119100"/>
              </a:lnSpc>
              <a:spcBef>
                <a:spcPts val="5"/>
              </a:spcBef>
            </a:pPr>
            <a:r>
              <a:rPr dirty="0" sz="3500" spc="-200">
                <a:latin typeface="Arial Black"/>
                <a:cs typeface="Arial Black"/>
              </a:rPr>
              <a:t>Doha</a:t>
            </a:r>
            <a:r>
              <a:rPr dirty="0" sz="3500" spc="-320">
                <a:latin typeface="Arial Black"/>
                <a:cs typeface="Arial Black"/>
              </a:rPr>
              <a:t> </a:t>
            </a:r>
            <a:r>
              <a:rPr dirty="0" sz="3500" spc="-285">
                <a:latin typeface="Arial Black"/>
                <a:cs typeface="Arial Black"/>
              </a:rPr>
              <a:t>Khaled </a:t>
            </a:r>
            <a:r>
              <a:rPr dirty="0" sz="3500" spc="-295">
                <a:latin typeface="Arial Black"/>
                <a:cs typeface="Arial Black"/>
              </a:rPr>
              <a:t>Eman</a:t>
            </a:r>
            <a:r>
              <a:rPr dirty="0" sz="3500" spc="-320">
                <a:latin typeface="Arial Black"/>
                <a:cs typeface="Arial Black"/>
              </a:rPr>
              <a:t> </a:t>
            </a:r>
            <a:r>
              <a:rPr dirty="0" sz="3500" spc="-130">
                <a:latin typeface="Arial Black"/>
                <a:cs typeface="Arial Black"/>
              </a:rPr>
              <a:t>El-</a:t>
            </a:r>
            <a:r>
              <a:rPr dirty="0" sz="3500" spc="-375">
                <a:latin typeface="Arial Black"/>
                <a:cs typeface="Arial Black"/>
              </a:rPr>
              <a:t>Kalawy </a:t>
            </a:r>
            <a:r>
              <a:rPr dirty="0" sz="3500" spc="-285">
                <a:latin typeface="Arial Black"/>
                <a:cs typeface="Arial Black"/>
              </a:rPr>
              <a:t>Ziad</a:t>
            </a:r>
            <a:r>
              <a:rPr dirty="0" sz="3500" spc="-320">
                <a:latin typeface="Arial Black"/>
                <a:cs typeface="Arial Black"/>
              </a:rPr>
              <a:t> </a:t>
            </a:r>
            <a:r>
              <a:rPr dirty="0" sz="3500" spc="-130">
                <a:latin typeface="Arial Black"/>
                <a:cs typeface="Arial Black"/>
              </a:rPr>
              <a:t>El-</a:t>
            </a:r>
            <a:r>
              <a:rPr dirty="0" sz="3500" spc="-20">
                <a:latin typeface="Arial Black"/>
                <a:cs typeface="Arial Black"/>
              </a:rPr>
              <a:t>Nady</a:t>
            </a:r>
            <a:endParaRPr sz="3500">
              <a:latin typeface="Arial Black"/>
              <a:cs typeface="Arial Black"/>
            </a:endParaRPr>
          </a:p>
          <a:p>
            <a:pPr algn="ctr" marR="3082925">
              <a:lnSpc>
                <a:spcPct val="100000"/>
              </a:lnSpc>
              <a:spcBef>
                <a:spcPts val="2605"/>
              </a:spcBef>
            </a:pPr>
            <a:r>
              <a:rPr dirty="0" sz="4450" spc="-265">
                <a:solidFill>
                  <a:srgbClr val="003CF4"/>
                </a:solidFill>
                <a:latin typeface="Arial Black"/>
                <a:cs typeface="Arial Black"/>
              </a:rPr>
              <a:t>Supervisor</a:t>
            </a:r>
            <a:endParaRPr sz="4450">
              <a:latin typeface="Arial Black"/>
              <a:cs typeface="Arial Black"/>
            </a:endParaRPr>
          </a:p>
          <a:p>
            <a:pPr marL="2936875">
              <a:lnSpc>
                <a:spcPct val="100000"/>
              </a:lnSpc>
              <a:spcBef>
                <a:spcPts val="2020"/>
              </a:spcBef>
            </a:pPr>
            <a:r>
              <a:rPr dirty="0" sz="3500" spc="-160">
                <a:latin typeface="Arial Black"/>
                <a:cs typeface="Arial Black"/>
              </a:rPr>
              <a:t>ENG/Abd</a:t>
            </a:r>
            <a:r>
              <a:rPr dirty="0" sz="3500" spc="-315">
                <a:latin typeface="Arial Black"/>
                <a:cs typeface="Arial Black"/>
              </a:rPr>
              <a:t> </a:t>
            </a:r>
            <a:r>
              <a:rPr dirty="0" sz="3500" spc="-130">
                <a:latin typeface="Arial Black"/>
                <a:cs typeface="Arial Black"/>
              </a:rPr>
              <a:t>El-</a:t>
            </a:r>
            <a:r>
              <a:rPr dirty="0" sz="3500" spc="-285">
                <a:latin typeface="Arial Black"/>
                <a:cs typeface="Arial Black"/>
              </a:rPr>
              <a:t>Rahman</a:t>
            </a:r>
            <a:r>
              <a:rPr dirty="0" sz="3500" spc="-310">
                <a:latin typeface="Arial Black"/>
                <a:cs typeface="Arial Black"/>
              </a:rPr>
              <a:t> </a:t>
            </a:r>
            <a:r>
              <a:rPr dirty="0" sz="3500" spc="-425">
                <a:latin typeface="Arial Black"/>
                <a:cs typeface="Arial Black"/>
              </a:rPr>
              <a:t>Tarek</a:t>
            </a:r>
            <a:endParaRPr sz="3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180"/>
              </a:spcBef>
            </a:pPr>
            <a:endParaRPr sz="3500">
              <a:latin typeface="Arial Black"/>
              <a:cs typeface="Arial Black"/>
            </a:endParaRPr>
          </a:p>
          <a:p>
            <a:pPr algn="r" marR="5080">
              <a:lnSpc>
                <a:spcPct val="100000"/>
              </a:lnSpc>
            </a:pPr>
            <a:r>
              <a:rPr dirty="0" sz="2800" spc="-10">
                <a:latin typeface="Tahoma"/>
                <a:cs typeface="Tahoma"/>
              </a:rPr>
              <a:t>July</a:t>
            </a:r>
            <a:r>
              <a:rPr dirty="0" sz="2800" spc="-44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2026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441231" y="163094"/>
            <a:ext cx="5405755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0"/>
              <a:t>Problem</a:t>
            </a:r>
            <a:r>
              <a:rPr dirty="0" spc="-405"/>
              <a:t> </a:t>
            </a:r>
            <a:r>
              <a:rPr dirty="0" spc="-310"/>
              <a:t>Statement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04368" y="1213961"/>
            <a:ext cx="11850370" cy="642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480" i="1">
                <a:latin typeface="Cambria"/>
                <a:cs typeface="Cambria"/>
              </a:rPr>
              <a:t>Every</a:t>
            </a:r>
            <a:r>
              <a:rPr dirty="0" sz="4050" spc="650" i="1">
                <a:latin typeface="Cambria"/>
                <a:cs typeface="Cambria"/>
              </a:rPr>
              <a:t> </a:t>
            </a:r>
            <a:r>
              <a:rPr dirty="0" sz="4050" spc="434" i="1">
                <a:latin typeface="Cambria"/>
                <a:cs typeface="Cambria"/>
              </a:rPr>
              <a:t>Great</a:t>
            </a:r>
            <a:r>
              <a:rPr dirty="0" sz="4050" spc="660" i="1">
                <a:latin typeface="Cambria"/>
                <a:cs typeface="Cambria"/>
              </a:rPr>
              <a:t> </a:t>
            </a:r>
            <a:r>
              <a:rPr dirty="0" sz="4050" spc="310" i="1">
                <a:latin typeface="Cambria"/>
                <a:cs typeface="Cambria"/>
              </a:rPr>
              <a:t>Project</a:t>
            </a:r>
            <a:r>
              <a:rPr dirty="0" sz="4050" spc="655" i="1">
                <a:latin typeface="Cambria"/>
                <a:cs typeface="Cambria"/>
              </a:rPr>
              <a:t> </a:t>
            </a:r>
            <a:r>
              <a:rPr dirty="0" sz="4050" spc="340" i="1">
                <a:latin typeface="Cambria"/>
                <a:cs typeface="Cambria"/>
              </a:rPr>
              <a:t>Starts</a:t>
            </a:r>
            <a:r>
              <a:rPr dirty="0" sz="4050" spc="660" i="1">
                <a:latin typeface="Cambria"/>
                <a:cs typeface="Cambria"/>
              </a:rPr>
              <a:t> </a:t>
            </a:r>
            <a:r>
              <a:rPr dirty="0" sz="4050" spc="409" i="1">
                <a:latin typeface="Cambria"/>
                <a:cs typeface="Cambria"/>
              </a:rPr>
              <a:t>with</a:t>
            </a:r>
            <a:r>
              <a:rPr dirty="0" sz="4050" spc="660" i="1">
                <a:latin typeface="Cambria"/>
                <a:cs typeface="Cambria"/>
              </a:rPr>
              <a:t> </a:t>
            </a:r>
            <a:r>
              <a:rPr dirty="0" sz="4050" spc="170" i="1">
                <a:latin typeface="Cambria"/>
                <a:cs typeface="Cambria"/>
              </a:rPr>
              <a:t>a</a:t>
            </a:r>
            <a:r>
              <a:rPr dirty="0" sz="4050" spc="660" i="1">
                <a:latin typeface="Cambria"/>
                <a:cs typeface="Cambria"/>
              </a:rPr>
              <a:t> </a:t>
            </a:r>
            <a:r>
              <a:rPr dirty="0" sz="4050" spc="415" i="1">
                <a:latin typeface="Cambria"/>
                <a:cs typeface="Cambria"/>
              </a:rPr>
              <a:t>Question...</a:t>
            </a:r>
            <a:endParaRPr sz="4050">
              <a:latin typeface="Cambria"/>
              <a:cs typeface="Cambri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38" y="2211224"/>
            <a:ext cx="5791199" cy="48386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77197" y="3355591"/>
            <a:ext cx="8253095" cy="8966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700" spc="635" i="1">
                <a:latin typeface="Cambria"/>
                <a:cs typeface="Cambria"/>
              </a:rPr>
              <a:t>But...</a:t>
            </a:r>
            <a:r>
              <a:rPr dirty="0" sz="5700" spc="935" i="1">
                <a:latin typeface="Cambria"/>
                <a:cs typeface="Cambria"/>
              </a:rPr>
              <a:t> </a:t>
            </a:r>
            <a:r>
              <a:rPr dirty="0" sz="5700" spc="810" i="1">
                <a:latin typeface="Cambria"/>
                <a:cs typeface="Cambria"/>
              </a:rPr>
              <a:t>Can</a:t>
            </a:r>
            <a:r>
              <a:rPr dirty="0" sz="5700" spc="935" i="1">
                <a:latin typeface="Cambria"/>
                <a:cs typeface="Cambria"/>
              </a:rPr>
              <a:t> </a:t>
            </a:r>
            <a:r>
              <a:rPr dirty="0" sz="5700" spc="505" i="1">
                <a:latin typeface="Cambria"/>
                <a:cs typeface="Cambria"/>
              </a:rPr>
              <a:t>we</a:t>
            </a:r>
            <a:r>
              <a:rPr dirty="0" sz="5700" spc="935" i="1">
                <a:latin typeface="Cambria"/>
                <a:cs typeface="Cambria"/>
              </a:rPr>
              <a:t> </a:t>
            </a:r>
            <a:r>
              <a:rPr dirty="0" sz="5700" spc="415" i="1">
                <a:latin typeface="Cambria"/>
                <a:cs typeface="Cambria"/>
              </a:rPr>
              <a:t>trust</a:t>
            </a:r>
            <a:r>
              <a:rPr dirty="0" sz="5700" spc="935" i="1">
                <a:latin typeface="Cambria"/>
                <a:cs typeface="Cambria"/>
              </a:rPr>
              <a:t> </a:t>
            </a:r>
            <a:r>
              <a:rPr dirty="0" sz="5700" spc="459" i="1">
                <a:latin typeface="Cambria"/>
                <a:cs typeface="Cambria"/>
              </a:rPr>
              <a:t>it?</a:t>
            </a:r>
            <a:endParaRPr sz="5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3991" y="3813648"/>
            <a:ext cx="4769485" cy="9753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78460" marR="5080" indent="-366395">
              <a:lnSpc>
                <a:spcPts val="3690"/>
              </a:lnSpc>
              <a:spcBef>
                <a:spcPts val="295"/>
              </a:spcBef>
            </a:pPr>
            <a:r>
              <a:rPr dirty="0" sz="3150" spc="335" i="1">
                <a:latin typeface="Cambria"/>
                <a:cs typeface="Cambria"/>
              </a:rPr>
              <a:t>What</a:t>
            </a:r>
            <a:r>
              <a:rPr dirty="0" sz="3150" spc="500" i="1">
                <a:latin typeface="Cambria"/>
                <a:cs typeface="Cambria"/>
              </a:rPr>
              <a:t> </a:t>
            </a:r>
            <a:r>
              <a:rPr dirty="0" sz="3150" spc="210" i="1">
                <a:latin typeface="Cambria"/>
                <a:cs typeface="Cambria"/>
              </a:rPr>
              <a:t>are</a:t>
            </a:r>
            <a:r>
              <a:rPr dirty="0" sz="3150" spc="509" i="1">
                <a:latin typeface="Cambria"/>
                <a:cs typeface="Cambria"/>
              </a:rPr>
              <a:t> </a:t>
            </a:r>
            <a:r>
              <a:rPr dirty="0" sz="3150" spc="175" i="1">
                <a:latin typeface="Cambria"/>
                <a:cs typeface="Cambria"/>
              </a:rPr>
              <a:t>the</a:t>
            </a:r>
            <a:r>
              <a:rPr dirty="0" sz="3150" spc="509" i="1">
                <a:latin typeface="Cambria"/>
                <a:cs typeface="Cambria"/>
              </a:rPr>
              <a:t> </a:t>
            </a:r>
            <a:r>
              <a:rPr dirty="0" sz="3150" spc="240" i="1">
                <a:latin typeface="Cambria"/>
                <a:cs typeface="Cambria"/>
              </a:rPr>
              <a:t>symptoms </a:t>
            </a:r>
            <a:r>
              <a:rPr dirty="0" sz="3150" spc="170" i="1">
                <a:latin typeface="Cambria"/>
                <a:cs typeface="Cambria"/>
              </a:rPr>
              <a:t>of</a:t>
            </a:r>
            <a:r>
              <a:rPr dirty="0" sz="3150" spc="505" i="1">
                <a:latin typeface="Cambria"/>
                <a:cs typeface="Cambria"/>
              </a:rPr>
              <a:t> </a:t>
            </a:r>
            <a:r>
              <a:rPr dirty="0" sz="3150" spc="350" i="1">
                <a:latin typeface="Cambria"/>
                <a:cs typeface="Cambria"/>
              </a:rPr>
              <a:t>Type</a:t>
            </a:r>
            <a:r>
              <a:rPr dirty="0" sz="3150" spc="515" i="1">
                <a:latin typeface="Cambria"/>
                <a:cs typeface="Cambria"/>
              </a:rPr>
              <a:t> </a:t>
            </a:r>
            <a:r>
              <a:rPr dirty="0" sz="3150" spc="295" i="1">
                <a:latin typeface="Cambria"/>
                <a:cs typeface="Cambria"/>
              </a:rPr>
              <a:t>2</a:t>
            </a:r>
            <a:r>
              <a:rPr dirty="0" sz="3150" spc="515" i="1">
                <a:latin typeface="Cambria"/>
                <a:cs typeface="Cambria"/>
              </a:rPr>
              <a:t> </a:t>
            </a:r>
            <a:r>
              <a:rPr dirty="0" sz="3150" spc="275" i="1">
                <a:latin typeface="Cambria"/>
                <a:cs typeface="Cambria"/>
              </a:rPr>
              <a:t>Diabetes?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52940" y="6315709"/>
            <a:ext cx="608965" cy="2538730"/>
          </a:xfrm>
          <a:custGeom>
            <a:avLst/>
            <a:gdLst/>
            <a:ahLst/>
            <a:cxnLst/>
            <a:rect l="l" t="t" r="r" b="b"/>
            <a:pathLst>
              <a:path w="608964" h="2538729">
                <a:moveTo>
                  <a:pt x="608634" y="2234400"/>
                </a:moveTo>
                <a:lnTo>
                  <a:pt x="349161" y="2367737"/>
                </a:lnTo>
                <a:lnTo>
                  <a:pt x="346748" y="2234400"/>
                </a:lnTo>
                <a:lnTo>
                  <a:pt x="306324" y="0"/>
                </a:lnTo>
                <a:lnTo>
                  <a:pt x="262204" y="2234400"/>
                </a:lnTo>
                <a:lnTo>
                  <a:pt x="259562" y="2367788"/>
                </a:lnTo>
                <a:lnTo>
                  <a:pt x="0" y="2234400"/>
                </a:lnTo>
                <a:lnTo>
                  <a:pt x="304304" y="2538704"/>
                </a:lnTo>
                <a:lnTo>
                  <a:pt x="608634" y="2234400"/>
                </a:lnTo>
                <a:close/>
              </a:path>
            </a:pathLst>
          </a:custGeom>
          <a:solidFill>
            <a:srgbClr val="003C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177" y="4798241"/>
            <a:ext cx="6753224" cy="30479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9843" y="8690550"/>
            <a:ext cx="6941184" cy="556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80" i="1">
                <a:latin typeface="Cambria"/>
                <a:cs typeface="Cambria"/>
              </a:rPr>
              <a:t>AI</a:t>
            </a:r>
            <a:r>
              <a:rPr dirty="0" sz="3450" spc="575" i="1">
                <a:latin typeface="Cambria"/>
                <a:cs typeface="Cambria"/>
              </a:rPr>
              <a:t> </a:t>
            </a:r>
            <a:r>
              <a:rPr dirty="0" sz="3450" spc="305" i="1">
                <a:latin typeface="Cambria"/>
                <a:cs typeface="Cambria"/>
              </a:rPr>
              <a:t>gives</a:t>
            </a:r>
            <a:r>
              <a:rPr dirty="0" sz="3450" spc="575" i="1">
                <a:latin typeface="Cambria"/>
                <a:cs typeface="Cambria"/>
              </a:rPr>
              <a:t> </a:t>
            </a:r>
            <a:r>
              <a:rPr dirty="0" sz="3450" spc="330" i="1">
                <a:latin typeface="Cambria"/>
                <a:cs typeface="Cambria"/>
              </a:rPr>
              <a:t>an</a:t>
            </a:r>
            <a:r>
              <a:rPr dirty="0" sz="3450" spc="575" i="1">
                <a:latin typeface="Cambria"/>
                <a:cs typeface="Cambria"/>
              </a:rPr>
              <a:t> </a:t>
            </a:r>
            <a:r>
              <a:rPr dirty="0" sz="3450" spc="340" i="1">
                <a:latin typeface="Cambria"/>
                <a:cs typeface="Cambria"/>
              </a:rPr>
              <a:t>answer</a:t>
            </a:r>
            <a:r>
              <a:rPr dirty="0" sz="3450" spc="575" i="1">
                <a:latin typeface="Cambria"/>
                <a:cs typeface="Cambria"/>
              </a:rPr>
              <a:t> </a:t>
            </a:r>
            <a:r>
              <a:rPr dirty="0" sz="3450" spc="340" i="1">
                <a:latin typeface="Cambria"/>
                <a:cs typeface="Cambria"/>
              </a:rPr>
              <a:t>instantly...</a:t>
            </a:r>
            <a:endParaRPr sz="345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7622" y="9457728"/>
            <a:ext cx="667264" cy="678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0925" y="9536152"/>
            <a:ext cx="1466849" cy="430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5536" y="9617759"/>
            <a:ext cx="1505723" cy="350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82792" y="243085"/>
            <a:ext cx="3522979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0"/>
              <a:t>Our</a:t>
            </a:r>
            <a:r>
              <a:rPr dirty="0" spc="-420"/>
              <a:t> </a:t>
            </a:r>
            <a:r>
              <a:rPr dirty="0" spc="-20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7998" y="1346474"/>
            <a:ext cx="10683240" cy="642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475" i="1">
                <a:latin typeface="Cambria"/>
                <a:cs typeface="Cambria"/>
              </a:rPr>
              <a:t>Retrieval-</a:t>
            </a:r>
            <a:r>
              <a:rPr dirty="0" sz="4050" spc="405" i="1">
                <a:latin typeface="Cambria"/>
                <a:cs typeface="Cambria"/>
              </a:rPr>
              <a:t>Augmented</a:t>
            </a:r>
            <a:r>
              <a:rPr dirty="0" sz="4050" spc="690" i="1">
                <a:latin typeface="Cambria"/>
                <a:cs typeface="Cambria"/>
              </a:rPr>
              <a:t> </a:t>
            </a:r>
            <a:r>
              <a:rPr dirty="0" sz="4050" spc="430" i="1">
                <a:latin typeface="Cambria"/>
                <a:cs typeface="Cambria"/>
              </a:rPr>
              <a:t>Generation</a:t>
            </a:r>
            <a:r>
              <a:rPr dirty="0" sz="4050" spc="685" i="1">
                <a:latin typeface="Cambria"/>
                <a:cs typeface="Cambria"/>
              </a:rPr>
              <a:t> </a:t>
            </a:r>
            <a:r>
              <a:rPr dirty="0" sz="4050" spc="550" i="1">
                <a:latin typeface="Cambria"/>
                <a:cs typeface="Cambria"/>
              </a:rPr>
              <a:t>(RAG)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699" y="4440606"/>
            <a:ext cx="3368040" cy="1035685"/>
          </a:xfrm>
          <a:custGeom>
            <a:avLst/>
            <a:gdLst/>
            <a:ahLst/>
            <a:cxnLst/>
            <a:rect l="l" t="t" r="r" b="b"/>
            <a:pathLst>
              <a:path w="3368040" h="1035685">
                <a:moveTo>
                  <a:pt x="3253466" y="1035413"/>
                </a:moveTo>
                <a:lnTo>
                  <a:pt x="114300" y="1035413"/>
                </a:lnTo>
                <a:lnTo>
                  <a:pt x="91897" y="1033196"/>
                </a:lnTo>
                <a:lnTo>
                  <a:pt x="50886" y="1016209"/>
                </a:lnTo>
                <a:lnTo>
                  <a:pt x="19203" y="984526"/>
                </a:lnTo>
                <a:lnTo>
                  <a:pt x="2216" y="943516"/>
                </a:lnTo>
                <a:lnTo>
                  <a:pt x="0" y="921113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3253466" y="0"/>
                </a:lnTo>
                <a:lnTo>
                  <a:pt x="3297207" y="8700"/>
                </a:lnTo>
                <a:lnTo>
                  <a:pt x="3334289" y="33477"/>
                </a:lnTo>
                <a:lnTo>
                  <a:pt x="3359066" y="70559"/>
                </a:lnTo>
                <a:lnTo>
                  <a:pt x="3367766" y="114300"/>
                </a:lnTo>
                <a:lnTo>
                  <a:pt x="3367766" y="921113"/>
                </a:lnTo>
                <a:lnTo>
                  <a:pt x="3359066" y="964853"/>
                </a:lnTo>
                <a:lnTo>
                  <a:pt x="3334289" y="1001935"/>
                </a:lnTo>
                <a:lnTo>
                  <a:pt x="3297207" y="1026712"/>
                </a:lnTo>
                <a:lnTo>
                  <a:pt x="3253466" y="1035413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81683" y="4701123"/>
            <a:ext cx="2461895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>
                <a:latin typeface="Segoe UI"/>
                <a:cs typeface="Segoe UI"/>
              </a:rPr>
              <a:t>User</a:t>
            </a:r>
            <a:r>
              <a:rPr dirty="0" sz="3050" spc="-15">
                <a:latin typeface="Segoe UI"/>
                <a:cs typeface="Segoe UI"/>
              </a:rPr>
              <a:t> </a:t>
            </a:r>
            <a:r>
              <a:rPr dirty="0" sz="3050" spc="-10">
                <a:latin typeface="Segoe UI"/>
                <a:cs typeface="Segoe UI"/>
              </a:rPr>
              <a:t>Question</a:t>
            </a:r>
            <a:endParaRPr sz="30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2515" y="4253848"/>
            <a:ext cx="4249420" cy="1409065"/>
          </a:xfrm>
          <a:custGeom>
            <a:avLst/>
            <a:gdLst/>
            <a:ahLst/>
            <a:cxnLst/>
            <a:rect l="l" t="t" r="r" b="b"/>
            <a:pathLst>
              <a:path w="4249420" h="1409064">
                <a:moveTo>
                  <a:pt x="4136704" y="1408929"/>
                </a:moveTo>
                <a:lnTo>
                  <a:pt x="114300" y="1408929"/>
                </a:lnTo>
                <a:lnTo>
                  <a:pt x="91897" y="1406712"/>
                </a:lnTo>
                <a:lnTo>
                  <a:pt x="50886" y="1389725"/>
                </a:lnTo>
                <a:lnTo>
                  <a:pt x="19203" y="1358043"/>
                </a:lnTo>
                <a:lnTo>
                  <a:pt x="2216" y="1317032"/>
                </a:lnTo>
                <a:lnTo>
                  <a:pt x="0" y="1294629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4136704" y="0"/>
                </a:lnTo>
                <a:lnTo>
                  <a:pt x="4159106" y="2216"/>
                </a:lnTo>
                <a:lnTo>
                  <a:pt x="4200117" y="19203"/>
                </a:lnTo>
                <a:lnTo>
                  <a:pt x="4231800" y="50886"/>
                </a:lnTo>
                <a:lnTo>
                  <a:pt x="4248803" y="91897"/>
                </a:lnTo>
                <a:lnTo>
                  <a:pt x="4248803" y="1317032"/>
                </a:lnTo>
                <a:lnTo>
                  <a:pt x="4231800" y="1358043"/>
                </a:lnTo>
                <a:lnTo>
                  <a:pt x="4200117" y="1389725"/>
                </a:lnTo>
                <a:lnTo>
                  <a:pt x="4159106" y="1406712"/>
                </a:lnTo>
                <a:lnTo>
                  <a:pt x="4136704" y="1408929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85079" y="4379009"/>
            <a:ext cx="4006215" cy="9982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15085" marR="5080" indent="-1303020">
              <a:lnSpc>
                <a:spcPct val="115999"/>
              </a:lnSpc>
              <a:spcBef>
                <a:spcPts val="95"/>
              </a:spcBef>
            </a:pPr>
            <a:r>
              <a:rPr dirty="0" sz="2750">
                <a:latin typeface="Segoe UI"/>
                <a:cs typeface="Segoe UI"/>
              </a:rPr>
              <a:t>Retrieve </a:t>
            </a:r>
            <a:r>
              <a:rPr dirty="0" sz="2750" spc="-10">
                <a:latin typeface="Segoe UI"/>
                <a:cs typeface="Segoe UI"/>
              </a:rPr>
              <a:t>EvidenceRetrieve Evidence</a:t>
            </a:r>
            <a:endParaRPr sz="275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96466" y="4440606"/>
            <a:ext cx="13056869" cy="1072515"/>
            <a:chOff x="4396466" y="4440606"/>
            <a:chExt cx="13056869" cy="1072515"/>
          </a:xfrm>
        </p:grpSpPr>
        <p:sp>
          <p:nvSpPr>
            <p:cNvPr id="9" name="object 9"/>
            <p:cNvSpPr/>
            <p:nvPr/>
          </p:nvSpPr>
          <p:spPr>
            <a:xfrm>
              <a:off x="4396466" y="4574174"/>
              <a:ext cx="2566035" cy="768350"/>
            </a:xfrm>
            <a:custGeom>
              <a:avLst/>
              <a:gdLst/>
              <a:ahLst/>
              <a:cxnLst/>
              <a:rect l="l" t="t" r="r" b="b"/>
              <a:pathLst>
                <a:path w="2566034" h="768350">
                  <a:moveTo>
                    <a:pt x="2181909" y="768277"/>
                  </a:moveTo>
                  <a:lnTo>
                    <a:pt x="2181909" y="576208"/>
                  </a:lnTo>
                  <a:lnTo>
                    <a:pt x="0" y="576208"/>
                  </a:lnTo>
                  <a:lnTo>
                    <a:pt x="0" y="192069"/>
                  </a:lnTo>
                  <a:lnTo>
                    <a:pt x="2181909" y="192069"/>
                  </a:lnTo>
                  <a:lnTo>
                    <a:pt x="2181909" y="0"/>
                  </a:lnTo>
                  <a:lnTo>
                    <a:pt x="2565928" y="384138"/>
                  </a:lnTo>
                  <a:lnTo>
                    <a:pt x="2181909" y="76827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634868" y="4440606"/>
              <a:ext cx="3818254" cy="1072515"/>
            </a:xfrm>
            <a:custGeom>
              <a:avLst/>
              <a:gdLst/>
              <a:ahLst/>
              <a:cxnLst/>
              <a:rect l="l" t="t" r="r" b="b"/>
              <a:pathLst>
                <a:path w="3818255" h="1072514">
                  <a:moveTo>
                    <a:pt x="3703900" y="1072261"/>
                  </a:moveTo>
                  <a:lnTo>
                    <a:pt x="114299" y="1072261"/>
                  </a:lnTo>
                  <a:lnTo>
                    <a:pt x="91896" y="1070044"/>
                  </a:lnTo>
                  <a:lnTo>
                    <a:pt x="50886" y="1053057"/>
                  </a:lnTo>
                  <a:lnTo>
                    <a:pt x="19203" y="1021374"/>
                  </a:lnTo>
                  <a:lnTo>
                    <a:pt x="2216" y="980364"/>
                  </a:lnTo>
                  <a:lnTo>
                    <a:pt x="0" y="957961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703900" y="0"/>
                  </a:lnTo>
                  <a:lnTo>
                    <a:pt x="3747640" y="8700"/>
                  </a:lnTo>
                  <a:lnTo>
                    <a:pt x="3784721" y="33477"/>
                  </a:lnTo>
                  <a:lnTo>
                    <a:pt x="3809498" y="70559"/>
                  </a:lnTo>
                  <a:lnTo>
                    <a:pt x="3818198" y="114299"/>
                  </a:lnTo>
                  <a:lnTo>
                    <a:pt x="3818198" y="957961"/>
                  </a:lnTo>
                  <a:lnTo>
                    <a:pt x="3809498" y="1001701"/>
                  </a:lnTo>
                  <a:lnTo>
                    <a:pt x="3784721" y="1038783"/>
                  </a:lnTo>
                  <a:lnTo>
                    <a:pt x="3747640" y="1063560"/>
                  </a:lnTo>
                  <a:lnTo>
                    <a:pt x="3703900" y="1072261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11213518" y="4574174"/>
            <a:ext cx="2421890" cy="768350"/>
          </a:xfrm>
          <a:custGeom>
            <a:avLst/>
            <a:gdLst/>
            <a:ahLst/>
            <a:cxnLst/>
            <a:rect l="l" t="t" r="r" b="b"/>
            <a:pathLst>
              <a:path w="2421890" h="768350">
                <a:moveTo>
                  <a:pt x="2037210" y="768277"/>
                </a:moveTo>
                <a:lnTo>
                  <a:pt x="2037210" y="576208"/>
                </a:lnTo>
                <a:lnTo>
                  <a:pt x="0" y="576208"/>
                </a:lnTo>
                <a:lnTo>
                  <a:pt x="0" y="192069"/>
                </a:lnTo>
                <a:lnTo>
                  <a:pt x="2037210" y="192069"/>
                </a:lnTo>
                <a:lnTo>
                  <a:pt x="2037210" y="0"/>
                </a:lnTo>
                <a:lnTo>
                  <a:pt x="2421348" y="384138"/>
                </a:lnTo>
                <a:lnTo>
                  <a:pt x="2037210" y="768277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914477" y="4620308"/>
            <a:ext cx="3382010" cy="561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500">
                <a:latin typeface="Segoe UI"/>
                <a:cs typeface="Segoe UI"/>
              </a:rPr>
              <a:t>Generate </a:t>
            </a:r>
            <a:r>
              <a:rPr dirty="0" sz="3500" spc="-10">
                <a:latin typeface="Segoe UI"/>
                <a:cs typeface="Segoe UI"/>
              </a:rPr>
              <a:t>Answer</a:t>
            </a:r>
            <a:endParaRPr sz="35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1815" y="1751524"/>
            <a:ext cx="3368040" cy="1035685"/>
          </a:xfrm>
          <a:custGeom>
            <a:avLst/>
            <a:gdLst/>
            <a:ahLst/>
            <a:cxnLst/>
            <a:rect l="l" t="t" r="r" b="b"/>
            <a:pathLst>
              <a:path w="3368040" h="1035685">
                <a:moveTo>
                  <a:pt x="3253467" y="1035413"/>
                </a:moveTo>
                <a:lnTo>
                  <a:pt x="114300" y="1035413"/>
                </a:lnTo>
                <a:lnTo>
                  <a:pt x="91897" y="1033196"/>
                </a:lnTo>
                <a:lnTo>
                  <a:pt x="50886" y="1016209"/>
                </a:lnTo>
                <a:lnTo>
                  <a:pt x="19203" y="984526"/>
                </a:lnTo>
                <a:lnTo>
                  <a:pt x="2216" y="943516"/>
                </a:lnTo>
                <a:lnTo>
                  <a:pt x="0" y="921113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3253467" y="0"/>
                </a:lnTo>
                <a:lnTo>
                  <a:pt x="3297207" y="8700"/>
                </a:lnTo>
                <a:lnTo>
                  <a:pt x="3334289" y="33477"/>
                </a:lnTo>
                <a:lnTo>
                  <a:pt x="3359066" y="70559"/>
                </a:lnTo>
                <a:lnTo>
                  <a:pt x="3367767" y="114300"/>
                </a:lnTo>
                <a:lnTo>
                  <a:pt x="3367767" y="921113"/>
                </a:lnTo>
                <a:lnTo>
                  <a:pt x="3359066" y="964853"/>
                </a:lnTo>
                <a:lnTo>
                  <a:pt x="3334289" y="1001935"/>
                </a:lnTo>
                <a:lnTo>
                  <a:pt x="3297207" y="1026712"/>
                </a:lnTo>
                <a:lnTo>
                  <a:pt x="3253467" y="1035413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299582" y="1698335"/>
            <a:ext cx="6817359" cy="1089025"/>
            <a:chOff x="4299582" y="1698335"/>
            <a:chExt cx="6817359" cy="1089025"/>
          </a:xfrm>
        </p:grpSpPr>
        <p:sp>
          <p:nvSpPr>
            <p:cNvPr id="4" name="object 4"/>
            <p:cNvSpPr/>
            <p:nvPr/>
          </p:nvSpPr>
          <p:spPr>
            <a:xfrm>
              <a:off x="6865630" y="1698335"/>
              <a:ext cx="4251325" cy="1089025"/>
            </a:xfrm>
            <a:custGeom>
              <a:avLst/>
              <a:gdLst/>
              <a:ahLst/>
              <a:cxnLst/>
              <a:rect l="l" t="t" r="r" b="b"/>
              <a:pathLst>
                <a:path w="4251325" h="1089025">
                  <a:moveTo>
                    <a:pt x="4136703" y="1088603"/>
                  </a:moveTo>
                  <a:lnTo>
                    <a:pt x="114299" y="1088603"/>
                  </a:lnTo>
                  <a:lnTo>
                    <a:pt x="91897" y="1086387"/>
                  </a:lnTo>
                  <a:lnTo>
                    <a:pt x="50886" y="1069399"/>
                  </a:lnTo>
                  <a:lnTo>
                    <a:pt x="19203" y="1037717"/>
                  </a:lnTo>
                  <a:lnTo>
                    <a:pt x="2216" y="996706"/>
                  </a:lnTo>
                  <a:lnTo>
                    <a:pt x="0" y="974303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136703" y="0"/>
                  </a:lnTo>
                  <a:lnTo>
                    <a:pt x="4180444" y="8700"/>
                  </a:lnTo>
                  <a:lnTo>
                    <a:pt x="4217525" y="33477"/>
                  </a:lnTo>
                  <a:lnTo>
                    <a:pt x="4242303" y="70559"/>
                  </a:lnTo>
                  <a:lnTo>
                    <a:pt x="4251003" y="114299"/>
                  </a:lnTo>
                  <a:lnTo>
                    <a:pt x="4251003" y="974303"/>
                  </a:lnTo>
                  <a:lnTo>
                    <a:pt x="4242303" y="1018044"/>
                  </a:lnTo>
                  <a:lnTo>
                    <a:pt x="4217525" y="1055126"/>
                  </a:lnTo>
                  <a:lnTo>
                    <a:pt x="4180444" y="1079903"/>
                  </a:lnTo>
                  <a:lnTo>
                    <a:pt x="4136703" y="1088603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299582" y="1885092"/>
              <a:ext cx="2566035" cy="768350"/>
            </a:xfrm>
            <a:custGeom>
              <a:avLst/>
              <a:gdLst/>
              <a:ahLst/>
              <a:cxnLst/>
              <a:rect l="l" t="t" r="r" b="b"/>
              <a:pathLst>
                <a:path w="2566034" h="768350">
                  <a:moveTo>
                    <a:pt x="2181909" y="768277"/>
                  </a:moveTo>
                  <a:lnTo>
                    <a:pt x="2181909" y="576208"/>
                  </a:lnTo>
                  <a:lnTo>
                    <a:pt x="0" y="576208"/>
                  </a:lnTo>
                  <a:lnTo>
                    <a:pt x="0" y="192069"/>
                  </a:lnTo>
                  <a:lnTo>
                    <a:pt x="2181909" y="192069"/>
                  </a:lnTo>
                  <a:lnTo>
                    <a:pt x="2181909" y="0"/>
                  </a:lnTo>
                  <a:lnTo>
                    <a:pt x="2565928" y="384139"/>
                  </a:lnTo>
                  <a:lnTo>
                    <a:pt x="2181909" y="76827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028699" y="1751525"/>
            <a:ext cx="16544290" cy="5147310"/>
            <a:chOff x="1028699" y="1751525"/>
            <a:chExt cx="16544290" cy="5147310"/>
          </a:xfrm>
        </p:grpSpPr>
        <p:sp>
          <p:nvSpPr>
            <p:cNvPr id="7" name="object 7"/>
            <p:cNvSpPr/>
            <p:nvPr/>
          </p:nvSpPr>
          <p:spPr>
            <a:xfrm>
              <a:off x="13537983" y="1751525"/>
              <a:ext cx="3818254" cy="1072515"/>
            </a:xfrm>
            <a:custGeom>
              <a:avLst/>
              <a:gdLst/>
              <a:ahLst/>
              <a:cxnLst/>
              <a:rect l="l" t="t" r="r" b="b"/>
              <a:pathLst>
                <a:path w="3818255" h="1072514">
                  <a:moveTo>
                    <a:pt x="3703900" y="1072261"/>
                  </a:moveTo>
                  <a:lnTo>
                    <a:pt x="114299" y="1072261"/>
                  </a:lnTo>
                  <a:lnTo>
                    <a:pt x="91896" y="1070044"/>
                  </a:lnTo>
                  <a:lnTo>
                    <a:pt x="50886" y="1053057"/>
                  </a:lnTo>
                  <a:lnTo>
                    <a:pt x="19203" y="1021374"/>
                  </a:lnTo>
                  <a:lnTo>
                    <a:pt x="2216" y="980364"/>
                  </a:lnTo>
                  <a:lnTo>
                    <a:pt x="0" y="957961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703900" y="0"/>
                  </a:lnTo>
                  <a:lnTo>
                    <a:pt x="3747639" y="8700"/>
                  </a:lnTo>
                  <a:lnTo>
                    <a:pt x="3784722" y="33477"/>
                  </a:lnTo>
                  <a:lnTo>
                    <a:pt x="3809499" y="70559"/>
                  </a:lnTo>
                  <a:lnTo>
                    <a:pt x="3818200" y="114299"/>
                  </a:lnTo>
                  <a:lnTo>
                    <a:pt x="3818200" y="957961"/>
                  </a:lnTo>
                  <a:lnTo>
                    <a:pt x="3809499" y="1001701"/>
                  </a:lnTo>
                  <a:lnTo>
                    <a:pt x="3784722" y="1038783"/>
                  </a:lnTo>
                  <a:lnTo>
                    <a:pt x="3747639" y="1063560"/>
                  </a:lnTo>
                  <a:lnTo>
                    <a:pt x="3703900" y="1072261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116628" y="1885098"/>
              <a:ext cx="4714875" cy="3924300"/>
            </a:xfrm>
            <a:custGeom>
              <a:avLst/>
              <a:gdLst/>
              <a:ahLst/>
              <a:cxnLst/>
              <a:rect l="l" t="t" r="r" b="b"/>
              <a:pathLst>
                <a:path w="4714875" h="3924300">
                  <a:moveTo>
                    <a:pt x="2421344" y="384136"/>
                  </a:moveTo>
                  <a:lnTo>
                    <a:pt x="2037207" y="0"/>
                  </a:lnTo>
                  <a:lnTo>
                    <a:pt x="2037207" y="192074"/>
                  </a:lnTo>
                  <a:lnTo>
                    <a:pt x="0" y="192074"/>
                  </a:lnTo>
                  <a:lnTo>
                    <a:pt x="0" y="576211"/>
                  </a:lnTo>
                  <a:lnTo>
                    <a:pt x="2037207" y="576211"/>
                  </a:lnTo>
                  <a:lnTo>
                    <a:pt x="2037207" y="768273"/>
                  </a:lnTo>
                  <a:lnTo>
                    <a:pt x="2421344" y="384136"/>
                  </a:lnTo>
                  <a:close/>
                </a:path>
                <a:path w="4714875" h="3924300">
                  <a:moveTo>
                    <a:pt x="4714532" y="3540671"/>
                  </a:moveTo>
                  <a:lnTo>
                    <a:pt x="4522457" y="3540671"/>
                  </a:lnTo>
                  <a:lnTo>
                    <a:pt x="4522457" y="901877"/>
                  </a:lnTo>
                  <a:lnTo>
                    <a:pt x="4138320" y="901877"/>
                  </a:lnTo>
                  <a:lnTo>
                    <a:pt x="4138320" y="3540671"/>
                  </a:lnTo>
                  <a:lnTo>
                    <a:pt x="3946258" y="3540671"/>
                  </a:lnTo>
                  <a:lnTo>
                    <a:pt x="4329557" y="3923969"/>
                  </a:lnTo>
                  <a:lnTo>
                    <a:pt x="4331233" y="3923969"/>
                  </a:lnTo>
                  <a:lnTo>
                    <a:pt x="4714532" y="3540671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321582" y="5809872"/>
              <a:ext cx="4251325" cy="1089025"/>
            </a:xfrm>
            <a:custGeom>
              <a:avLst/>
              <a:gdLst/>
              <a:ahLst/>
              <a:cxnLst/>
              <a:rect l="l" t="t" r="r" b="b"/>
              <a:pathLst>
                <a:path w="4251325" h="1089025">
                  <a:moveTo>
                    <a:pt x="4136704" y="1088604"/>
                  </a:moveTo>
                  <a:lnTo>
                    <a:pt x="114299" y="1088604"/>
                  </a:lnTo>
                  <a:lnTo>
                    <a:pt x="91896" y="1086387"/>
                  </a:lnTo>
                  <a:lnTo>
                    <a:pt x="50886" y="1069400"/>
                  </a:lnTo>
                  <a:lnTo>
                    <a:pt x="19203" y="1037717"/>
                  </a:lnTo>
                  <a:lnTo>
                    <a:pt x="2216" y="996706"/>
                  </a:lnTo>
                  <a:lnTo>
                    <a:pt x="0" y="97430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136704" y="0"/>
                  </a:lnTo>
                  <a:lnTo>
                    <a:pt x="4180444" y="8700"/>
                  </a:lnTo>
                  <a:lnTo>
                    <a:pt x="4217526" y="33477"/>
                  </a:lnTo>
                  <a:lnTo>
                    <a:pt x="4242303" y="70559"/>
                  </a:lnTo>
                  <a:lnTo>
                    <a:pt x="4251004" y="114299"/>
                  </a:lnTo>
                  <a:lnTo>
                    <a:pt x="4251004" y="974304"/>
                  </a:lnTo>
                  <a:lnTo>
                    <a:pt x="4242303" y="1018044"/>
                  </a:lnTo>
                  <a:lnTo>
                    <a:pt x="4217526" y="1055125"/>
                  </a:lnTo>
                  <a:lnTo>
                    <a:pt x="4180444" y="1079903"/>
                  </a:lnTo>
                  <a:lnTo>
                    <a:pt x="4136704" y="1088604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96312" y="5984410"/>
              <a:ext cx="8925560" cy="768350"/>
            </a:xfrm>
            <a:custGeom>
              <a:avLst/>
              <a:gdLst/>
              <a:ahLst/>
              <a:cxnLst/>
              <a:rect l="l" t="t" r="r" b="b"/>
              <a:pathLst>
                <a:path w="8925560" h="768350">
                  <a:moveTo>
                    <a:pt x="384252" y="0"/>
                  </a:moveTo>
                  <a:lnTo>
                    <a:pt x="384252" y="192069"/>
                  </a:lnTo>
                  <a:lnTo>
                    <a:pt x="8925228" y="192069"/>
                  </a:lnTo>
                  <a:lnTo>
                    <a:pt x="8925228" y="576208"/>
                  </a:lnTo>
                  <a:lnTo>
                    <a:pt x="384252" y="576208"/>
                  </a:lnTo>
                  <a:lnTo>
                    <a:pt x="384252" y="768277"/>
                  </a:lnTo>
                  <a:lnTo>
                    <a:pt x="0" y="384139"/>
                  </a:lnTo>
                  <a:lnTo>
                    <a:pt x="384252" y="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8699" y="5840797"/>
              <a:ext cx="3368040" cy="1035685"/>
            </a:xfrm>
            <a:custGeom>
              <a:avLst/>
              <a:gdLst/>
              <a:ahLst/>
              <a:cxnLst/>
              <a:rect l="l" t="t" r="r" b="b"/>
              <a:pathLst>
                <a:path w="3368040" h="1035684">
                  <a:moveTo>
                    <a:pt x="3253466" y="1035412"/>
                  </a:moveTo>
                  <a:lnTo>
                    <a:pt x="114300" y="1035412"/>
                  </a:lnTo>
                  <a:lnTo>
                    <a:pt x="91897" y="1033196"/>
                  </a:lnTo>
                  <a:lnTo>
                    <a:pt x="50886" y="1016209"/>
                  </a:lnTo>
                  <a:lnTo>
                    <a:pt x="19203" y="984526"/>
                  </a:lnTo>
                  <a:lnTo>
                    <a:pt x="2216" y="943516"/>
                  </a:lnTo>
                  <a:lnTo>
                    <a:pt x="0" y="921112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253466" y="0"/>
                  </a:lnTo>
                  <a:lnTo>
                    <a:pt x="3297207" y="8700"/>
                  </a:lnTo>
                  <a:lnTo>
                    <a:pt x="3334289" y="33477"/>
                  </a:lnTo>
                  <a:lnTo>
                    <a:pt x="3359066" y="70559"/>
                  </a:lnTo>
                  <a:lnTo>
                    <a:pt x="3367766" y="114300"/>
                  </a:lnTo>
                  <a:lnTo>
                    <a:pt x="3367766" y="921112"/>
                  </a:lnTo>
                  <a:lnTo>
                    <a:pt x="3359066" y="964853"/>
                  </a:lnTo>
                  <a:lnTo>
                    <a:pt x="3334289" y="1001935"/>
                  </a:lnTo>
                  <a:lnTo>
                    <a:pt x="3297207" y="1026712"/>
                  </a:lnTo>
                  <a:lnTo>
                    <a:pt x="3253466" y="1035412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742238" y="2882899"/>
              <a:ext cx="935990" cy="270510"/>
            </a:xfrm>
            <a:custGeom>
              <a:avLst/>
              <a:gdLst/>
              <a:ahLst/>
              <a:cxnLst/>
              <a:rect l="l" t="t" r="r" b="b"/>
              <a:pathLst>
                <a:path w="935990" h="270510">
                  <a:moveTo>
                    <a:pt x="61620" y="96151"/>
                  </a:moveTo>
                  <a:lnTo>
                    <a:pt x="59207" y="89877"/>
                  </a:lnTo>
                  <a:lnTo>
                    <a:pt x="54394" y="84836"/>
                  </a:lnTo>
                  <a:lnTo>
                    <a:pt x="47993" y="82054"/>
                  </a:lnTo>
                  <a:lnTo>
                    <a:pt x="41262" y="81940"/>
                  </a:lnTo>
                  <a:lnTo>
                    <a:pt x="34988" y="84366"/>
                  </a:lnTo>
                  <a:lnTo>
                    <a:pt x="13131" y="118757"/>
                  </a:lnTo>
                  <a:lnTo>
                    <a:pt x="0" y="162344"/>
                  </a:lnTo>
                  <a:lnTo>
                    <a:pt x="6070" y="171665"/>
                  </a:lnTo>
                  <a:lnTo>
                    <a:pt x="24993" y="175653"/>
                  </a:lnTo>
                  <a:lnTo>
                    <a:pt x="34239" y="169672"/>
                  </a:lnTo>
                  <a:lnTo>
                    <a:pt x="36309" y="160274"/>
                  </a:lnTo>
                  <a:lnTo>
                    <a:pt x="36804" y="158076"/>
                  </a:lnTo>
                  <a:lnTo>
                    <a:pt x="40373" y="145376"/>
                  </a:lnTo>
                  <a:lnTo>
                    <a:pt x="45237" y="132981"/>
                  </a:lnTo>
                  <a:lnTo>
                    <a:pt x="51371" y="120942"/>
                  </a:lnTo>
                  <a:lnTo>
                    <a:pt x="58737" y="109283"/>
                  </a:lnTo>
                  <a:lnTo>
                    <a:pt x="61518" y="102882"/>
                  </a:lnTo>
                  <a:lnTo>
                    <a:pt x="61620" y="96151"/>
                  </a:lnTo>
                  <a:close/>
                </a:path>
                <a:path w="935990" h="270510">
                  <a:moveTo>
                    <a:pt x="195541" y="14490"/>
                  </a:moveTo>
                  <a:lnTo>
                    <a:pt x="193078" y="7975"/>
                  </a:lnTo>
                  <a:lnTo>
                    <a:pt x="188455" y="3073"/>
                  </a:lnTo>
                  <a:lnTo>
                    <a:pt x="182346" y="254"/>
                  </a:lnTo>
                  <a:lnTo>
                    <a:pt x="175374" y="0"/>
                  </a:lnTo>
                  <a:lnTo>
                    <a:pt x="158724" y="3365"/>
                  </a:lnTo>
                  <a:lnTo>
                    <a:pt x="110693" y="20840"/>
                  </a:lnTo>
                  <a:lnTo>
                    <a:pt x="100495" y="36563"/>
                  </a:lnTo>
                  <a:lnTo>
                    <a:pt x="100901" y="40627"/>
                  </a:lnTo>
                  <a:lnTo>
                    <a:pt x="102755" y="44361"/>
                  </a:lnTo>
                  <a:lnTo>
                    <a:pt x="107022" y="49885"/>
                  </a:lnTo>
                  <a:lnTo>
                    <a:pt x="112877" y="53213"/>
                  </a:lnTo>
                  <a:lnTo>
                    <a:pt x="119545" y="54102"/>
                  </a:lnTo>
                  <a:lnTo>
                    <a:pt x="126276" y="52298"/>
                  </a:lnTo>
                  <a:lnTo>
                    <a:pt x="139522" y="46342"/>
                  </a:lnTo>
                  <a:lnTo>
                    <a:pt x="153098" y="41389"/>
                  </a:lnTo>
                  <a:lnTo>
                    <a:pt x="166941" y="37490"/>
                  </a:lnTo>
                  <a:lnTo>
                    <a:pt x="181025" y="34645"/>
                  </a:lnTo>
                  <a:lnTo>
                    <a:pt x="187566" y="32207"/>
                  </a:lnTo>
                  <a:lnTo>
                    <a:pt x="192468" y="27584"/>
                  </a:lnTo>
                  <a:lnTo>
                    <a:pt x="195275" y="21475"/>
                  </a:lnTo>
                  <a:lnTo>
                    <a:pt x="195541" y="14490"/>
                  </a:lnTo>
                  <a:close/>
                </a:path>
                <a:path w="935990" h="270510">
                  <a:moveTo>
                    <a:pt x="935570" y="190119"/>
                  </a:moveTo>
                  <a:lnTo>
                    <a:pt x="934059" y="183299"/>
                  </a:lnTo>
                  <a:lnTo>
                    <a:pt x="930198" y="177800"/>
                  </a:lnTo>
                  <a:lnTo>
                    <a:pt x="924445" y="174117"/>
                  </a:lnTo>
                  <a:lnTo>
                    <a:pt x="917689" y="172885"/>
                  </a:lnTo>
                  <a:lnTo>
                    <a:pt x="909408" y="173037"/>
                  </a:lnTo>
                  <a:lnTo>
                    <a:pt x="902576" y="178892"/>
                  </a:lnTo>
                  <a:lnTo>
                    <a:pt x="900569" y="187960"/>
                  </a:lnTo>
                  <a:lnTo>
                    <a:pt x="900417" y="189344"/>
                  </a:lnTo>
                  <a:lnTo>
                    <a:pt x="900455" y="190766"/>
                  </a:lnTo>
                  <a:lnTo>
                    <a:pt x="900379" y="205790"/>
                  </a:lnTo>
                  <a:lnTo>
                    <a:pt x="899604" y="220713"/>
                  </a:lnTo>
                  <a:lnTo>
                    <a:pt x="898105" y="235496"/>
                  </a:lnTo>
                  <a:lnTo>
                    <a:pt x="895908" y="250075"/>
                  </a:lnTo>
                  <a:lnTo>
                    <a:pt x="896086" y="257048"/>
                  </a:lnTo>
                  <a:lnTo>
                    <a:pt x="898829" y="263194"/>
                  </a:lnTo>
                  <a:lnTo>
                    <a:pt x="903681" y="267868"/>
                  </a:lnTo>
                  <a:lnTo>
                    <a:pt x="910170" y="270408"/>
                  </a:lnTo>
                  <a:lnTo>
                    <a:pt x="917143" y="270243"/>
                  </a:lnTo>
                  <a:lnTo>
                    <a:pt x="934618" y="223443"/>
                  </a:lnTo>
                  <a:lnTo>
                    <a:pt x="935494" y="206832"/>
                  </a:lnTo>
                  <a:lnTo>
                    <a:pt x="935570" y="19011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8965" y="2963927"/>
              <a:ext cx="78014" cy="816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232493" y="3094239"/>
              <a:ext cx="60325" cy="93345"/>
            </a:xfrm>
            <a:custGeom>
              <a:avLst/>
              <a:gdLst/>
              <a:ahLst/>
              <a:cxnLst/>
              <a:rect l="l" t="t" r="r" b="b"/>
              <a:pathLst>
                <a:path w="60325" h="93344">
                  <a:moveTo>
                    <a:pt x="0" y="17467"/>
                  </a:moveTo>
                  <a:lnTo>
                    <a:pt x="1945" y="8685"/>
                  </a:lnTo>
                  <a:lnTo>
                    <a:pt x="5304" y="4155"/>
                  </a:lnTo>
                  <a:lnTo>
                    <a:pt x="10356" y="1721"/>
                  </a:lnTo>
                  <a:lnTo>
                    <a:pt x="17118" y="0"/>
                  </a:lnTo>
                  <a:lnTo>
                    <a:pt x="23778" y="971"/>
                  </a:lnTo>
                  <a:lnTo>
                    <a:pt x="44367" y="33188"/>
                  </a:lnTo>
                  <a:lnTo>
                    <a:pt x="58712" y="69743"/>
                  </a:lnTo>
                  <a:lnTo>
                    <a:pt x="59714" y="76641"/>
                  </a:lnTo>
                  <a:lnTo>
                    <a:pt x="58049" y="83164"/>
                  </a:lnTo>
                  <a:lnTo>
                    <a:pt x="54062" y="88587"/>
                  </a:lnTo>
                  <a:lnTo>
                    <a:pt x="48093" y="92188"/>
                  </a:lnTo>
                  <a:lnTo>
                    <a:pt x="41195" y="93190"/>
                  </a:lnTo>
                  <a:lnTo>
                    <a:pt x="34673" y="91526"/>
                  </a:lnTo>
                  <a:lnTo>
                    <a:pt x="29249" y="87538"/>
                  </a:lnTo>
                  <a:lnTo>
                    <a:pt x="25648" y="81570"/>
                  </a:lnTo>
                  <a:lnTo>
                    <a:pt x="24252" y="77682"/>
                  </a:lnTo>
                  <a:lnTo>
                    <a:pt x="22802" y="73758"/>
                  </a:lnTo>
                  <a:lnTo>
                    <a:pt x="7201" y="35976"/>
                  </a:lnTo>
                  <a:lnTo>
                    <a:pt x="373" y="21465"/>
                  </a:lnTo>
                  <a:lnTo>
                    <a:pt x="0" y="1746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1413" y="3210965"/>
              <a:ext cx="70006" cy="8785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12038" y="4148462"/>
              <a:ext cx="98425" cy="41275"/>
            </a:xfrm>
            <a:custGeom>
              <a:avLst/>
              <a:gdLst/>
              <a:ahLst/>
              <a:cxnLst/>
              <a:rect l="l" t="t" r="r" b="b"/>
              <a:pathLst>
                <a:path w="98425" h="41275">
                  <a:moveTo>
                    <a:pt x="136" y="21180"/>
                  </a:moveTo>
                  <a:lnTo>
                    <a:pt x="2131" y="12171"/>
                  </a:lnTo>
                  <a:lnTo>
                    <a:pt x="8387" y="6438"/>
                  </a:lnTo>
                  <a:lnTo>
                    <a:pt x="16268" y="5815"/>
                  </a:lnTo>
                  <a:lnTo>
                    <a:pt x="32033" y="4503"/>
                  </a:lnTo>
                  <a:lnTo>
                    <a:pt x="47690" y="3092"/>
                  </a:lnTo>
                  <a:lnTo>
                    <a:pt x="63181" y="1585"/>
                  </a:lnTo>
                  <a:lnTo>
                    <a:pt x="78446" y="0"/>
                  </a:lnTo>
                  <a:lnTo>
                    <a:pt x="85393" y="629"/>
                  </a:lnTo>
                  <a:lnTo>
                    <a:pt x="91350" y="3766"/>
                  </a:lnTo>
                  <a:lnTo>
                    <a:pt x="95695" y="8909"/>
                  </a:lnTo>
                  <a:lnTo>
                    <a:pt x="97803" y="15557"/>
                  </a:lnTo>
                  <a:lnTo>
                    <a:pt x="97173" y="22505"/>
                  </a:lnTo>
                  <a:lnTo>
                    <a:pt x="50977" y="38066"/>
                  </a:lnTo>
                  <a:lnTo>
                    <a:pt x="19048" y="40828"/>
                  </a:lnTo>
                  <a:lnTo>
                    <a:pt x="12124" y="39991"/>
                  </a:lnTo>
                  <a:lnTo>
                    <a:pt x="6260" y="36682"/>
                  </a:lnTo>
                  <a:lnTo>
                    <a:pt x="2066" y="31416"/>
                  </a:lnTo>
                  <a:lnTo>
                    <a:pt x="151" y="24711"/>
                  </a:lnTo>
                  <a:lnTo>
                    <a:pt x="0" y="22920"/>
                  </a:lnTo>
                  <a:lnTo>
                    <a:pt x="136" y="2118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9046" y="3332657"/>
              <a:ext cx="88650" cy="683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51243" y="2885413"/>
              <a:ext cx="943610" cy="1311910"/>
            </a:xfrm>
            <a:custGeom>
              <a:avLst/>
              <a:gdLst/>
              <a:ahLst/>
              <a:cxnLst/>
              <a:rect l="l" t="t" r="r" b="b"/>
              <a:pathLst>
                <a:path w="943609" h="1311910">
                  <a:moveTo>
                    <a:pt x="98082" y="1291450"/>
                  </a:moveTo>
                  <a:lnTo>
                    <a:pt x="96418" y="1284681"/>
                  </a:lnTo>
                  <a:lnTo>
                    <a:pt x="92430" y="1279258"/>
                  </a:lnTo>
                  <a:lnTo>
                    <a:pt x="86690" y="1275727"/>
                  </a:lnTo>
                  <a:lnTo>
                    <a:pt x="79819" y="1274635"/>
                  </a:lnTo>
                  <a:lnTo>
                    <a:pt x="64541" y="1275219"/>
                  </a:lnTo>
                  <a:lnTo>
                    <a:pt x="48983" y="1275740"/>
                  </a:lnTo>
                  <a:lnTo>
                    <a:pt x="33197" y="1276184"/>
                  </a:lnTo>
                  <a:lnTo>
                    <a:pt x="8978" y="1276743"/>
                  </a:lnTo>
                  <a:lnTo>
                    <a:pt x="2159" y="1282585"/>
                  </a:lnTo>
                  <a:lnTo>
                    <a:pt x="152" y="1291640"/>
                  </a:lnTo>
                  <a:lnTo>
                    <a:pt x="0" y="1293037"/>
                  </a:lnTo>
                  <a:lnTo>
                    <a:pt x="38" y="1294472"/>
                  </a:lnTo>
                  <a:lnTo>
                    <a:pt x="1562" y="1301267"/>
                  </a:lnTo>
                  <a:lnTo>
                    <a:pt x="5435" y="1306779"/>
                  </a:lnTo>
                  <a:lnTo>
                    <a:pt x="11099" y="1310424"/>
                  </a:lnTo>
                  <a:lnTo>
                    <a:pt x="17957" y="1311656"/>
                  </a:lnTo>
                  <a:lnTo>
                    <a:pt x="34099" y="1311275"/>
                  </a:lnTo>
                  <a:lnTo>
                    <a:pt x="81254" y="1309712"/>
                  </a:lnTo>
                  <a:lnTo>
                    <a:pt x="96977" y="1298333"/>
                  </a:lnTo>
                  <a:lnTo>
                    <a:pt x="98082" y="1291450"/>
                  </a:lnTo>
                  <a:close/>
                </a:path>
                <a:path w="943609" h="1311910">
                  <a:moveTo>
                    <a:pt x="943229" y="41503"/>
                  </a:moveTo>
                  <a:lnTo>
                    <a:pt x="902296" y="11772"/>
                  </a:lnTo>
                  <a:lnTo>
                    <a:pt x="861237" y="0"/>
                  </a:lnTo>
                  <a:lnTo>
                    <a:pt x="851750" y="5791"/>
                  </a:lnTo>
                  <a:lnTo>
                    <a:pt x="849401" y="15557"/>
                  </a:lnTo>
                  <a:lnTo>
                    <a:pt x="847331" y="24879"/>
                  </a:lnTo>
                  <a:lnTo>
                    <a:pt x="853109" y="34175"/>
                  </a:lnTo>
                  <a:lnTo>
                    <a:pt x="862418" y="36423"/>
                  </a:lnTo>
                  <a:lnTo>
                    <a:pt x="876490" y="40233"/>
                  </a:lnTo>
                  <a:lnTo>
                    <a:pt x="890473" y="44843"/>
                  </a:lnTo>
                  <a:lnTo>
                    <a:pt x="904354" y="50266"/>
                  </a:lnTo>
                  <a:lnTo>
                    <a:pt x="918057" y="56451"/>
                  </a:lnTo>
                  <a:lnTo>
                    <a:pt x="924801" y="58178"/>
                  </a:lnTo>
                  <a:lnTo>
                    <a:pt x="931468" y="57213"/>
                  </a:lnTo>
                  <a:lnTo>
                    <a:pt x="937285" y="53822"/>
                  </a:lnTo>
                  <a:lnTo>
                    <a:pt x="941501" y="48260"/>
                  </a:lnTo>
                  <a:lnTo>
                    <a:pt x="943229" y="41503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1389" y="3118368"/>
              <a:ext cx="63527" cy="907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01516" y="2777477"/>
              <a:ext cx="82241" cy="776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781265" y="2900882"/>
              <a:ext cx="881380" cy="1183640"/>
            </a:xfrm>
            <a:custGeom>
              <a:avLst/>
              <a:gdLst/>
              <a:ahLst/>
              <a:cxnLst/>
              <a:rect l="l" t="t" r="r" b="b"/>
              <a:pathLst>
                <a:path w="881379" h="1183639">
                  <a:moveTo>
                    <a:pt x="92773" y="1138796"/>
                  </a:moveTo>
                  <a:lnTo>
                    <a:pt x="91008" y="1132052"/>
                  </a:lnTo>
                  <a:lnTo>
                    <a:pt x="86766" y="1126515"/>
                  </a:lnTo>
                  <a:lnTo>
                    <a:pt x="80937" y="1123149"/>
                  </a:lnTo>
                  <a:lnTo>
                    <a:pt x="74269" y="1122222"/>
                  </a:lnTo>
                  <a:lnTo>
                    <a:pt x="67513" y="1123988"/>
                  </a:lnTo>
                  <a:lnTo>
                    <a:pt x="53657" y="1130655"/>
                  </a:lnTo>
                  <a:lnTo>
                    <a:pt x="39598" y="1137170"/>
                  </a:lnTo>
                  <a:lnTo>
                    <a:pt x="25387" y="1143508"/>
                  </a:lnTo>
                  <a:lnTo>
                    <a:pt x="11087" y="1149654"/>
                  </a:lnTo>
                  <a:lnTo>
                    <a:pt x="5651" y="1151953"/>
                  </a:lnTo>
                  <a:lnTo>
                    <a:pt x="1955" y="1156690"/>
                  </a:lnTo>
                  <a:lnTo>
                    <a:pt x="0" y="1165491"/>
                  </a:lnTo>
                  <a:lnTo>
                    <a:pt x="279" y="1169174"/>
                  </a:lnTo>
                  <a:lnTo>
                    <a:pt x="1727" y="1172667"/>
                  </a:lnTo>
                  <a:lnTo>
                    <a:pt x="5664" y="1178433"/>
                  </a:lnTo>
                  <a:lnTo>
                    <a:pt x="11303" y="1182103"/>
                  </a:lnTo>
                  <a:lnTo>
                    <a:pt x="17907" y="1183398"/>
                  </a:lnTo>
                  <a:lnTo>
                    <a:pt x="24739" y="1182014"/>
                  </a:lnTo>
                  <a:lnTo>
                    <a:pt x="68630" y="1162405"/>
                  </a:lnTo>
                  <a:lnTo>
                    <a:pt x="91846" y="1145463"/>
                  </a:lnTo>
                  <a:lnTo>
                    <a:pt x="92773" y="1138796"/>
                  </a:lnTo>
                  <a:close/>
                </a:path>
                <a:path w="881379" h="1183639">
                  <a:moveTo>
                    <a:pt x="545846" y="424129"/>
                  </a:moveTo>
                  <a:lnTo>
                    <a:pt x="539445" y="376034"/>
                  </a:lnTo>
                  <a:lnTo>
                    <a:pt x="515962" y="346290"/>
                  </a:lnTo>
                  <a:lnTo>
                    <a:pt x="508889" y="347662"/>
                  </a:lnTo>
                  <a:lnTo>
                    <a:pt x="503631" y="353123"/>
                  </a:lnTo>
                  <a:lnTo>
                    <a:pt x="501650" y="362026"/>
                  </a:lnTo>
                  <a:lnTo>
                    <a:pt x="501599" y="364439"/>
                  </a:lnTo>
                  <a:lnTo>
                    <a:pt x="502081" y="366877"/>
                  </a:lnTo>
                  <a:lnTo>
                    <a:pt x="504812" y="381914"/>
                  </a:lnTo>
                  <a:lnTo>
                    <a:pt x="507199" y="397065"/>
                  </a:lnTo>
                  <a:lnTo>
                    <a:pt x="509231" y="412280"/>
                  </a:lnTo>
                  <a:lnTo>
                    <a:pt x="510882" y="427507"/>
                  </a:lnTo>
                  <a:lnTo>
                    <a:pt x="512914" y="434187"/>
                  </a:lnTo>
                  <a:lnTo>
                    <a:pt x="517194" y="439369"/>
                  </a:lnTo>
                  <a:lnTo>
                    <a:pt x="523113" y="442582"/>
                  </a:lnTo>
                  <a:lnTo>
                    <a:pt x="530059" y="443306"/>
                  </a:lnTo>
                  <a:lnTo>
                    <a:pt x="536727" y="441274"/>
                  </a:lnTo>
                  <a:lnTo>
                    <a:pt x="541921" y="436994"/>
                  </a:lnTo>
                  <a:lnTo>
                    <a:pt x="545134" y="431076"/>
                  </a:lnTo>
                  <a:lnTo>
                    <a:pt x="545846" y="424129"/>
                  </a:lnTo>
                  <a:close/>
                </a:path>
                <a:path w="881379" h="1183639">
                  <a:moveTo>
                    <a:pt x="880960" y="77736"/>
                  </a:moveTo>
                  <a:lnTo>
                    <a:pt x="869353" y="39725"/>
                  </a:lnTo>
                  <a:lnTo>
                    <a:pt x="851484" y="4140"/>
                  </a:lnTo>
                  <a:lnTo>
                    <a:pt x="838936" y="0"/>
                  </a:lnTo>
                  <a:lnTo>
                    <a:pt x="832205" y="1828"/>
                  </a:lnTo>
                  <a:lnTo>
                    <a:pt x="827303" y="4292"/>
                  </a:lnTo>
                  <a:lnTo>
                    <a:pt x="824052" y="8750"/>
                  </a:lnTo>
                  <a:lnTo>
                    <a:pt x="822109" y="17538"/>
                  </a:lnTo>
                  <a:lnTo>
                    <a:pt x="822515" y="21653"/>
                  </a:lnTo>
                  <a:lnTo>
                    <a:pt x="824407" y="25412"/>
                  </a:lnTo>
                  <a:lnTo>
                    <a:pt x="830859" y="38963"/>
                  </a:lnTo>
                  <a:lnTo>
                    <a:pt x="836739" y="52781"/>
                  </a:lnTo>
                  <a:lnTo>
                    <a:pt x="842022" y="66827"/>
                  </a:lnTo>
                  <a:lnTo>
                    <a:pt x="846696" y="81038"/>
                  </a:lnTo>
                  <a:lnTo>
                    <a:pt x="850011" y="87172"/>
                  </a:lnTo>
                  <a:lnTo>
                    <a:pt x="855230" y="91414"/>
                  </a:lnTo>
                  <a:lnTo>
                    <a:pt x="861669" y="93383"/>
                  </a:lnTo>
                  <a:lnTo>
                    <a:pt x="868603" y="92710"/>
                  </a:lnTo>
                  <a:lnTo>
                    <a:pt x="874737" y="89395"/>
                  </a:lnTo>
                  <a:lnTo>
                    <a:pt x="878979" y="84162"/>
                  </a:lnTo>
                  <a:lnTo>
                    <a:pt x="880960" y="77736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4465" y="3941893"/>
              <a:ext cx="88071" cy="690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6574" y="3245143"/>
              <a:ext cx="87703" cy="7058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71890" y="4124407"/>
              <a:ext cx="97155" cy="46355"/>
            </a:xfrm>
            <a:custGeom>
              <a:avLst/>
              <a:gdLst/>
              <a:ahLst/>
              <a:cxnLst/>
              <a:rect l="l" t="t" r="r" b="b"/>
              <a:pathLst>
                <a:path w="97154" h="46354">
                  <a:moveTo>
                    <a:pt x="84" y="26743"/>
                  </a:moveTo>
                  <a:lnTo>
                    <a:pt x="550" y="24640"/>
                  </a:lnTo>
                  <a:lnTo>
                    <a:pt x="2058" y="17830"/>
                  </a:lnTo>
                  <a:lnTo>
                    <a:pt x="7573" y="12294"/>
                  </a:lnTo>
                  <a:lnTo>
                    <a:pt x="14891" y="11110"/>
                  </a:lnTo>
                  <a:lnTo>
                    <a:pt x="30395" y="8523"/>
                  </a:lnTo>
                  <a:lnTo>
                    <a:pt x="45815" y="5803"/>
                  </a:lnTo>
                  <a:lnTo>
                    <a:pt x="61097" y="2959"/>
                  </a:lnTo>
                  <a:lnTo>
                    <a:pt x="76185" y="0"/>
                  </a:lnTo>
                  <a:lnTo>
                    <a:pt x="83160" y="6"/>
                  </a:lnTo>
                  <a:lnTo>
                    <a:pt x="89376" y="2595"/>
                  </a:lnTo>
                  <a:lnTo>
                    <a:pt x="94165" y="7325"/>
                  </a:lnTo>
                  <a:lnTo>
                    <a:pt x="96864" y="13755"/>
                  </a:lnTo>
                  <a:lnTo>
                    <a:pt x="96857" y="20731"/>
                  </a:lnTo>
                  <a:lnTo>
                    <a:pt x="52085" y="40359"/>
                  </a:lnTo>
                  <a:lnTo>
                    <a:pt x="20492" y="45775"/>
                  </a:lnTo>
                  <a:lnTo>
                    <a:pt x="13527" y="45502"/>
                  </a:lnTo>
                  <a:lnTo>
                    <a:pt x="7417" y="42677"/>
                  </a:lnTo>
                  <a:lnTo>
                    <a:pt x="2811" y="37767"/>
                  </a:lnTo>
                  <a:lnTo>
                    <a:pt x="359" y="31242"/>
                  </a:lnTo>
                  <a:lnTo>
                    <a:pt x="0" y="28981"/>
                  </a:lnTo>
                  <a:lnTo>
                    <a:pt x="84" y="26743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54102" y="3837891"/>
              <a:ext cx="81550" cy="7834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629259" y="3327285"/>
              <a:ext cx="672465" cy="809625"/>
            </a:xfrm>
            <a:custGeom>
              <a:avLst/>
              <a:gdLst/>
              <a:ahLst/>
              <a:cxnLst/>
              <a:rect l="l" t="t" r="r" b="b"/>
              <a:pathLst>
                <a:path w="672465" h="809625">
                  <a:moveTo>
                    <a:pt x="95580" y="775246"/>
                  </a:moveTo>
                  <a:lnTo>
                    <a:pt x="94754" y="768324"/>
                  </a:lnTo>
                  <a:lnTo>
                    <a:pt x="91313" y="762266"/>
                  </a:lnTo>
                  <a:lnTo>
                    <a:pt x="86004" y="758126"/>
                  </a:lnTo>
                  <a:lnTo>
                    <a:pt x="79527" y="756297"/>
                  </a:lnTo>
                  <a:lnTo>
                    <a:pt x="72605" y="757123"/>
                  </a:lnTo>
                  <a:lnTo>
                    <a:pt x="57886" y="761847"/>
                  </a:lnTo>
                  <a:lnTo>
                    <a:pt x="43027" y="766406"/>
                  </a:lnTo>
                  <a:lnTo>
                    <a:pt x="28092" y="770775"/>
                  </a:lnTo>
                  <a:lnTo>
                    <a:pt x="13131" y="774954"/>
                  </a:lnTo>
                  <a:lnTo>
                    <a:pt x="6616" y="776732"/>
                  </a:lnTo>
                  <a:lnTo>
                    <a:pt x="1968" y="781939"/>
                  </a:lnTo>
                  <a:lnTo>
                    <a:pt x="0" y="790803"/>
                  </a:lnTo>
                  <a:lnTo>
                    <a:pt x="25" y="793673"/>
                  </a:lnTo>
                  <a:lnTo>
                    <a:pt x="812" y="796518"/>
                  </a:lnTo>
                  <a:lnTo>
                    <a:pt x="3937" y="802741"/>
                  </a:lnTo>
                  <a:lnTo>
                    <a:pt x="9029" y="807148"/>
                  </a:lnTo>
                  <a:lnTo>
                    <a:pt x="15405" y="809307"/>
                  </a:lnTo>
                  <a:lnTo>
                    <a:pt x="22364" y="808837"/>
                  </a:lnTo>
                  <a:lnTo>
                    <a:pt x="37757" y="804545"/>
                  </a:lnTo>
                  <a:lnTo>
                    <a:pt x="53111" y="800049"/>
                  </a:lnTo>
                  <a:lnTo>
                    <a:pt x="68402" y="795350"/>
                  </a:lnTo>
                  <a:lnTo>
                    <a:pt x="83553" y="790486"/>
                  </a:lnTo>
                  <a:lnTo>
                    <a:pt x="89611" y="787031"/>
                  </a:lnTo>
                  <a:lnTo>
                    <a:pt x="93738" y="781723"/>
                  </a:lnTo>
                  <a:lnTo>
                    <a:pt x="95580" y="775246"/>
                  </a:lnTo>
                  <a:close/>
                </a:path>
                <a:path w="672465" h="809625">
                  <a:moveTo>
                    <a:pt x="448983" y="43243"/>
                  </a:moveTo>
                  <a:lnTo>
                    <a:pt x="447649" y="36652"/>
                  </a:lnTo>
                  <a:lnTo>
                    <a:pt x="443928" y="31038"/>
                  </a:lnTo>
                  <a:lnTo>
                    <a:pt x="438137" y="27152"/>
                  </a:lnTo>
                  <a:lnTo>
                    <a:pt x="424319" y="21310"/>
                  </a:lnTo>
                  <a:lnTo>
                    <a:pt x="410273" y="15113"/>
                  </a:lnTo>
                  <a:lnTo>
                    <a:pt x="396036" y="8572"/>
                  </a:lnTo>
                  <a:lnTo>
                    <a:pt x="381660" y="1727"/>
                  </a:lnTo>
                  <a:lnTo>
                    <a:pt x="374904" y="0"/>
                  </a:lnTo>
                  <a:lnTo>
                    <a:pt x="355130" y="21513"/>
                  </a:lnTo>
                  <a:lnTo>
                    <a:pt x="358889" y="29730"/>
                  </a:lnTo>
                  <a:lnTo>
                    <a:pt x="395909" y="47155"/>
                  </a:lnTo>
                  <a:lnTo>
                    <a:pt x="431558" y="60947"/>
                  </a:lnTo>
                  <a:lnTo>
                    <a:pt x="438162" y="59601"/>
                  </a:lnTo>
                  <a:lnTo>
                    <a:pt x="443776" y="55880"/>
                  </a:lnTo>
                  <a:lnTo>
                    <a:pt x="447649" y="50101"/>
                  </a:lnTo>
                  <a:lnTo>
                    <a:pt x="448983" y="43243"/>
                  </a:lnTo>
                  <a:close/>
                </a:path>
                <a:path w="672465" h="809625">
                  <a:moveTo>
                    <a:pt x="602729" y="92278"/>
                  </a:moveTo>
                  <a:lnTo>
                    <a:pt x="581393" y="70827"/>
                  </a:lnTo>
                  <a:lnTo>
                    <a:pt x="574395" y="69507"/>
                  </a:lnTo>
                  <a:lnTo>
                    <a:pt x="536651" y="60833"/>
                  </a:lnTo>
                  <a:lnTo>
                    <a:pt x="528701" y="58686"/>
                  </a:lnTo>
                  <a:lnTo>
                    <a:pt x="521741" y="58191"/>
                  </a:lnTo>
                  <a:lnTo>
                    <a:pt x="504863" y="80886"/>
                  </a:lnTo>
                  <a:lnTo>
                    <a:pt x="510273" y="90017"/>
                  </a:lnTo>
                  <a:lnTo>
                    <a:pt x="552704" y="100850"/>
                  </a:lnTo>
                  <a:lnTo>
                    <a:pt x="582510" y="106667"/>
                  </a:lnTo>
                  <a:lnTo>
                    <a:pt x="589483" y="106438"/>
                  </a:lnTo>
                  <a:lnTo>
                    <a:pt x="595617" y="103644"/>
                  </a:lnTo>
                  <a:lnTo>
                    <a:pt x="600252" y="98767"/>
                  </a:lnTo>
                  <a:lnTo>
                    <a:pt x="602729" y="92278"/>
                  </a:lnTo>
                  <a:close/>
                </a:path>
                <a:path w="672465" h="809625">
                  <a:moveTo>
                    <a:pt x="672058" y="253847"/>
                  </a:moveTo>
                  <a:lnTo>
                    <a:pt x="670102" y="247396"/>
                  </a:lnTo>
                  <a:lnTo>
                    <a:pt x="665886" y="242163"/>
                  </a:lnTo>
                  <a:lnTo>
                    <a:pt x="659765" y="238810"/>
                  </a:lnTo>
                  <a:lnTo>
                    <a:pt x="652830" y="238112"/>
                  </a:lnTo>
                  <a:lnTo>
                    <a:pt x="646379" y="240068"/>
                  </a:lnTo>
                  <a:lnTo>
                    <a:pt x="641134" y="244284"/>
                  </a:lnTo>
                  <a:lnTo>
                    <a:pt x="637806" y="250405"/>
                  </a:lnTo>
                  <a:lnTo>
                    <a:pt x="633095" y="264985"/>
                  </a:lnTo>
                  <a:lnTo>
                    <a:pt x="628015" y="279463"/>
                  </a:lnTo>
                  <a:lnTo>
                    <a:pt x="622579" y="293776"/>
                  </a:lnTo>
                  <a:lnTo>
                    <a:pt x="616407" y="308889"/>
                  </a:lnTo>
                  <a:lnTo>
                    <a:pt x="616077" y="309918"/>
                  </a:lnTo>
                  <a:lnTo>
                    <a:pt x="614057" y="319049"/>
                  </a:lnTo>
                  <a:lnTo>
                    <a:pt x="618236" y="327545"/>
                  </a:lnTo>
                  <a:lnTo>
                    <a:pt x="626160" y="330898"/>
                  </a:lnTo>
                  <a:lnTo>
                    <a:pt x="632993" y="332282"/>
                  </a:lnTo>
                  <a:lnTo>
                    <a:pt x="639597" y="331000"/>
                  </a:lnTo>
                  <a:lnTo>
                    <a:pt x="661009" y="291515"/>
                  </a:lnTo>
                  <a:lnTo>
                    <a:pt x="671360" y="260781"/>
                  </a:lnTo>
                  <a:lnTo>
                    <a:pt x="672058" y="25384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88206" y="3398739"/>
              <a:ext cx="103843" cy="1059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3341" y="3711705"/>
              <a:ext cx="71340" cy="8677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853959" y="4032333"/>
              <a:ext cx="267335" cy="294640"/>
            </a:xfrm>
            <a:custGeom>
              <a:avLst/>
              <a:gdLst/>
              <a:ahLst/>
              <a:cxnLst/>
              <a:rect l="l" t="t" r="r" b="b"/>
              <a:pathLst>
                <a:path w="267334" h="294639">
                  <a:moveTo>
                    <a:pt x="0" y="143049"/>
                  </a:moveTo>
                  <a:lnTo>
                    <a:pt x="5093" y="124627"/>
                  </a:lnTo>
                  <a:lnTo>
                    <a:pt x="19608" y="110496"/>
                  </a:lnTo>
                  <a:lnTo>
                    <a:pt x="210844" y="4776"/>
                  </a:lnTo>
                  <a:lnTo>
                    <a:pt x="230531" y="0"/>
                  </a:lnTo>
                  <a:lnTo>
                    <a:pt x="248840" y="5484"/>
                  </a:lnTo>
                  <a:lnTo>
                    <a:pt x="262248" y="19106"/>
                  </a:lnTo>
                  <a:lnTo>
                    <a:pt x="267228" y="38745"/>
                  </a:lnTo>
                  <a:lnTo>
                    <a:pt x="263155" y="257255"/>
                  </a:lnTo>
                  <a:lnTo>
                    <a:pt x="257450" y="276683"/>
                  </a:lnTo>
                  <a:lnTo>
                    <a:pt x="243545" y="289799"/>
                  </a:lnTo>
                  <a:lnTo>
                    <a:pt x="225044" y="294599"/>
                  </a:lnTo>
                  <a:lnTo>
                    <a:pt x="205549" y="289092"/>
                  </a:lnTo>
                  <a:lnTo>
                    <a:pt x="18386" y="176302"/>
                  </a:lnTo>
                  <a:lnTo>
                    <a:pt x="4405" y="161645"/>
                  </a:lnTo>
                  <a:lnTo>
                    <a:pt x="0" y="14304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441065">
              <a:lnSpc>
                <a:spcPct val="100000"/>
              </a:lnSpc>
              <a:spcBef>
                <a:spcPts val="95"/>
              </a:spcBef>
            </a:pPr>
            <a:r>
              <a:rPr dirty="0" sz="4050" spc="635" i="1">
                <a:solidFill>
                  <a:srgbClr val="000000"/>
                </a:solidFill>
                <a:latin typeface="Cambria"/>
                <a:cs typeface="Cambria"/>
              </a:rPr>
              <a:t>How</a:t>
            </a:r>
            <a:r>
              <a:rPr dirty="0" sz="4050" spc="65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55" i="1">
                <a:solidFill>
                  <a:srgbClr val="000000"/>
                </a:solidFill>
                <a:latin typeface="Cambria"/>
                <a:cs typeface="Cambria"/>
              </a:rPr>
              <a:t>Does</a:t>
            </a:r>
            <a:r>
              <a:rPr dirty="0" sz="4050" spc="655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35" i="1">
                <a:solidFill>
                  <a:srgbClr val="000000"/>
                </a:solidFill>
                <a:latin typeface="Cambria"/>
                <a:cs typeface="Cambria"/>
              </a:rPr>
              <a:t>It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95" i="1">
                <a:solidFill>
                  <a:srgbClr val="000000"/>
                </a:solidFill>
                <a:latin typeface="Cambria"/>
                <a:cs typeface="Cambria"/>
              </a:rPr>
              <a:t>Work?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52500" y="1948520"/>
            <a:ext cx="2926715" cy="58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50">
                <a:latin typeface="Segoe UI"/>
                <a:cs typeface="Segoe UI"/>
              </a:rPr>
              <a:t>User</a:t>
            </a:r>
            <a:r>
              <a:rPr dirty="0" sz="3650" spc="-80">
                <a:latin typeface="Segoe UI"/>
                <a:cs typeface="Segoe UI"/>
              </a:rPr>
              <a:t> </a:t>
            </a:r>
            <a:r>
              <a:rPr dirty="0" sz="3650" spc="-10">
                <a:latin typeface="Segoe UI"/>
                <a:cs typeface="Segoe UI"/>
              </a:rPr>
              <a:t>Question</a:t>
            </a:r>
            <a:endParaRPr sz="36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43984" y="1924100"/>
            <a:ext cx="3743325" cy="603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800" spc="-20">
                <a:latin typeface="Segoe UI"/>
                <a:cs typeface="Segoe UI"/>
              </a:rPr>
              <a:t>BioBERT</a:t>
            </a:r>
            <a:r>
              <a:rPr dirty="0" sz="3800" spc="-204">
                <a:latin typeface="Segoe UI"/>
                <a:cs typeface="Segoe UI"/>
              </a:rPr>
              <a:t> </a:t>
            </a:r>
            <a:r>
              <a:rPr dirty="0" sz="3800" spc="-10">
                <a:latin typeface="Segoe UI"/>
                <a:cs typeface="Segoe UI"/>
              </a:rPr>
              <a:t>Classifier</a:t>
            </a:r>
            <a:endParaRPr sz="38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02791" y="1908775"/>
            <a:ext cx="328866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>
                <a:latin typeface="Segoe UI"/>
                <a:cs typeface="Segoe UI"/>
              </a:rPr>
              <a:t>FAISS</a:t>
            </a:r>
            <a:r>
              <a:rPr dirty="0" sz="3950" spc="-215">
                <a:latin typeface="Segoe UI"/>
                <a:cs typeface="Segoe UI"/>
              </a:rPr>
              <a:t> </a:t>
            </a:r>
            <a:r>
              <a:rPr dirty="0" sz="3950" spc="-10">
                <a:latin typeface="Segoe UI"/>
                <a:cs typeface="Segoe UI"/>
              </a:rPr>
              <a:t>Retrieval</a:t>
            </a:r>
            <a:endParaRPr sz="39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1424" y="3858654"/>
            <a:ext cx="1905635" cy="642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355" i="1">
                <a:latin typeface="Cambria"/>
                <a:cs typeface="Cambria"/>
              </a:rPr>
              <a:t>Predict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602837" y="3858654"/>
            <a:ext cx="2214245" cy="642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385" i="1">
                <a:latin typeface="Cambria"/>
                <a:cs typeface="Cambria"/>
              </a:rPr>
              <a:t>Retrieve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05898" y="6057796"/>
            <a:ext cx="3206115" cy="573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>
                <a:latin typeface="Segoe UI"/>
                <a:cs typeface="Segoe UI"/>
              </a:rPr>
              <a:t>Medical</a:t>
            </a:r>
            <a:r>
              <a:rPr dirty="0" sz="3600" spc="-160">
                <a:latin typeface="Segoe UI"/>
                <a:cs typeface="Segoe UI"/>
              </a:rPr>
              <a:t> </a:t>
            </a:r>
            <a:r>
              <a:rPr dirty="0" sz="3600" spc="-10">
                <a:latin typeface="Segoe UI"/>
                <a:cs typeface="Segoe UI"/>
              </a:rPr>
              <a:t>Answer</a:t>
            </a:r>
            <a:endParaRPr sz="36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802791" y="5903361"/>
            <a:ext cx="3467735" cy="8394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350">
                <a:latin typeface="Segoe UI"/>
                <a:cs typeface="Segoe UI"/>
              </a:rPr>
              <a:t>Groq</a:t>
            </a:r>
            <a:r>
              <a:rPr dirty="0" sz="5350" spc="-125">
                <a:latin typeface="Segoe UI"/>
                <a:cs typeface="Segoe UI"/>
              </a:rPr>
              <a:t> </a:t>
            </a:r>
            <a:r>
              <a:rPr dirty="0" sz="5350" spc="-20">
                <a:latin typeface="Segoe UI"/>
                <a:cs typeface="Segoe UI"/>
              </a:rPr>
              <a:t>Llama</a:t>
            </a:r>
            <a:endParaRPr sz="5350">
              <a:latin typeface="Segoe UI"/>
              <a:cs typeface="Segoe U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2887305" y="2857856"/>
            <a:ext cx="2299335" cy="4074795"/>
            <a:chOff x="12887305" y="2857856"/>
            <a:chExt cx="2299335" cy="4074795"/>
          </a:xfrm>
        </p:grpSpPr>
        <p:sp>
          <p:nvSpPr>
            <p:cNvPr id="38" name="object 38"/>
            <p:cNvSpPr/>
            <p:nvPr/>
          </p:nvSpPr>
          <p:spPr>
            <a:xfrm>
              <a:off x="13775576" y="2963277"/>
              <a:ext cx="935990" cy="270510"/>
            </a:xfrm>
            <a:custGeom>
              <a:avLst/>
              <a:gdLst/>
              <a:ahLst/>
              <a:cxnLst/>
              <a:rect l="l" t="t" r="r" b="b"/>
              <a:pathLst>
                <a:path w="935990" h="270510">
                  <a:moveTo>
                    <a:pt x="61633" y="96151"/>
                  </a:moveTo>
                  <a:lnTo>
                    <a:pt x="59207" y="89877"/>
                  </a:lnTo>
                  <a:lnTo>
                    <a:pt x="54394" y="84836"/>
                  </a:lnTo>
                  <a:lnTo>
                    <a:pt x="48006" y="82054"/>
                  </a:lnTo>
                  <a:lnTo>
                    <a:pt x="41275" y="81940"/>
                  </a:lnTo>
                  <a:lnTo>
                    <a:pt x="34988" y="84366"/>
                  </a:lnTo>
                  <a:lnTo>
                    <a:pt x="13144" y="118757"/>
                  </a:lnTo>
                  <a:lnTo>
                    <a:pt x="0" y="162344"/>
                  </a:lnTo>
                  <a:lnTo>
                    <a:pt x="6083" y="171665"/>
                  </a:lnTo>
                  <a:lnTo>
                    <a:pt x="24993" y="175653"/>
                  </a:lnTo>
                  <a:lnTo>
                    <a:pt x="34251" y="169672"/>
                  </a:lnTo>
                  <a:lnTo>
                    <a:pt x="36322" y="160274"/>
                  </a:lnTo>
                  <a:lnTo>
                    <a:pt x="36804" y="158076"/>
                  </a:lnTo>
                  <a:lnTo>
                    <a:pt x="40386" y="145376"/>
                  </a:lnTo>
                  <a:lnTo>
                    <a:pt x="45250" y="132981"/>
                  </a:lnTo>
                  <a:lnTo>
                    <a:pt x="51371" y="120942"/>
                  </a:lnTo>
                  <a:lnTo>
                    <a:pt x="58750" y="109283"/>
                  </a:lnTo>
                  <a:lnTo>
                    <a:pt x="61531" y="102882"/>
                  </a:lnTo>
                  <a:lnTo>
                    <a:pt x="61633" y="96151"/>
                  </a:lnTo>
                  <a:close/>
                </a:path>
                <a:path w="935990" h="270510">
                  <a:moveTo>
                    <a:pt x="195541" y="14490"/>
                  </a:moveTo>
                  <a:lnTo>
                    <a:pt x="193090" y="7975"/>
                  </a:lnTo>
                  <a:lnTo>
                    <a:pt x="188468" y="3073"/>
                  </a:lnTo>
                  <a:lnTo>
                    <a:pt x="182346" y="254"/>
                  </a:lnTo>
                  <a:lnTo>
                    <a:pt x="175387" y="0"/>
                  </a:lnTo>
                  <a:lnTo>
                    <a:pt x="158737" y="3365"/>
                  </a:lnTo>
                  <a:lnTo>
                    <a:pt x="110693" y="20840"/>
                  </a:lnTo>
                  <a:lnTo>
                    <a:pt x="100507" y="36563"/>
                  </a:lnTo>
                  <a:lnTo>
                    <a:pt x="100901" y="40627"/>
                  </a:lnTo>
                  <a:lnTo>
                    <a:pt x="102755" y="44361"/>
                  </a:lnTo>
                  <a:lnTo>
                    <a:pt x="107035" y="49885"/>
                  </a:lnTo>
                  <a:lnTo>
                    <a:pt x="112877" y="53213"/>
                  </a:lnTo>
                  <a:lnTo>
                    <a:pt x="119545" y="54102"/>
                  </a:lnTo>
                  <a:lnTo>
                    <a:pt x="126288" y="52298"/>
                  </a:lnTo>
                  <a:lnTo>
                    <a:pt x="139534" y="46342"/>
                  </a:lnTo>
                  <a:lnTo>
                    <a:pt x="153098" y="41389"/>
                  </a:lnTo>
                  <a:lnTo>
                    <a:pt x="166954" y="37490"/>
                  </a:lnTo>
                  <a:lnTo>
                    <a:pt x="181038" y="34645"/>
                  </a:lnTo>
                  <a:lnTo>
                    <a:pt x="187566" y="32207"/>
                  </a:lnTo>
                  <a:lnTo>
                    <a:pt x="192468" y="27584"/>
                  </a:lnTo>
                  <a:lnTo>
                    <a:pt x="195287" y="21475"/>
                  </a:lnTo>
                  <a:lnTo>
                    <a:pt x="195541" y="14490"/>
                  </a:lnTo>
                  <a:close/>
                </a:path>
                <a:path w="935990" h="270510">
                  <a:moveTo>
                    <a:pt x="935583" y="190119"/>
                  </a:moveTo>
                  <a:lnTo>
                    <a:pt x="934072" y="183299"/>
                  </a:lnTo>
                  <a:lnTo>
                    <a:pt x="930211" y="177800"/>
                  </a:lnTo>
                  <a:lnTo>
                    <a:pt x="924445" y="174117"/>
                  </a:lnTo>
                  <a:lnTo>
                    <a:pt x="917689" y="172885"/>
                  </a:lnTo>
                  <a:lnTo>
                    <a:pt x="909421" y="173037"/>
                  </a:lnTo>
                  <a:lnTo>
                    <a:pt x="902589" y="178892"/>
                  </a:lnTo>
                  <a:lnTo>
                    <a:pt x="900582" y="187960"/>
                  </a:lnTo>
                  <a:lnTo>
                    <a:pt x="900430" y="189344"/>
                  </a:lnTo>
                  <a:lnTo>
                    <a:pt x="900468" y="190766"/>
                  </a:lnTo>
                  <a:lnTo>
                    <a:pt x="900391" y="205790"/>
                  </a:lnTo>
                  <a:lnTo>
                    <a:pt x="899604" y="220713"/>
                  </a:lnTo>
                  <a:lnTo>
                    <a:pt x="898118" y="235496"/>
                  </a:lnTo>
                  <a:lnTo>
                    <a:pt x="895921" y="250075"/>
                  </a:lnTo>
                  <a:lnTo>
                    <a:pt x="896099" y="257048"/>
                  </a:lnTo>
                  <a:lnTo>
                    <a:pt x="898842" y="263194"/>
                  </a:lnTo>
                  <a:lnTo>
                    <a:pt x="903681" y="267868"/>
                  </a:lnTo>
                  <a:lnTo>
                    <a:pt x="910183" y="270408"/>
                  </a:lnTo>
                  <a:lnTo>
                    <a:pt x="917155" y="270243"/>
                  </a:lnTo>
                  <a:lnTo>
                    <a:pt x="934618" y="223443"/>
                  </a:lnTo>
                  <a:lnTo>
                    <a:pt x="935494" y="206832"/>
                  </a:lnTo>
                  <a:lnTo>
                    <a:pt x="935583" y="19011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2310" y="3044306"/>
              <a:ext cx="78014" cy="8162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265839" y="3174617"/>
              <a:ext cx="60325" cy="93345"/>
            </a:xfrm>
            <a:custGeom>
              <a:avLst/>
              <a:gdLst/>
              <a:ahLst/>
              <a:cxnLst/>
              <a:rect l="l" t="t" r="r" b="b"/>
              <a:pathLst>
                <a:path w="60325" h="93345">
                  <a:moveTo>
                    <a:pt x="0" y="17467"/>
                  </a:moveTo>
                  <a:lnTo>
                    <a:pt x="1945" y="8685"/>
                  </a:lnTo>
                  <a:lnTo>
                    <a:pt x="5304" y="4155"/>
                  </a:lnTo>
                  <a:lnTo>
                    <a:pt x="10356" y="1721"/>
                  </a:lnTo>
                  <a:lnTo>
                    <a:pt x="17118" y="0"/>
                  </a:lnTo>
                  <a:lnTo>
                    <a:pt x="23778" y="971"/>
                  </a:lnTo>
                  <a:lnTo>
                    <a:pt x="44367" y="33188"/>
                  </a:lnTo>
                  <a:lnTo>
                    <a:pt x="58712" y="69743"/>
                  </a:lnTo>
                  <a:lnTo>
                    <a:pt x="59714" y="76641"/>
                  </a:lnTo>
                  <a:lnTo>
                    <a:pt x="58049" y="83164"/>
                  </a:lnTo>
                  <a:lnTo>
                    <a:pt x="54062" y="88587"/>
                  </a:lnTo>
                  <a:lnTo>
                    <a:pt x="48093" y="92188"/>
                  </a:lnTo>
                  <a:lnTo>
                    <a:pt x="41195" y="93190"/>
                  </a:lnTo>
                  <a:lnTo>
                    <a:pt x="34673" y="91526"/>
                  </a:lnTo>
                  <a:lnTo>
                    <a:pt x="29249" y="87538"/>
                  </a:lnTo>
                  <a:lnTo>
                    <a:pt x="25648" y="81570"/>
                  </a:lnTo>
                  <a:lnTo>
                    <a:pt x="24252" y="77682"/>
                  </a:lnTo>
                  <a:lnTo>
                    <a:pt x="22802" y="73758"/>
                  </a:lnTo>
                  <a:lnTo>
                    <a:pt x="7201" y="35976"/>
                  </a:lnTo>
                  <a:lnTo>
                    <a:pt x="373" y="21465"/>
                  </a:lnTo>
                  <a:lnTo>
                    <a:pt x="0" y="1746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04759" y="3291343"/>
              <a:ext cx="70006" cy="8785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3345385" y="4228840"/>
              <a:ext cx="98425" cy="41275"/>
            </a:xfrm>
            <a:custGeom>
              <a:avLst/>
              <a:gdLst/>
              <a:ahLst/>
              <a:cxnLst/>
              <a:rect l="l" t="t" r="r" b="b"/>
              <a:pathLst>
                <a:path w="98425" h="41275">
                  <a:moveTo>
                    <a:pt x="136" y="21180"/>
                  </a:moveTo>
                  <a:lnTo>
                    <a:pt x="2131" y="12171"/>
                  </a:lnTo>
                  <a:lnTo>
                    <a:pt x="8387" y="6438"/>
                  </a:lnTo>
                  <a:lnTo>
                    <a:pt x="16268" y="5815"/>
                  </a:lnTo>
                  <a:lnTo>
                    <a:pt x="32033" y="4503"/>
                  </a:lnTo>
                  <a:lnTo>
                    <a:pt x="47690" y="3092"/>
                  </a:lnTo>
                  <a:lnTo>
                    <a:pt x="63181" y="1585"/>
                  </a:lnTo>
                  <a:lnTo>
                    <a:pt x="78446" y="0"/>
                  </a:lnTo>
                  <a:lnTo>
                    <a:pt x="85393" y="629"/>
                  </a:lnTo>
                  <a:lnTo>
                    <a:pt x="91350" y="3766"/>
                  </a:lnTo>
                  <a:lnTo>
                    <a:pt x="95695" y="8909"/>
                  </a:lnTo>
                  <a:lnTo>
                    <a:pt x="97803" y="15557"/>
                  </a:lnTo>
                  <a:lnTo>
                    <a:pt x="97173" y="22505"/>
                  </a:lnTo>
                  <a:lnTo>
                    <a:pt x="50977" y="38066"/>
                  </a:lnTo>
                  <a:lnTo>
                    <a:pt x="19048" y="40828"/>
                  </a:lnTo>
                  <a:lnTo>
                    <a:pt x="12124" y="39991"/>
                  </a:lnTo>
                  <a:lnTo>
                    <a:pt x="6260" y="36682"/>
                  </a:lnTo>
                  <a:lnTo>
                    <a:pt x="2066" y="31416"/>
                  </a:lnTo>
                  <a:lnTo>
                    <a:pt x="151" y="24711"/>
                  </a:lnTo>
                  <a:lnTo>
                    <a:pt x="0" y="22920"/>
                  </a:lnTo>
                  <a:lnTo>
                    <a:pt x="136" y="2118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482392" y="3413035"/>
              <a:ext cx="88650" cy="6833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3184594" y="2965792"/>
              <a:ext cx="943610" cy="1311910"/>
            </a:xfrm>
            <a:custGeom>
              <a:avLst/>
              <a:gdLst/>
              <a:ahLst/>
              <a:cxnLst/>
              <a:rect l="l" t="t" r="r" b="b"/>
              <a:pathLst>
                <a:path w="943609" h="1311910">
                  <a:moveTo>
                    <a:pt x="98069" y="1291450"/>
                  </a:moveTo>
                  <a:lnTo>
                    <a:pt x="96418" y="1284681"/>
                  </a:lnTo>
                  <a:lnTo>
                    <a:pt x="92417" y="1279258"/>
                  </a:lnTo>
                  <a:lnTo>
                    <a:pt x="86690" y="1275727"/>
                  </a:lnTo>
                  <a:lnTo>
                    <a:pt x="79819" y="1274635"/>
                  </a:lnTo>
                  <a:lnTo>
                    <a:pt x="64541" y="1275219"/>
                  </a:lnTo>
                  <a:lnTo>
                    <a:pt x="48971" y="1275740"/>
                  </a:lnTo>
                  <a:lnTo>
                    <a:pt x="33185" y="1276184"/>
                  </a:lnTo>
                  <a:lnTo>
                    <a:pt x="8966" y="1276743"/>
                  </a:lnTo>
                  <a:lnTo>
                    <a:pt x="2159" y="1282585"/>
                  </a:lnTo>
                  <a:lnTo>
                    <a:pt x="152" y="1291640"/>
                  </a:lnTo>
                  <a:lnTo>
                    <a:pt x="0" y="1293037"/>
                  </a:lnTo>
                  <a:lnTo>
                    <a:pt x="38" y="1294472"/>
                  </a:lnTo>
                  <a:lnTo>
                    <a:pt x="1549" y="1301267"/>
                  </a:lnTo>
                  <a:lnTo>
                    <a:pt x="5435" y="1306779"/>
                  </a:lnTo>
                  <a:lnTo>
                    <a:pt x="11099" y="1310424"/>
                  </a:lnTo>
                  <a:lnTo>
                    <a:pt x="17957" y="1311656"/>
                  </a:lnTo>
                  <a:lnTo>
                    <a:pt x="34099" y="1311275"/>
                  </a:lnTo>
                  <a:lnTo>
                    <a:pt x="81241" y="1309712"/>
                  </a:lnTo>
                  <a:lnTo>
                    <a:pt x="96977" y="1298333"/>
                  </a:lnTo>
                  <a:lnTo>
                    <a:pt x="98069" y="1291450"/>
                  </a:lnTo>
                  <a:close/>
                </a:path>
                <a:path w="943609" h="1311910">
                  <a:moveTo>
                    <a:pt x="943216" y="41503"/>
                  </a:moveTo>
                  <a:lnTo>
                    <a:pt x="902296" y="11772"/>
                  </a:lnTo>
                  <a:lnTo>
                    <a:pt x="861225" y="0"/>
                  </a:lnTo>
                  <a:lnTo>
                    <a:pt x="851738" y="5791"/>
                  </a:lnTo>
                  <a:lnTo>
                    <a:pt x="849388" y="15557"/>
                  </a:lnTo>
                  <a:lnTo>
                    <a:pt x="847331" y="24879"/>
                  </a:lnTo>
                  <a:lnTo>
                    <a:pt x="853097" y="34175"/>
                  </a:lnTo>
                  <a:lnTo>
                    <a:pt x="862418" y="36423"/>
                  </a:lnTo>
                  <a:lnTo>
                    <a:pt x="876477" y="40233"/>
                  </a:lnTo>
                  <a:lnTo>
                    <a:pt x="890473" y="44843"/>
                  </a:lnTo>
                  <a:lnTo>
                    <a:pt x="904341" y="50266"/>
                  </a:lnTo>
                  <a:lnTo>
                    <a:pt x="918044" y="56451"/>
                  </a:lnTo>
                  <a:lnTo>
                    <a:pt x="924801" y="58178"/>
                  </a:lnTo>
                  <a:lnTo>
                    <a:pt x="931456" y="57213"/>
                  </a:lnTo>
                  <a:lnTo>
                    <a:pt x="937272" y="53822"/>
                  </a:lnTo>
                  <a:lnTo>
                    <a:pt x="941489" y="48260"/>
                  </a:lnTo>
                  <a:lnTo>
                    <a:pt x="943216" y="41503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784735" y="3198746"/>
              <a:ext cx="63527" cy="9077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34862" y="2857856"/>
              <a:ext cx="82241" cy="776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814615" y="2981260"/>
              <a:ext cx="881380" cy="1183640"/>
            </a:xfrm>
            <a:custGeom>
              <a:avLst/>
              <a:gdLst/>
              <a:ahLst/>
              <a:cxnLst/>
              <a:rect l="l" t="t" r="r" b="b"/>
              <a:pathLst>
                <a:path w="881380" h="1183639">
                  <a:moveTo>
                    <a:pt x="92760" y="1138796"/>
                  </a:moveTo>
                  <a:lnTo>
                    <a:pt x="90995" y="1132052"/>
                  </a:lnTo>
                  <a:lnTo>
                    <a:pt x="86766" y="1126515"/>
                  </a:lnTo>
                  <a:lnTo>
                    <a:pt x="80924" y="1123149"/>
                  </a:lnTo>
                  <a:lnTo>
                    <a:pt x="74256" y="1122222"/>
                  </a:lnTo>
                  <a:lnTo>
                    <a:pt x="67513" y="1123988"/>
                  </a:lnTo>
                  <a:lnTo>
                    <a:pt x="53644" y="1130655"/>
                  </a:lnTo>
                  <a:lnTo>
                    <a:pt x="39585" y="1137170"/>
                  </a:lnTo>
                  <a:lnTo>
                    <a:pt x="25387" y="1143508"/>
                  </a:lnTo>
                  <a:lnTo>
                    <a:pt x="11087" y="1149654"/>
                  </a:lnTo>
                  <a:lnTo>
                    <a:pt x="5638" y="1151953"/>
                  </a:lnTo>
                  <a:lnTo>
                    <a:pt x="1955" y="1156690"/>
                  </a:lnTo>
                  <a:lnTo>
                    <a:pt x="0" y="1165491"/>
                  </a:lnTo>
                  <a:lnTo>
                    <a:pt x="266" y="1169174"/>
                  </a:lnTo>
                  <a:lnTo>
                    <a:pt x="1727" y="1172667"/>
                  </a:lnTo>
                  <a:lnTo>
                    <a:pt x="5651" y="1178433"/>
                  </a:lnTo>
                  <a:lnTo>
                    <a:pt x="11290" y="1182103"/>
                  </a:lnTo>
                  <a:lnTo>
                    <a:pt x="17894" y="1183398"/>
                  </a:lnTo>
                  <a:lnTo>
                    <a:pt x="24726" y="1182014"/>
                  </a:lnTo>
                  <a:lnTo>
                    <a:pt x="68630" y="1162405"/>
                  </a:lnTo>
                  <a:lnTo>
                    <a:pt x="91833" y="1145463"/>
                  </a:lnTo>
                  <a:lnTo>
                    <a:pt x="92760" y="1138796"/>
                  </a:lnTo>
                  <a:close/>
                </a:path>
                <a:path w="881380" h="1183639">
                  <a:moveTo>
                    <a:pt x="545846" y="424129"/>
                  </a:moveTo>
                  <a:lnTo>
                    <a:pt x="539432" y="376034"/>
                  </a:lnTo>
                  <a:lnTo>
                    <a:pt x="515950" y="346290"/>
                  </a:lnTo>
                  <a:lnTo>
                    <a:pt x="508876" y="347662"/>
                  </a:lnTo>
                  <a:lnTo>
                    <a:pt x="503618" y="353123"/>
                  </a:lnTo>
                  <a:lnTo>
                    <a:pt x="501650" y="362026"/>
                  </a:lnTo>
                  <a:lnTo>
                    <a:pt x="501599" y="364439"/>
                  </a:lnTo>
                  <a:lnTo>
                    <a:pt x="502069" y="366877"/>
                  </a:lnTo>
                  <a:lnTo>
                    <a:pt x="504812" y="381914"/>
                  </a:lnTo>
                  <a:lnTo>
                    <a:pt x="507199" y="397065"/>
                  </a:lnTo>
                  <a:lnTo>
                    <a:pt x="509219" y="412280"/>
                  </a:lnTo>
                  <a:lnTo>
                    <a:pt x="510882" y="427507"/>
                  </a:lnTo>
                  <a:lnTo>
                    <a:pt x="512914" y="434187"/>
                  </a:lnTo>
                  <a:lnTo>
                    <a:pt x="517194" y="439369"/>
                  </a:lnTo>
                  <a:lnTo>
                    <a:pt x="523113" y="442582"/>
                  </a:lnTo>
                  <a:lnTo>
                    <a:pt x="530047" y="443306"/>
                  </a:lnTo>
                  <a:lnTo>
                    <a:pt x="536727" y="441274"/>
                  </a:lnTo>
                  <a:lnTo>
                    <a:pt x="541921" y="436994"/>
                  </a:lnTo>
                  <a:lnTo>
                    <a:pt x="545122" y="431076"/>
                  </a:lnTo>
                  <a:lnTo>
                    <a:pt x="545846" y="424129"/>
                  </a:lnTo>
                  <a:close/>
                </a:path>
                <a:path w="881380" h="1183639">
                  <a:moveTo>
                    <a:pt x="880948" y="77736"/>
                  </a:moveTo>
                  <a:lnTo>
                    <a:pt x="869340" y="39725"/>
                  </a:lnTo>
                  <a:lnTo>
                    <a:pt x="851484" y="4140"/>
                  </a:lnTo>
                  <a:lnTo>
                    <a:pt x="838936" y="0"/>
                  </a:lnTo>
                  <a:lnTo>
                    <a:pt x="832205" y="1828"/>
                  </a:lnTo>
                  <a:lnTo>
                    <a:pt x="827290" y="4292"/>
                  </a:lnTo>
                  <a:lnTo>
                    <a:pt x="824052" y="8750"/>
                  </a:lnTo>
                  <a:lnTo>
                    <a:pt x="822109" y="17538"/>
                  </a:lnTo>
                  <a:lnTo>
                    <a:pt x="822515" y="21653"/>
                  </a:lnTo>
                  <a:lnTo>
                    <a:pt x="824395" y="25412"/>
                  </a:lnTo>
                  <a:lnTo>
                    <a:pt x="830859" y="38963"/>
                  </a:lnTo>
                  <a:lnTo>
                    <a:pt x="836739" y="52781"/>
                  </a:lnTo>
                  <a:lnTo>
                    <a:pt x="842022" y="66827"/>
                  </a:lnTo>
                  <a:lnTo>
                    <a:pt x="846683" y="81038"/>
                  </a:lnTo>
                  <a:lnTo>
                    <a:pt x="849998" y="87172"/>
                  </a:lnTo>
                  <a:lnTo>
                    <a:pt x="855230" y="91414"/>
                  </a:lnTo>
                  <a:lnTo>
                    <a:pt x="861656" y="93383"/>
                  </a:lnTo>
                  <a:lnTo>
                    <a:pt x="868603" y="92710"/>
                  </a:lnTo>
                  <a:lnTo>
                    <a:pt x="874737" y="89395"/>
                  </a:lnTo>
                  <a:lnTo>
                    <a:pt x="878979" y="84162"/>
                  </a:lnTo>
                  <a:lnTo>
                    <a:pt x="880948" y="77736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957811" y="4022271"/>
              <a:ext cx="88071" cy="6909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79920" y="3325521"/>
              <a:ext cx="87703" cy="7058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3505236" y="4204785"/>
              <a:ext cx="97155" cy="46355"/>
            </a:xfrm>
            <a:custGeom>
              <a:avLst/>
              <a:gdLst/>
              <a:ahLst/>
              <a:cxnLst/>
              <a:rect l="l" t="t" r="r" b="b"/>
              <a:pathLst>
                <a:path w="97155" h="46354">
                  <a:moveTo>
                    <a:pt x="84" y="26743"/>
                  </a:moveTo>
                  <a:lnTo>
                    <a:pt x="550" y="24640"/>
                  </a:lnTo>
                  <a:lnTo>
                    <a:pt x="2058" y="17830"/>
                  </a:lnTo>
                  <a:lnTo>
                    <a:pt x="7573" y="12294"/>
                  </a:lnTo>
                  <a:lnTo>
                    <a:pt x="14891" y="11110"/>
                  </a:lnTo>
                  <a:lnTo>
                    <a:pt x="30395" y="8523"/>
                  </a:lnTo>
                  <a:lnTo>
                    <a:pt x="45815" y="5803"/>
                  </a:lnTo>
                  <a:lnTo>
                    <a:pt x="61097" y="2959"/>
                  </a:lnTo>
                  <a:lnTo>
                    <a:pt x="76185" y="0"/>
                  </a:lnTo>
                  <a:lnTo>
                    <a:pt x="83160" y="6"/>
                  </a:lnTo>
                  <a:lnTo>
                    <a:pt x="89376" y="2595"/>
                  </a:lnTo>
                  <a:lnTo>
                    <a:pt x="94165" y="7325"/>
                  </a:lnTo>
                  <a:lnTo>
                    <a:pt x="96864" y="13755"/>
                  </a:lnTo>
                  <a:lnTo>
                    <a:pt x="96857" y="20731"/>
                  </a:lnTo>
                  <a:lnTo>
                    <a:pt x="52085" y="40359"/>
                  </a:lnTo>
                  <a:lnTo>
                    <a:pt x="20492" y="45775"/>
                  </a:lnTo>
                  <a:lnTo>
                    <a:pt x="13527" y="45502"/>
                  </a:lnTo>
                  <a:lnTo>
                    <a:pt x="7417" y="42677"/>
                  </a:lnTo>
                  <a:lnTo>
                    <a:pt x="2811" y="37767"/>
                  </a:lnTo>
                  <a:lnTo>
                    <a:pt x="359" y="31242"/>
                  </a:lnTo>
                  <a:lnTo>
                    <a:pt x="0" y="28981"/>
                  </a:lnTo>
                  <a:lnTo>
                    <a:pt x="84" y="26743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87448" y="3918270"/>
              <a:ext cx="81550" cy="7834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3662609" y="3407663"/>
              <a:ext cx="672465" cy="809625"/>
            </a:xfrm>
            <a:custGeom>
              <a:avLst/>
              <a:gdLst/>
              <a:ahLst/>
              <a:cxnLst/>
              <a:rect l="l" t="t" r="r" b="b"/>
              <a:pathLst>
                <a:path w="672465" h="809625">
                  <a:moveTo>
                    <a:pt x="95567" y="775246"/>
                  </a:moveTo>
                  <a:lnTo>
                    <a:pt x="94754" y="768324"/>
                  </a:lnTo>
                  <a:lnTo>
                    <a:pt x="91313" y="762266"/>
                  </a:lnTo>
                  <a:lnTo>
                    <a:pt x="85991" y="758126"/>
                  </a:lnTo>
                  <a:lnTo>
                    <a:pt x="79527" y="756297"/>
                  </a:lnTo>
                  <a:lnTo>
                    <a:pt x="72593" y="757123"/>
                  </a:lnTo>
                  <a:lnTo>
                    <a:pt x="57873" y="761847"/>
                  </a:lnTo>
                  <a:lnTo>
                    <a:pt x="43027" y="766406"/>
                  </a:lnTo>
                  <a:lnTo>
                    <a:pt x="28092" y="770775"/>
                  </a:lnTo>
                  <a:lnTo>
                    <a:pt x="13131" y="774954"/>
                  </a:lnTo>
                  <a:lnTo>
                    <a:pt x="6616" y="776732"/>
                  </a:lnTo>
                  <a:lnTo>
                    <a:pt x="1955" y="781939"/>
                  </a:lnTo>
                  <a:lnTo>
                    <a:pt x="0" y="790803"/>
                  </a:lnTo>
                  <a:lnTo>
                    <a:pt x="25" y="793673"/>
                  </a:lnTo>
                  <a:lnTo>
                    <a:pt x="800" y="796518"/>
                  </a:lnTo>
                  <a:lnTo>
                    <a:pt x="3937" y="802741"/>
                  </a:lnTo>
                  <a:lnTo>
                    <a:pt x="9029" y="807148"/>
                  </a:lnTo>
                  <a:lnTo>
                    <a:pt x="15405" y="809307"/>
                  </a:lnTo>
                  <a:lnTo>
                    <a:pt x="22352" y="808837"/>
                  </a:lnTo>
                  <a:lnTo>
                    <a:pt x="37744" y="804545"/>
                  </a:lnTo>
                  <a:lnTo>
                    <a:pt x="53111" y="800049"/>
                  </a:lnTo>
                  <a:lnTo>
                    <a:pt x="68402" y="795350"/>
                  </a:lnTo>
                  <a:lnTo>
                    <a:pt x="83553" y="790486"/>
                  </a:lnTo>
                  <a:lnTo>
                    <a:pt x="89598" y="787031"/>
                  </a:lnTo>
                  <a:lnTo>
                    <a:pt x="93738" y="781723"/>
                  </a:lnTo>
                  <a:lnTo>
                    <a:pt x="95567" y="775246"/>
                  </a:lnTo>
                  <a:close/>
                </a:path>
                <a:path w="672465" h="809625">
                  <a:moveTo>
                    <a:pt x="448983" y="43243"/>
                  </a:moveTo>
                  <a:lnTo>
                    <a:pt x="447636" y="36652"/>
                  </a:lnTo>
                  <a:lnTo>
                    <a:pt x="443915" y="31038"/>
                  </a:lnTo>
                  <a:lnTo>
                    <a:pt x="438137" y="27152"/>
                  </a:lnTo>
                  <a:lnTo>
                    <a:pt x="424319" y="21310"/>
                  </a:lnTo>
                  <a:lnTo>
                    <a:pt x="410273" y="15113"/>
                  </a:lnTo>
                  <a:lnTo>
                    <a:pt x="396024" y="8572"/>
                  </a:lnTo>
                  <a:lnTo>
                    <a:pt x="381647" y="1727"/>
                  </a:lnTo>
                  <a:lnTo>
                    <a:pt x="374904" y="0"/>
                  </a:lnTo>
                  <a:lnTo>
                    <a:pt x="355130" y="21513"/>
                  </a:lnTo>
                  <a:lnTo>
                    <a:pt x="358876" y="29730"/>
                  </a:lnTo>
                  <a:lnTo>
                    <a:pt x="395897" y="47155"/>
                  </a:lnTo>
                  <a:lnTo>
                    <a:pt x="431558" y="60947"/>
                  </a:lnTo>
                  <a:lnTo>
                    <a:pt x="438150" y="59601"/>
                  </a:lnTo>
                  <a:lnTo>
                    <a:pt x="443763" y="55880"/>
                  </a:lnTo>
                  <a:lnTo>
                    <a:pt x="447649" y="50101"/>
                  </a:lnTo>
                  <a:lnTo>
                    <a:pt x="448983" y="43243"/>
                  </a:lnTo>
                  <a:close/>
                </a:path>
                <a:path w="672465" h="809625">
                  <a:moveTo>
                    <a:pt x="602729" y="92278"/>
                  </a:moveTo>
                  <a:lnTo>
                    <a:pt x="581393" y="70827"/>
                  </a:lnTo>
                  <a:lnTo>
                    <a:pt x="574382" y="69507"/>
                  </a:lnTo>
                  <a:lnTo>
                    <a:pt x="536651" y="60833"/>
                  </a:lnTo>
                  <a:lnTo>
                    <a:pt x="528688" y="58686"/>
                  </a:lnTo>
                  <a:lnTo>
                    <a:pt x="521741" y="58191"/>
                  </a:lnTo>
                  <a:lnTo>
                    <a:pt x="504850" y="80886"/>
                  </a:lnTo>
                  <a:lnTo>
                    <a:pt x="510273" y="90017"/>
                  </a:lnTo>
                  <a:lnTo>
                    <a:pt x="552704" y="100850"/>
                  </a:lnTo>
                  <a:lnTo>
                    <a:pt x="582510" y="106667"/>
                  </a:lnTo>
                  <a:lnTo>
                    <a:pt x="589483" y="106438"/>
                  </a:lnTo>
                  <a:lnTo>
                    <a:pt x="595617" y="103644"/>
                  </a:lnTo>
                  <a:lnTo>
                    <a:pt x="600252" y="98767"/>
                  </a:lnTo>
                  <a:lnTo>
                    <a:pt x="602729" y="92278"/>
                  </a:lnTo>
                  <a:close/>
                </a:path>
                <a:path w="672465" h="809625">
                  <a:moveTo>
                    <a:pt x="672045" y="253847"/>
                  </a:moveTo>
                  <a:lnTo>
                    <a:pt x="670102" y="247396"/>
                  </a:lnTo>
                  <a:lnTo>
                    <a:pt x="665886" y="242150"/>
                  </a:lnTo>
                  <a:lnTo>
                    <a:pt x="659765" y="238810"/>
                  </a:lnTo>
                  <a:lnTo>
                    <a:pt x="652830" y="238112"/>
                  </a:lnTo>
                  <a:lnTo>
                    <a:pt x="646379" y="240068"/>
                  </a:lnTo>
                  <a:lnTo>
                    <a:pt x="641134" y="244284"/>
                  </a:lnTo>
                  <a:lnTo>
                    <a:pt x="637794" y="250405"/>
                  </a:lnTo>
                  <a:lnTo>
                    <a:pt x="633082" y="264985"/>
                  </a:lnTo>
                  <a:lnTo>
                    <a:pt x="628002" y="279463"/>
                  </a:lnTo>
                  <a:lnTo>
                    <a:pt x="622579" y="293776"/>
                  </a:lnTo>
                  <a:lnTo>
                    <a:pt x="616407" y="308889"/>
                  </a:lnTo>
                  <a:lnTo>
                    <a:pt x="616077" y="309918"/>
                  </a:lnTo>
                  <a:lnTo>
                    <a:pt x="614057" y="319049"/>
                  </a:lnTo>
                  <a:lnTo>
                    <a:pt x="618236" y="327545"/>
                  </a:lnTo>
                  <a:lnTo>
                    <a:pt x="626148" y="330898"/>
                  </a:lnTo>
                  <a:lnTo>
                    <a:pt x="632993" y="332282"/>
                  </a:lnTo>
                  <a:lnTo>
                    <a:pt x="639597" y="331000"/>
                  </a:lnTo>
                  <a:lnTo>
                    <a:pt x="661009" y="291515"/>
                  </a:lnTo>
                  <a:lnTo>
                    <a:pt x="671360" y="260781"/>
                  </a:lnTo>
                  <a:lnTo>
                    <a:pt x="672045" y="25384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321552" y="3479117"/>
              <a:ext cx="103843" cy="10592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196687" y="3792083"/>
              <a:ext cx="71340" cy="8677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887305" y="4112711"/>
              <a:ext cx="267335" cy="294640"/>
            </a:xfrm>
            <a:custGeom>
              <a:avLst/>
              <a:gdLst/>
              <a:ahLst/>
              <a:cxnLst/>
              <a:rect l="l" t="t" r="r" b="b"/>
              <a:pathLst>
                <a:path w="267334" h="294639">
                  <a:moveTo>
                    <a:pt x="0" y="143049"/>
                  </a:moveTo>
                  <a:lnTo>
                    <a:pt x="5093" y="124627"/>
                  </a:lnTo>
                  <a:lnTo>
                    <a:pt x="19608" y="110496"/>
                  </a:lnTo>
                  <a:lnTo>
                    <a:pt x="210844" y="4776"/>
                  </a:lnTo>
                  <a:lnTo>
                    <a:pt x="230531" y="0"/>
                  </a:lnTo>
                  <a:lnTo>
                    <a:pt x="248840" y="5484"/>
                  </a:lnTo>
                  <a:lnTo>
                    <a:pt x="262248" y="19106"/>
                  </a:lnTo>
                  <a:lnTo>
                    <a:pt x="267228" y="38745"/>
                  </a:lnTo>
                  <a:lnTo>
                    <a:pt x="263155" y="257255"/>
                  </a:lnTo>
                  <a:lnTo>
                    <a:pt x="257450" y="276683"/>
                  </a:lnTo>
                  <a:lnTo>
                    <a:pt x="243545" y="289799"/>
                  </a:lnTo>
                  <a:lnTo>
                    <a:pt x="225044" y="294599"/>
                  </a:lnTo>
                  <a:lnTo>
                    <a:pt x="205549" y="289092"/>
                  </a:lnTo>
                  <a:lnTo>
                    <a:pt x="18386" y="176302"/>
                  </a:lnTo>
                  <a:lnTo>
                    <a:pt x="4405" y="161645"/>
                  </a:lnTo>
                  <a:lnTo>
                    <a:pt x="0" y="14304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103881" y="6854505"/>
              <a:ext cx="82241" cy="77690"/>
            </a:xfrm>
            <a:prstGeom prst="rect">
              <a:avLst/>
            </a:prstGeom>
          </p:spPr>
        </p:pic>
      </p:grpSp>
      <p:sp>
        <p:nvSpPr>
          <p:cNvPr id="59" name="object 59"/>
          <p:cNvSpPr/>
          <p:nvPr/>
        </p:nvSpPr>
        <p:spPr>
          <a:xfrm>
            <a:off x="14344600" y="6959917"/>
            <a:ext cx="195580" cy="175895"/>
          </a:xfrm>
          <a:custGeom>
            <a:avLst/>
            <a:gdLst/>
            <a:ahLst/>
            <a:cxnLst/>
            <a:rect l="l" t="t" r="r" b="b"/>
            <a:pathLst>
              <a:path w="195580" h="175895">
                <a:moveTo>
                  <a:pt x="61633" y="96164"/>
                </a:moveTo>
                <a:lnTo>
                  <a:pt x="59207" y="89890"/>
                </a:lnTo>
                <a:lnTo>
                  <a:pt x="54394" y="84836"/>
                </a:lnTo>
                <a:lnTo>
                  <a:pt x="48006" y="82067"/>
                </a:lnTo>
                <a:lnTo>
                  <a:pt x="41275" y="81953"/>
                </a:lnTo>
                <a:lnTo>
                  <a:pt x="34988" y="84378"/>
                </a:lnTo>
                <a:lnTo>
                  <a:pt x="13131" y="118757"/>
                </a:lnTo>
                <a:lnTo>
                  <a:pt x="0" y="162356"/>
                </a:lnTo>
                <a:lnTo>
                  <a:pt x="6070" y="171678"/>
                </a:lnTo>
                <a:lnTo>
                  <a:pt x="24993" y="175666"/>
                </a:lnTo>
                <a:lnTo>
                  <a:pt x="34239" y="169684"/>
                </a:lnTo>
                <a:lnTo>
                  <a:pt x="36309" y="160274"/>
                </a:lnTo>
                <a:lnTo>
                  <a:pt x="36804" y="158076"/>
                </a:lnTo>
                <a:lnTo>
                  <a:pt x="40373" y="145389"/>
                </a:lnTo>
                <a:lnTo>
                  <a:pt x="45237" y="132994"/>
                </a:lnTo>
                <a:lnTo>
                  <a:pt x="51371" y="120942"/>
                </a:lnTo>
                <a:lnTo>
                  <a:pt x="58737" y="109296"/>
                </a:lnTo>
                <a:lnTo>
                  <a:pt x="61518" y="102895"/>
                </a:lnTo>
                <a:lnTo>
                  <a:pt x="61633" y="96164"/>
                </a:lnTo>
                <a:close/>
              </a:path>
              <a:path w="195580" h="175895">
                <a:moveTo>
                  <a:pt x="195541" y="14503"/>
                </a:moveTo>
                <a:lnTo>
                  <a:pt x="193078" y="7988"/>
                </a:lnTo>
                <a:lnTo>
                  <a:pt x="188468" y="3086"/>
                </a:lnTo>
                <a:lnTo>
                  <a:pt x="182346" y="266"/>
                </a:lnTo>
                <a:lnTo>
                  <a:pt x="175374" y="0"/>
                </a:lnTo>
                <a:lnTo>
                  <a:pt x="158737" y="3365"/>
                </a:lnTo>
                <a:lnTo>
                  <a:pt x="110693" y="20853"/>
                </a:lnTo>
                <a:lnTo>
                  <a:pt x="100507" y="36576"/>
                </a:lnTo>
                <a:lnTo>
                  <a:pt x="100901" y="40640"/>
                </a:lnTo>
                <a:lnTo>
                  <a:pt x="102755" y="44373"/>
                </a:lnTo>
                <a:lnTo>
                  <a:pt x="107022" y="49885"/>
                </a:lnTo>
                <a:lnTo>
                  <a:pt x="112877" y="53225"/>
                </a:lnTo>
                <a:lnTo>
                  <a:pt x="119545" y="54114"/>
                </a:lnTo>
                <a:lnTo>
                  <a:pt x="126276" y="52311"/>
                </a:lnTo>
                <a:lnTo>
                  <a:pt x="139522" y="46342"/>
                </a:lnTo>
                <a:lnTo>
                  <a:pt x="153098" y="41402"/>
                </a:lnTo>
                <a:lnTo>
                  <a:pt x="166954" y="37503"/>
                </a:lnTo>
                <a:lnTo>
                  <a:pt x="181025" y="34658"/>
                </a:lnTo>
                <a:lnTo>
                  <a:pt x="187566" y="32207"/>
                </a:lnTo>
                <a:lnTo>
                  <a:pt x="192468" y="27597"/>
                </a:lnTo>
                <a:lnTo>
                  <a:pt x="195287" y="21488"/>
                </a:lnTo>
                <a:lnTo>
                  <a:pt x="195541" y="14503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4600949" y="6962437"/>
            <a:ext cx="95885" cy="58419"/>
          </a:xfrm>
          <a:custGeom>
            <a:avLst/>
            <a:gdLst/>
            <a:ahLst/>
            <a:cxnLst/>
            <a:rect l="l" t="t" r="r" b="b"/>
            <a:pathLst>
              <a:path w="95884" h="58420">
                <a:moveTo>
                  <a:pt x="0" y="24873"/>
                </a:moveTo>
                <a:lnTo>
                  <a:pt x="2063" y="15555"/>
                </a:lnTo>
                <a:lnTo>
                  <a:pt x="4413" y="5790"/>
                </a:lnTo>
                <a:lnTo>
                  <a:pt x="13899" y="0"/>
                </a:lnTo>
                <a:lnTo>
                  <a:pt x="23331" y="2276"/>
                </a:lnTo>
                <a:lnTo>
                  <a:pt x="70576" y="17864"/>
                </a:lnTo>
                <a:lnTo>
                  <a:pt x="95888" y="41505"/>
                </a:lnTo>
                <a:lnTo>
                  <a:pt x="94160" y="48258"/>
                </a:lnTo>
                <a:lnTo>
                  <a:pt x="89945" y="53817"/>
                </a:lnTo>
                <a:lnTo>
                  <a:pt x="84130" y="57209"/>
                </a:lnTo>
                <a:lnTo>
                  <a:pt x="77468" y="58171"/>
                </a:lnTo>
                <a:lnTo>
                  <a:pt x="70716" y="56443"/>
                </a:lnTo>
                <a:lnTo>
                  <a:pt x="57015" y="50258"/>
                </a:lnTo>
                <a:lnTo>
                  <a:pt x="43143" y="44847"/>
                </a:lnTo>
                <a:lnTo>
                  <a:pt x="29150" y="40228"/>
                </a:lnTo>
                <a:lnTo>
                  <a:pt x="15084" y="36417"/>
                </a:lnTo>
                <a:lnTo>
                  <a:pt x="5770" y="34167"/>
                </a:lnTo>
                <a:lnTo>
                  <a:pt x="0" y="24873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205744" y="6977898"/>
            <a:ext cx="59055" cy="93980"/>
          </a:xfrm>
          <a:custGeom>
            <a:avLst/>
            <a:gdLst/>
            <a:ahLst/>
            <a:cxnLst/>
            <a:rect l="l" t="t" r="r" b="b"/>
            <a:pathLst>
              <a:path w="59055" h="93979">
                <a:moveTo>
                  <a:pt x="0" y="17539"/>
                </a:moveTo>
                <a:lnTo>
                  <a:pt x="1945" y="8756"/>
                </a:lnTo>
                <a:lnTo>
                  <a:pt x="5188" y="4301"/>
                </a:lnTo>
                <a:lnTo>
                  <a:pt x="10098" y="1835"/>
                </a:lnTo>
                <a:lnTo>
                  <a:pt x="16827" y="0"/>
                </a:lnTo>
                <a:lnTo>
                  <a:pt x="23507" y="854"/>
                </a:lnTo>
                <a:lnTo>
                  <a:pt x="47240" y="39731"/>
                </a:lnTo>
                <a:lnTo>
                  <a:pt x="58846" y="77739"/>
                </a:lnTo>
                <a:lnTo>
                  <a:pt x="56875" y="84173"/>
                </a:lnTo>
                <a:lnTo>
                  <a:pt x="52634" y="89401"/>
                </a:lnTo>
                <a:lnTo>
                  <a:pt x="46496" y="92716"/>
                </a:lnTo>
                <a:lnTo>
                  <a:pt x="39556" y="93392"/>
                </a:lnTo>
                <a:lnTo>
                  <a:pt x="33122" y="91422"/>
                </a:lnTo>
                <a:lnTo>
                  <a:pt x="27897" y="87181"/>
                </a:lnTo>
                <a:lnTo>
                  <a:pt x="24583" y="81044"/>
                </a:lnTo>
                <a:lnTo>
                  <a:pt x="19916" y="66826"/>
                </a:lnTo>
                <a:lnTo>
                  <a:pt x="14632" y="52783"/>
                </a:lnTo>
                <a:lnTo>
                  <a:pt x="8752" y="38963"/>
                </a:lnTo>
                <a:lnTo>
                  <a:pt x="2294" y="25415"/>
                </a:lnTo>
                <a:lnTo>
                  <a:pt x="409" y="21656"/>
                </a:lnTo>
                <a:lnTo>
                  <a:pt x="0" y="17539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object 6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741329" y="7040955"/>
            <a:ext cx="78014" cy="81624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14834857" y="7171267"/>
            <a:ext cx="60325" cy="93345"/>
          </a:xfrm>
          <a:custGeom>
            <a:avLst/>
            <a:gdLst/>
            <a:ahLst/>
            <a:cxnLst/>
            <a:rect l="l" t="t" r="r" b="b"/>
            <a:pathLst>
              <a:path w="60325" h="93345">
                <a:moveTo>
                  <a:pt x="0" y="17467"/>
                </a:moveTo>
                <a:lnTo>
                  <a:pt x="1945" y="8685"/>
                </a:lnTo>
                <a:lnTo>
                  <a:pt x="5304" y="4155"/>
                </a:lnTo>
                <a:lnTo>
                  <a:pt x="10356" y="1721"/>
                </a:lnTo>
                <a:lnTo>
                  <a:pt x="17118" y="0"/>
                </a:lnTo>
                <a:lnTo>
                  <a:pt x="23778" y="971"/>
                </a:lnTo>
                <a:lnTo>
                  <a:pt x="44367" y="33188"/>
                </a:lnTo>
                <a:lnTo>
                  <a:pt x="58712" y="69743"/>
                </a:lnTo>
                <a:lnTo>
                  <a:pt x="59714" y="76641"/>
                </a:lnTo>
                <a:lnTo>
                  <a:pt x="58049" y="83164"/>
                </a:lnTo>
                <a:lnTo>
                  <a:pt x="54062" y="88587"/>
                </a:lnTo>
                <a:lnTo>
                  <a:pt x="48093" y="92188"/>
                </a:lnTo>
                <a:lnTo>
                  <a:pt x="41195" y="93190"/>
                </a:lnTo>
                <a:lnTo>
                  <a:pt x="34673" y="91526"/>
                </a:lnTo>
                <a:lnTo>
                  <a:pt x="29249" y="87538"/>
                </a:lnTo>
                <a:lnTo>
                  <a:pt x="25648" y="81570"/>
                </a:lnTo>
                <a:lnTo>
                  <a:pt x="24252" y="77682"/>
                </a:lnTo>
                <a:lnTo>
                  <a:pt x="22802" y="73758"/>
                </a:lnTo>
                <a:lnTo>
                  <a:pt x="7201" y="35976"/>
                </a:lnTo>
                <a:lnTo>
                  <a:pt x="373" y="21465"/>
                </a:lnTo>
                <a:lnTo>
                  <a:pt x="0" y="17467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5240522" y="7132809"/>
            <a:ext cx="40005" cy="97790"/>
          </a:xfrm>
          <a:custGeom>
            <a:avLst/>
            <a:gdLst/>
            <a:ahLst/>
            <a:cxnLst/>
            <a:rect l="l" t="t" r="r" b="b"/>
            <a:pathLst>
              <a:path w="40005" h="97790">
                <a:moveTo>
                  <a:pt x="4655" y="15072"/>
                </a:moveTo>
                <a:lnTo>
                  <a:pt x="6664" y="6004"/>
                </a:lnTo>
                <a:lnTo>
                  <a:pt x="13496" y="149"/>
                </a:lnTo>
                <a:lnTo>
                  <a:pt x="21770" y="0"/>
                </a:lnTo>
                <a:lnTo>
                  <a:pt x="28528" y="1231"/>
                </a:lnTo>
                <a:lnTo>
                  <a:pt x="34285" y="4906"/>
                </a:lnTo>
                <a:lnTo>
                  <a:pt x="38152" y="10416"/>
                </a:lnTo>
                <a:lnTo>
                  <a:pt x="39660" y="17227"/>
                </a:lnTo>
                <a:lnTo>
                  <a:pt x="39576" y="33940"/>
                </a:lnTo>
                <a:lnTo>
                  <a:pt x="34594" y="83278"/>
                </a:lnTo>
                <a:lnTo>
                  <a:pt x="14258" y="97525"/>
                </a:lnTo>
                <a:lnTo>
                  <a:pt x="7765" y="94983"/>
                </a:lnTo>
                <a:lnTo>
                  <a:pt x="2917" y="90309"/>
                </a:lnTo>
                <a:lnTo>
                  <a:pt x="176" y="84159"/>
                </a:lnTo>
                <a:lnTo>
                  <a:pt x="0" y="77188"/>
                </a:lnTo>
                <a:lnTo>
                  <a:pt x="2192" y="62607"/>
                </a:lnTo>
                <a:lnTo>
                  <a:pt x="3685" y="47827"/>
                </a:lnTo>
                <a:lnTo>
                  <a:pt x="4471" y="32900"/>
                </a:lnTo>
                <a:lnTo>
                  <a:pt x="4545" y="17878"/>
                </a:lnTo>
                <a:lnTo>
                  <a:pt x="4510" y="16461"/>
                </a:lnTo>
                <a:lnTo>
                  <a:pt x="4655" y="15072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/>
          <p:cNvGrpSpPr/>
          <p:nvPr/>
        </p:nvGrpSpPr>
        <p:grpSpPr>
          <a:xfrm>
            <a:off x="14353754" y="7195395"/>
            <a:ext cx="183515" cy="197485"/>
            <a:chOff x="14353754" y="7195395"/>
            <a:chExt cx="183515" cy="197485"/>
          </a:xfrm>
        </p:grpSpPr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53754" y="7195395"/>
              <a:ext cx="63527" cy="9077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448939" y="7322171"/>
              <a:ext cx="87703" cy="70584"/>
            </a:xfrm>
            <a:prstGeom prst="rect">
              <a:avLst/>
            </a:prstGeom>
          </p:spPr>
        </p:pic>
      </p:grpSp>
      <p:sp>
        <p:nvSpPr>
          <p:cNvPr id="72" name="object 72"/>
          <p:cNvSpPr/>
          <p:nvPr/>
        </p:nvSpPr>
        <p:spPr>
          <a:xfrm>
            <a:off x="14885240" y="7324193"/>
            <a:ext cx="44450" cy="97155"/>
          </a:xfrm>
          <a:custGeom>
            <a:avLst/>
            <a:gdLst/>
            <a:ahLst/>
            <a:cxnLst/>
            <a:rect l="l" t="t" r="r" b="b"/>
            <a:pathLst>
              <a:path w="44450" h="97154">
                <a:moveTo>
                  <a:pt x="49" y="15731"/>
                </a:moveTo>
                <a:lnTo>
                  <a:pt x="2021" y="6830"/>
                </a:lnTo>
                <a:lnTo>
                  <a:pt x="7281" y="1375"/>
                </a:lnTo>
                <a:lnTo>
                  <a:pt x="14355" y="0"/>
                </a:lnTo>
                <a:lnTo>
                  <a:pt x="21323" y="51"/>
                </a:lnTo>
                <a:lnTo>
                  <a:pt x="40356" y="45730"/>
                </a:lnTo>
                <a:lnTo>
                  <a:pt x="44241" y="77844"/>
                </a:lnTo>
                <a:lnTo>
                  <a:pt x="43523" y="84782"/>
                </a:lnTo>
                <a:lnTo>
                  <a:pt x="40315" y="90701"/>
                </a:lnTo>
                <a:lnTo>
                  <a:pt x="35122" y="94983"/>
                </a:lnTo>
                <a:lnTo>
                  <a:pt x="28451" y="97012"/>
                </a:lnTo>
                <a:lnTo>
                  <a:pt x="21513" y="96295"/>
                </a:lnTo>
                <a:lnTo>
                  <a:pt x="15594" y="93086"/>
                </a:lnTo>
                <a:lnTo>
                  <a:pt x="11311" y="87894"/>
                </a:lnTo>
                <a:lnTo>
                  <a:pt x="9282" y="81222"/>
                </a:lnTo>
                <a:lnTo>
                  <a:pt x="7624" y="65991"/>
                </a:lnTo>
                <a:lnTo>
                  <a:pt x="5597" y="50775"/>
                </a:lnTo>
                <a:lnTo>
                  <a:pt x="3210" y="35623"/>
                </a:lnTo>
                <a:lnTo>
                  <a:pt x="470" y="20587"/>
                </a:lnTo>
                <a:lnTo>
                  <a:pt x="0" y="18152"/>
                </a:lnTo>
                <a:lnTo>
                  <a:pt x="49" y="15731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4586762" y="7404300"/>
            <a:ext cx="93980" cy="60960"/>
          </a:xfrm>
          <a:custGeom>
            <a:avLst/>
            <a:gdLst/>
            <a:ahLst/>
            <a:cxnLst/>
            <a:rect l="l" t="t" r="r" b="b"/>
            <a:pathLst>
              <a:path w="93980" h="60959">
                <a:moveTo>
                  <a:pt x="0" y="21521"/>
                </a:moveTo>
                <a:lnTo>
                  <a:pt x="19770" y="0"/>
                </a:lnTo>
                <a:lnTo>
                  <a:pt x="26523" y="1737"/>
                </a:lnTo>
                <a:lnTo>
                  <a:pt x="40901" y="8581"/>
                </a:lnTo>
                <a:lnTo>
                  <a:pt x="55140" y="15113"/>
                </a:lnTo>
                <a:lnTo>
                  <a:pt x="69191" y="21314"/>
                </a:lnTo>
                <a:lnTo>
                  <a:pt x="83004" y="27162"/>
                </a:lnTo>
                <a:lnTo>
                  <a:pt x="88790" y="31047"/>
                </a:lnTo>
                <a:lnTo>
                  <a:pt x="92510" y="36655"/>
                </a:lnTo>
                <a:lnTo>
                  <a:pt x="93854" y="43251"/>
                </a:lnTo>
                <a:lnTo>
                  <a:pt x="92522" y="50103"/>
                </a:lnTo>
                <a:lnTo>
                  <a:pt x="88636" y="55887"/>
                </a:lnTo>
                <a:lnTo>
                  <a:pt x="83026" y="59604"/>
                </a:lnTo>
                <a:lnTo>
                  <a:pt x="76430" y="60947"/>
                </a:lnTo>
                <a:lnTo>
                  <a:pt x="69584" y="59610"/>
                </a:lnTo>
                <a:lnTo>
                  <a:pt x="26063" y="40409"/>
                </a:lnTo>
                <a:lnTo>
                  <a:pt x="3754" y="29733"/>
                </a:lnTo>
                <a:lnTo>
                  <a:pt x="0" y="21521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15051411" y="7287993"/>
            <a:ext cx="192405" cy="190500"/>
            <a:chOff x="15051411" y="7287993"/>
            <a:chExt cx="192405" cy="190500"/>
          </a:xfrm>
        </p:grpSpPr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173778" y="7287993"/>
              <a:ext cx="70006" cy="8785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051411" y="7409684"/>
              <a:ext cx="88650" cy="68339"/>
            </a:xfrm>
            <a:prstGeom prst="rect">
              <a:avLst/>
            </a:prstGeom>
          </p:spPr>
        </p:pic>
      </p:grpSp>
      <p:sp>
        <p:nvSpPr>
          <p:cNvPr id="81" name="object 81"/>
          <p:cNvSpPr/>
          <p:nvPr/>
        </p:nvSpPr>
        <p:spPr>
          <a:xfrm>
            <a:off x="14736486" y="7462494"/>
            <a:ext cx="98425" cy="48895"/>
          </a:xfrm>
          <a:custGeom>
            <a:avLst/>
            <a:gdLst/>
            <a:ahLst/>
            <a:cxnLst/>
            <a:rect l="l" t="t" r="r" b="b"/>
            <a:pathLst>
              <a:path w="98425" h="48895">
                <a:moveTo>
                  <a:pt x="0" y="22693"/>
                </a:moveTo>
                <a:lnTo>
                  <a:pt x="16885" y="0"/>
                </a:lnTo>
                <a:lnTo>
                  <a:pt x="23841" y="496"/>
                </a:lnTo>
                <a:lnTo>
                  <a:pt x="31797" y="2643"/>
                </a:lnTo>
                <a:lnTo>
                  <a:pt x="39735" y="4678"/>
                </a:lnTo>
                <a:lnTo>
                  <a:pt x="83481" y="13854"/>
                </a:lnTo>
                <a:lnTo>
                  <a:pt x="89987" y="16347"/>
                </a:lnTo>
                <a:lnTo>
                  <a:pt x="94865" y="20984"/>
                </a:lnTo>
                <a:lnTo>
                  <a:pt x="97648" y="27113"/>
                </a:lnTo>
                <a:lnTo>
                  <a:pt x="97876" y="34085"/>
                </a:lnTo>
                <a:lnTo>
                  <a:pt x="95397" y="40584"/>
                </a:lnTo>
                <a:lnTo>
                  <a:pt x="90760" y="45463"/>
                </a:lnTo>
                <a:lnTo>
                  <a:pt x="84629" y="48252"/>
                </a:lnTo>
                <a:lnTo>
                  <a:pt x="77657" y="48482"/>
                </a:lnTo>
                <a:lnTo>
                  <a:pt x="70270" y="47190"/>
                </a:lnTo>
                <a:lnTo>
                  <a:pt x="31251" y="38756"/>
                </a:lnTo>
                <a:lnTo>
                  <a:pt x="5418" y="31835"/>
                </a:lnTo>
                <a:lnTo>
                  <a:pt x="0" y="22693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3" name="object 8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4890571" y="7475766"/>
            <a:ext cx="103843" cy="105928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14845687" y="7642423"/>
            <a:ext cx="58419" cy="94615"/>
          </a:xfrm>
          <a:custGeom>
            <a:avLst/>
            <a:gdLst/>
            <a:ahLst/>
            <a:cxnLst/>
            <a:rect l="l" t="t" r="r" b="b"/>
            <a:pathLst>
              <a:path w="58419" h="94615">
                <a:moveTo>
                  <a:pt x="0" y="80938"/>
                </a:moveTo>
                <a:lnTo>
                  <a:pt x="2024" y="71799"/>
                </a:lnTo>
                <a:lnTo>
                  <a:pt x="2350" y="70774"/>
                </a:lnTo>
                <a:lnTo>
                  <a:pt x="8527" y="55663"/>
                </a:lnTo>
                <a:lnTo>
                  <a:pt x="13954" y="41348"/>
                </a:lnTo>
                <a:lnTo>
                  <a:pt x="19033" y="26875"/>
                </a:lnTo>
                <a:lnTo>
                  <a:pt x="23743" y="12291"/>
                </a:lnTo>
                <a:lnTo>
                  <a:pt x="27080" y="6168"/>
                </a:lnTo>
                <a:lnTo>
                  <a:pt x="32325" y="1947"/>
                </a:lnTo>
                <a:lnTo>
                  <a:pt x="38771" y="0"/>
                </a:lnTo>
                <a:lnTo>
                  <a:pt x="45710" y="699"/>
                </a:lnTo>
                <a:lnTo>
                  <a:pt x="51829" y="4040"/>
                </a:lnTo>
                <a:lnTo>
                  <a:pt x="56048" y="9284"/>
                </a:lnTo>
                <a:lnTo>
                  <a:pt x="57995" y="15727"/>
                </a:lnTo>
                <a:lnTo>
                  <a:pt x="57301" y="22665"/>
                </a:lnTo>
                <a:lnTo>
                  <a:pt x="41213" y="68537"/>
                </a:lnTo>
                <a:lnTo>
                  <a:pt x="18936" y="94172"/>
                </a:lnTo>
                <a:lnTo>
                  <a:pt x="12100" y="92781"/>
                </a:lnTo>
                <a:lnTo>
                  <a:pt x="4178" y="89431"/>
                </a:lnTo>
                <a:lnTo>
                  <a:pt x="0" y="80938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4" name="object 74"/>
          <p:cNvGrpSpPr/>
          <p:nvPr/>
        </p:nvGrpSpPr>
        <p:grpSpPr>
          <a:xfrm>
            <a:off x="14526829" y="7788732"/>
            <a:ext cx="310515" cy="299720"/>
            <a:chOff x="14526829" y="7788732"/>
            <a:chExt cx="310515" cy="299720"/>
          </a:xfrm>
        </p:grpSpPr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526829" y="8018920"/>
              <a:ext cx="88071" cy="6909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656466" y="7914919"/>
              <a:ext cx="81550" cy="7834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765706" y="7788732"/>
              <a:ext cx="71340" cy="86770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11028971" y="7913042"/>
            <a:ext cx="2379345" cy="642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380" i="1">
                <a:latin typeface="Cambria"/>
                <a:cs typeface="Cambria"/>
              </a:rPr>
              <a:t>Generate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3456324" y="8109368"/>
            <a:ext cx="395605" cy="294640"/>
          </a:xfrm>
          <a:custGeom>
            <a:avLst/>
            <a:gdLst/>
            <a:ahLst/>
            <a:cxnLst/>
            <a:rect l="l" t="t" r="r" b="b"/>
            <a:pathLst>
              <a:path w="395605" h="294640">
                <a:moveTo>
                  <a:pt x="267220" y="38747"/>
                </a:moveTo>
                <a:lnTo>
                  <a:pt x="262242" y="19100"/>
                </a:lnTo>
                <a:lnTo>
                  <a:pt x="248831" y="5486"/>
                </a:lnTo>
                <a:lnTo>
                  <a:pt x="230530" y="0"/>
                </a:lnTo>
                <a:lnTo>
                  <a:pt x="210845" y="4775"/>
                </a:lnTo>
                <a:lnTo>
                  <a:pt x="19608" y="110490"/>
                </a:lnTo>
                <a:lnTo>
                  <a:pt x="5092" y="124625"/>
                </a:lnTo>
                <a:lnTo>
                  <a:pt x="0" y="143052"/>
                </a:lnTo>
                <a:lnTo>
                  <a:pt x="4394" y="161645"/>
                </a:lnTo>
                <a:lnTo>
                  <a:pt x="18376" y="176301"/>
                </a:lnTo>
                <a:lnTo>
                  <a:pt x="205549" y="289090"/>
                </a:lnTo>
                <a:lnTo>
                  <a:pt x="225044" y="294601"/>
                </a:lnTo>
                <a:lnTo>
                  <a:pt x="243535" y="289801"/>
                </a:lnTo>
                <a:lnTo>
                  <a:pt x="257441" y="276682"/>
                </a:lnTo>
                <a:lnTo>
                  <a:pt x="263144" y="257251"/>
                </a:lnTo>
                <a:lnTo>
                  <a:pt x="267220" y="38747"/>
                </a:lnTo>
                <a:close/>
              </a:path>
              <a:path w="395605" h="294640">
                <a:moveTo>
                  <a:pt x="395363" y="144526"/>
                </a:moveTo>
                <a:lnTo>
                  <a:pt x="393700" y="137744"/>
                </a:lnTo>
                <a:lnTo>
                  <a:pt x="389712" y="132321"/>
                </a:lnTo>
                <a:lnTo>
                  <a:pt x="383984" y="128790"/>
                </a:lnTo>
                <a:lnTo>
                  <a:pt x="377101" y="127711"/>
                </a:lnTo>
                <a:lnTo>
                  <a:pt x="361823" y="128295"/>
                </a:lnTo>
                <a:lnTo>
                  <a:pt x="346265" y="128816"/>
                </a:lnTo>
                <a:lnTo>
                  <a:pt x="330479" y="129260"/>
                </a:lnTo>
                <a:lnTo>
                  <a:pt x="306260" y="129806"/>
                </a:lnTo>
                <a:lnTo>
                  <a:pt x="299440" y="135661"/>
                </a:lnTo>
                <a:lnTo>
                  <a:pt x="297434" y="144716"/>
                </a:lnTo>
                <a:lnTo>
                  <a:pt x="297294" y="146113"/>
                </a:lnTo>
                <a:lnTo>
                  <a:pt x="297319" y="147548"/>
                </a:lnTo>
                <a:lnTo>
                  <a:pt x="298843" y="154343"/>
                </a:lnTo>
                <a:lnTo>
                  <a:pt x="302717" y="159842"/>
                </a:lnTo>
                <a:lnTo>
                  <a:pt x="308381" y="163499"/>
                </a:lnTo>
                <a:lnTo>
                  <a:pt x="315252" y="164731"/>
                </a:lnTo>
                <a:lnTo>
                  <a:pt x="331381" y="164350"/>
                </a:lnTo>
                <a:lnTo>
                  <a:pt x="378536" y="162788"/>
                </a:lnTo>
                <a:lnTo>
                  <a:pt x="394258" y="151409"/>
                </a:lnTo>
                <a:lnTo>
                  <a:pt x="395363" y="144526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4383641" y="8100131"/>
            <a:ext cx="93345" cy="61594"/>
          </a:xfrm>
          <a:custGeom>
            <a:avLst/>
            <a:gdLst/>
            <a:ahLst/>
            <a:cxnLst/>
            <a:rect l="l" t="t" r="r" b="b"/>
            <a:pathLst>
              <a:path w="93344" h="61595">
                <a:moveTo>
                  <a:pt x="0" y="43265"/>
                </a:moveTo>
                <a:lnTo>
                  <a:pt x="1950" y="34458"/>
                </a:lnTo>
                <a:lnTo>
                  <a:pt x="5641" y="29728"/>
                </a:lnTo>
                <a:lnTo>
                  <a:pt x="11086" y="27431"/>
                </a:lnTo>
                <a:lnTo>
                  <a:pt x="25384" y="21281"/>
                </a:lnTo>
                <a:lnTo>
                  <a:pt x="39589" y="14938"/>
                </a:lnTo>
                <a:lnTo>
                  <a:pt x="53649" y="8425"/>
                </a:lnTo>
                <a:lnTo>
                  <a:pt x="67513" y="1765"/>
                </a:lnTo>
                <a:lnTo>
                  <a:pt x="74259" y="0"/>
                </a:lnTo>
                <a:lnTo>
                  <a:pt x="80927" y="928"/>
                </a:lnTo>
                <a:lnTo>
                  <a:pt x="86760" y="4289"/>
                </a:lnTo>
                <a:lnTo>
                  <a:pt x="90999" y="9822"/>
                </a:lnTo>
                <a:lnTo>
                  <a:pt x="92766" y="16567"/>
                </a:lnTo>
                <a:lnTo>
                  <a:pt x="91838" y="23233"/>
                </a:lnTo>
                <a:lnTo>
                  <a:pt x="54125" y="46899"/>
                </a:lnTo>
                <a:lnTo>
                  <a:pt x="17898" y="61175"/>
                </a:lnTo>
                <a:lnTo>
                  <a:pt x="11293" y="59880"/>
                </a:lnTo>
                <a:lnTo>
                  <a:pt x="5655" y="56203"/>
                </a:lnTo>
                <a:lnTo>
                  <a:pt x="1726" y="50442"/>
                </a:lnTo>
                <a:lnTo>
                  <a:pt x="267" y="46952"/>
                </a:lnTo>
                <a:lnTo>
                  <a:pt x="0" y="43265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4231632" y="8160603"/>
            <a:ext cx="95885" cy="53340"/>
          </a:xfrm>
          <a:custGeom>
            <a:avLst/>
            <a:gdLst/>
            <a:ahLst/>
            <a:cxnLst/>
            <a:rect l="l" t="t" r="r" b="b"/>
            <a:pathLst>
              <a:path w="95884" h="53340">
                <a:moveTo>
                  <a:pt x="0" y="34502"/>
                </a:moveTo>
                <a:lnTo>
                  <a:pt x="1960" y="25648"/>
                </a:lnTo>
                <a:lnTo>
                  <a:pt x="6619" y="20433"/>
                </a:lnTo>
                <a:lnTo>
                  <a:pt x="13133" y="18660"/>
                </a:lnTo>
                <a:lnTo>
                  <a:pt x="28092" y="14482"/>
                </a:lnTo>
                <a:lnTo>
                  <a:pt x="43024" y="10109"/>
                </a:lnTo>
                <a:lnTo>
                  <a:pt x="57876" y="5551"/>
                </a:lnTo>
                <a:lnTo>
                  <a:pt x="72600" y="824"/>
                </a:lnTo>
                <a:lnTo>
                  <a:pt x="79523" y="0"/>
                </a:lnTo>
                <a:lnTo>
                  <a:pt x="85998" y="1834"/>
                </a:lnTo>
                <a:lnTo>
                  <a:pt x="91313" y="5964"/>
                </a:lnTo>
                <a:lnTo>
                  <a:pt x="94754" y="12027"/>
                </a:lnTo>
                <a:lnTo>
                  <a:pt x="95572" y="18948"/>
                </a:lnTo>
                <a:lnTo>
                  <a:pt x="93734" y="25423"/>
                </a:lnTo>
                <a:lnTo>
                  <a:pt x="89602" y="30737"/>
                </a:lnTo>
                <a:lnTo>
                  <a:pt x="83540" y="34178"/>
                </a:lnTo>
                <a:lnTo>
                  <a:pt x="37748" y="48250"/>
                </a:lnTo>
                <a:lnTo>
                  <a:pt x="15404" y="53011"/>
                </a:lnTo>
                <a:lnTo>
                  <a:pt x="9031" y="50846"/>
                </a:lnTo>
                <a:lnTo>
                  <a:pt x="3933" y="46447"/>
                </a:lnTo>
                <a:lnTo>
                  <a:pt x="804" y="40215"/>
                </a:lnTo>
                <a:lnTo>
                  <a:pt x="24" y="37375"/>
                </a:lnTo>
                <a:lnTo>
                  <a:pt x="0" y="34502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4074255" y="8201435"/>
            <a:ext cx="97155" cy="46355"/>
          </a:xfrm>
          <a:custGeom>
            <a:avLst/>
            <a:gdLst/>
            <a:ahLst/>
            <a:cxnLst/>
            <a:rect l="l" t="t" r="r" b="b"/>
            <a:pathLst>
              <a:path w="97155" h="46354">
                <a:moveTo>
                  <a:pt x="84" y="26743"/>
                </a:moveTo>
                <a:lnTo>
                  <a:pt x="550" y="24640"/>
                </a:lnTo>
                <a:lnTo>
                  <a:pt x="2058" y="17830"/>
                </a:lnTo>
                <a:lnTo>
                  <a:pt x="7573" y="12294"/>
                </a:lnTo>
                <a:lnTo>
                  <a:pt x="14891" y="11110"/>
                </a:lnTo>
                <a:lnTo>
                  <a:pt x="30395" y="8523"/>
                </a:lnTo>
                <a:lnTo>
                  <a:pt x="45815" y="5803"/>
                </a:lnTo>
                <a:lnTo>
                  <a:pt x="61097" y="2959"/>
                </a:lnTo>
                <a:lnTo>
                  <a:pt x="76185" y="0"/>
                </a:lnTo>
                <a:lnTo>
                  <a:pt x="83160" y="6"/>
                </a:lnTo>
                <a:lnTo>
                  <a:pt x="89376" y="2595"/>
                </a:lnTo>
                <a:lnTo>
                  <a:pt x="94165" y="7325"/>
                </a:lnTo>
                <a:lnTo>
                  <a:pt x="96864" y="13755"/>
                </a:lnTo>
                <a:lnTo>
                  <a:pt x="96857" y="20731"/>
                </a:lnTo>
                <a:lnTo>
                  <a:pt x="52085" y="40359"/>
                </a:lnTo>
                <a:lnTo>
                  <a:pt x="20492" y="45775"/>
                </a:lnTo>
                <a:lnTo>
                  <a:pt x="13527" y="45502"/>
                </a:lnTo>
                <a:lnTo>
                  <a:pt x="7417" y="42677"/>
                </a:lnTo>
                <a:lnTo>
                  <a:pt x="2811" y="37767"/>
                </a:lnTo>
                <a:lnTo>
                  <a:pt x="359" y="31242"/>
                </a:lnTo>
                <a:lnTo>
                  <a:pt x="0" y="28981"/>
                </a:lnTo>
                <a:lnTo>
                  <a:pt x="84" y="26743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3914403" y="8225490"/>
            <a:ext cx="98425" cy="41275"/>
          </a:xfrm>
          <a:custGeom>
            <a:avLst/>
            <a:gdLst/>
            <a:ahLst/>
            <a:cxnLst/>
            <a:rect l="l" t="t" r="r" b="b"/>
            <a:pathLst>
              <a:path w="98425" h="41275">
                <a:moveTo>
                  <a:pt x="136" y="21180"/>
                </a:moveTo>
                <a:lnTo>
                  <a:pt x="2131" y="12171"/>
                </a:lnTo>
                <a:lnTo>
                  <a:pt x="8387" y="6438"/>
                </a:lnTo>
                <a:lnTo>
                  <a:pt x="16268" y="5815"/>
                </a:lnTo>
                <a:lnTo>
                  <a:pt x="32033" y="4503"/>
                </a:lnTo>
                <a:lnTo>
                  <a:pt x="47690" y="3092"/>
                </a:lnTo>
                <a:lnTo>
                  <a:pt x="63181" y="1585"/>
                </a:lnTo>
                <a:lnTo>
                  <a:pt x="78446" y="0"/>
                </a:lnTo>
                <a:lnTo>
                  <a:pt x="85393" y="629"/>
                </a:lnTo>
                <a:lnTo>
                  <a:pt x="91350" y="3766"/>
                </a:lnTo>
                <a:lnTo>
                  <a:pt x="95695" y="8909"/>
                </a:lnTo>
                <a:lnTo>
                  <a:pt x="97803" y="15557"/>
                </a:lnTo>
                <a:lnTo>
                  <a:pt x="97173" y="22505"/>
                </a:lnTo>
                <a:lnTo>
                  <a:pt x="50977" y="38066"/>
                </a:lnTo>
                <a:lnTo>
                  <a:pt x="19048" y="40828"/>
                </a:lnTo>
                <a:lnTo>
                  <a:pt x="12124" y="39991"/>
                </a:lnTo>
                <a:lnTo>
                  <a:pt x="6260" y="36682"/>
                </a:lnTo>
                <a:lnTo>
                  <a:pt x="2066" y="31416"/>
                </a:lnTo>
                <a:lnTo>
                  <a:pt x="151" y="24711"/>
                </a:lnTo>
                <a:lnTo>
                  <a:pt x="0" y="22920"/>
                </a:lnTo>
                <a:lnTo>
                  <a:pt x="136" y="2118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01393" y="327022"/>
            <a:ext cx="8285480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90"/>
              <a:t>Knowledge</a:t>
            </a:r>
            <a:r>
              <a:rPr dirty="0" spc="-420"/>
              <a:t> </a:t>
            </a:r>
            <a:r>
              <a:rPr dirty="0" spc="-440"/>
              <a:t>Base</a:t>
            </a:r>
            <a:r>
              <a:rPr dirty="0" spc="-420"/>
              <a:t> </a:t>
            </a:r>
            <a:r>
              <a:rPr dirty="0" spc="-210"/>
              <a:t>Construction</a:t>
            </a:r>
          </a:p>
        </p:txBody>
      </p:sp>
      <p:sp>
        <p:nvSpPr>
          <p:cNvPr id="19" name="object 19"/>
          <p:cNvSpPr/>
          <p:nvPr/>
        </p:nvSpPr>
        <p:spPr>
          <a:xfrm>
            <a:off x="7077121" y="970268"/>
            <a:ext cx="59055" cy="78105"/>
          </a:xfrm>
          <a:custGeom>
            <a:avLst/>
            <a:gdLst/>
            <a:ahLst/>
            <a:cxnLst/>
            <a:rect l="l" t="t" r="r" b="b"/>
            <a:pathLst>
              <a:path w="59054" h="78105">
                <a:moveTo>
                  <a:pt x="0" y="14276"/>
                </a:moveTo>
                <a:lnTo>
                  <a:pt x="3627" y="7660"/>
                </a:lnTo>
                <a:lnTo>
                  <a:pt x="5024" y="6033"/>
                </a:lnTo>
                <a:lnTo>
                  <a:pt x="13302" y="0"/>
                </a:lnTo>
                <a:lnTo>
                  <a:pt x="22407" y="1415"/>
                </a:lnTo>
                <a:lnTo>
                  <a:pt x="49019" y="42607"/>
                </a:lnTo>
                <a:lnTo>
                  <a:pt x="58776" y="62085"/>
                </a:lnTo>
                <a:lnTo>
                  <a:pt x="55751" y="70792"/>
                </a:lnTo>
                <a:lnTo>
                  <a:pt x="48518" y="74292"/>
                </a:lnTo>
                <a:lnTo>
                  <a:pt x="41275" y="77787"/>
                </a:lnTo>
                <a:lnTo>
                  <a:pt x="32574" y="74754"/>
                </a:lnTo>
                <a:lnTo>
                  <a:pt x="29074" y="67520"/>
                </a:lnTo>
                <a:lnTo>
                  <a:pt x="23405" y="56439"/>
                </a:lnTo>
                <a:lnTo>
                  <a:pt x="17261" y="45644"/>
                </a:lnTo>
                <a:lnTo>
                  <a:pt x="10662" y="35174"/>
                </a:lnTo>
                <a:lnTo>
                  <a:pt x="3631" y="25067"/>
                </a:lnTo>
                <a:lnTo>
                  <a:pt x="193" y="20364"/>
                </a:lnTo>
                <a:lnTo>
                  <a:pt x="0" y="14276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29511" y="1092732"/>
            <a:ext cx="34925" cy="82550"/>
          </a:xfrm>
          <a:custGeom>
            <a:avLst/>
            <a:gdLst/>
            <a:ahLst/>
            <a:cxnLst/>
            <a:rect l="l" t="t" r="r" b="b"/>
            <a:pathLst>
              <a:path w="34925" h="82550">
                <a:moveTo>
                  <a:pt x="628" y="11605"/>
                </a:moveTo>
                <a:lnTo>
                  <a:pt x="4212" y="5068"/>
                </a:lnTo>
                <a:lnTo>
                  <a:pt x="7825" y="2275"/>
                </a:lnTo>
                <a:lnTo>
                  <a:pt x="20208" y="0"/>
                </a:lnTo>
                <a:lnTo>
                  <a:pt x="27802" y="5221"/>
                </a:lnTo>
                <a:lnTo>
                  <a:pt x="34110" y="53844"/>
                </a:lnTo>
                <a:lnTo>
                  <a:pt x="34667" y="75497"/>
                </a:lnTo>
                <a:lnTo>
                  <a:pt x="28233" y="82093"/>
                </a:lnTo>
                <a:lnTo>
                  <a:pt x="12154" y="82296"/>
                </a:lnTo>
                <a:lnTo>
                  <a:pt x="5568" y="75867"/>
                </a:lnTo>
                <a:lnTo>
                  <a:pt x="5466" y="67828"/>
                </a:lnTo>
                <a:lnTo>
                  <a:pt x="5048" y="55434"/>
                </a:lnTo>
                <a:lnTo>
                  <a:pt x="4099" y="43037"/>
                </a:lnTo>
                <a:lnTo>
                  <a:pt x="2625" y="30679"/>
                </a:lnTo>
                <a:lnTo>
                  <a:pt x="628" y="18403"/>
                </a:lnTo>
                <a:lnTo>
                  <a:pt x="0" y="14976"/>
                </a:lnTo>
                <a:lnTo>
                  <a:pt x="628" y="11605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89625" y="1160699"/>
            <a:ext cx="36195" cy="82550"/>
          </a:xfrm>
          <a:custGeom>
            <a:avLst/>
            <a:gdLst/>
            <a:ahLst/>
            <a:cxnLst/>
            <a:rect l="l" t="t" r="r" b="b"/>
            <a:pathLst>
              <a:path w="36195" h="82550">
                <a:moveTo>
                  <a:pt x="629" y="11447"/>
                </a:moveTo>
                <a:lnTo>
                  <a:pt x="4212" y="4910"/>
                </a:lnTo>
                <a:lnTo>
                  <a:pt x="7935" y="2085"/>
                </a:lnTo>
                <a:lnTo>
                  <a:pt x="20455" y="0"/>
                </a:lnTo>
                <a:lnTo>
                  <a:pt x="27940" y="5357"/>
                </a:lnTo>
                <a:lnTo>
                  <a:pt x="33479" y="44955"/>
                </a:lnTo>
                <a:lnTo>
                  <a:pt x="35704" y="74665"/>
                </a:lnTo>
                <a:lnTo>
                  <a:pt x="29588" y="81561"/>
                </a:lnTo>
                <a:lnTo>
                  <a:pt x="13553" y="82525"/>
                </a:lnTo>
                <a:lnTo>
                  <a:pt x="6657" y="76409"/>
                </a:lnTo>
                <a:lnTo>
                  <a:pt x="5965" y="64975"/>
                </a:lnTo>
                <a:lnTo>
                  <a:pt x="5722" y="61517"/>
                </a:lnTo>
                <a:lnTo>
                  <a:pt x="554" y="18066"/>
                </a:lnTo>
                <a:lnTo>
                  <a:pt x="0" y="14714"/>
                </a:lnTo>
                <a:lnTo>
                  <a:pt x="629" y="11447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85994" y="1294377"/>
            <a:ext cx="38735" cy="82550"/>
          </a:xfrm>
          <a:custGeom>
            <a:avLst/>
            <a:gdLst/>
            <a:ahLst/>
            <a:cxnLst/>
            <a:rect l="l" t="t" r="r" b="b"/>
            <a:pathLst>
              <a:path w="38734" h="82550">
                <a:moveTo>
                  <a:pt x="9335" y="9745"/>
                </a:moveTo>
                <a:lnTo>
                  <a:pt x="12967" y="3120"/>
                </a:lnTo>
                <a:lnTo>
                  <a:pt x="18417" y="0"/>
                </a:lnTo>
                <a:lnTo>
                  <a:pt x="32358" y="1281"/>
                </a:lnTo>
                <a:lnTo>
                  <a:pt x="38256" y="8357"/>
                </a:lnTo>
                <a:lnTo>
                  <a:pt x="37524" y="16365"/>
                </a:lnTo>
                <a:lnTo>
                  <a:pt x="32428" y="56220"/>
                </a:lnTo>
                <a:lnTo>
                  <a:pt x="20986" y="82495"/>
                </a:lnTo>
                <a:lnTo>
                  <a:pt x="13089" y="80996"/>
                </a:lnTo>
                <a:lnTo>
                  <a:pt x="5192" y="79496"/>
                </a:lnTo>
                <a:lnTo>
                  <a:pt x="0" y="71887"/>
                </a:lnTo>
                <a:lnTo>
                  <a:pt x="1499" y="63990"/>
                </a:lnTo>
                <a:lnTo>
                  <a:pt x="3710" y="51487"/>
                </a:lnTo>
                <a:lnTo>
                  <a:pt x="5625" y="38911"/>
                </a:lnTo>
                <a:lnTo>
                  <a:pt x="7239" y="26303"/>
                </a:lnTo>
                <a:lnTo>
                  <a:pt x="8544" y="13706"/>
                </a:lnTo>
                <a:lnTo>
                  <a:pt x="8735" y="11659"/>
                </a:lnTo>
                <a:lnTo>
                  <a:pt x="9335" y="9745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6898902" y="1224939"/>
            <a:ext cx="257175" cy="233679"/>
            <a:chOff x="6898902" y="1224939"/>
            <a:chExt cx="257175" cy="233679"/>
          </a:xfrm>
        </p:grpSpPr>
        <p:sp>
          <p:nvSpPr>
            <p:cNvPr id="13" name="object 13"/>
            <p:cNvSpPr/>
            <p:nvPr/>
          </p:nvSpPr>
          <p:spPr>
            <a:xfrm>
              <a:off x="7104519" y="1224939"/>
              <a:ext cx="51435" cy="81280"/>
            </a:xfrm>
            <a:custGeom>
              <a:avLst/>
              <a:gdLst/>
              <a:ahLst/>
              <a:cxnLst/>
              <a:rect l="l" t="t" r="r" b="b"/>
              <a:pathLst>
                <a:path w="51434" h="81280">
                  <a:moveTo>
                    <a:pt x="21653" y="9823"/>
                  </a:moveTo>
                  <a:lnTo>
                    <a:pt x="25353" y="3074"/>
                  </a:lnTo>
                  <a:lnTo>
                    <a:pt x="32146" y="0"/>
                  </a:lnTo>
                  <a:lnTo>
                    <a:pt x="46525" y="3902"/>
                  </a:lnTo>
                  <a:lnTo>
                    <a:pt x="51107" y="11890"/>
                  </a:lnTo>
                  <a:lnTo>
                    <a:pt x="49003" y="19652"/>
                  </a:lnTo>
                  <a:lnTo>
                    <a:pt x="35373" y="58663"/>
                  </a:lnTo>
                  <a:lnTo>
                    <a:pt x="17390" y="81199"/>
                  </a:lnTo>
                  <a:lnTo>
                    <a:pt x="2969" y="74098"/>
                  </a:lnTo>
                  <a:lnTo>
                    <a:pt x="0" y="65372"/>
                  </a:lnTo>
                  <a:lnTo>
                    <a:pt x="3550" y="58162"/>
                  </a:lnTo>
                  <a:lnTo>
                    <a:pt x="8674" y="47070"/>
                  </a:lnTo>
                  <a:lnTo>
                    <a:pt x="13288" y="35657"/>
                  </a:lnTo>
                  <a:lnTo>
                    <a:pt x="17374" y="23963"/>
                  </a:lnTo>
                  <a:lnTo>
                    <a:pt x="20915" y="12029"/>
                  </a:lnTo>
                  <a:lnTo>
                    <a:pt x="21216" y="10894"/>
                  </a:lnTo>
                  <a:lnTo>
                    <a:pt x="21653" y="9823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9951" y="1339705"/>
              <a:ext cx="70715" cy="668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98902" y="1412032"/>
              <a:ext cx="81915" cy="46990"/>
            </a:xfrm>
            <a:custGeom>
              <a:avLst/>
              <a:gdLst/>
              <a:ahLst/>
              <a:cxnLst/>
              <a:rect l="l" t="t" r="r" b="b"/>
              <a:pathLst>
                <a:path w="81915" h="46990">
                  <a:moveTo>
                    <a:pt x="621" y="26596"/>
                  </a:moveTo>
                  <a:lnTo>
                    <a:pt x="4204" y="20059"/>
                  </a:lnTo>
                  <a:lnTo>
                    <a:pt x="7772" y="17287"/>
                  </a:lnTo>
                  <a:lnTo>
                    <a:pt x="12188" y="16430"/>
                  </a:lnTo>
                  <a:lnTo>
                    <a:pt x="24295" y="13809"/>
                  </a:lnTo>
                  <a:lnTo>
                    <a:pt x="36317" y="10665"/>
                  </a:lnTo>
                  <a:lnTo>
                    <a:pt x="48213" y="7008"/>
                  </a:lnTo>
                  <a:lnTo>
                    <a:pt x="59939" y="2853"/>
                  </a:lnTo>
                  <a:lnTo>
                    <a:pt x="67450" y="0"/>
                  </a:lnTo>
                  <a:lnTo>
                    <a:pt x="75843" y="3784"/>
                  </a:lnTo>
                  <a:lnTo>
                    <a:pt x="81540" y="18825"/>
                  </a:lnTo>
                  <a:lnTo>
                    <a:pt x="77750" y="27227"/>
                  </a:lnTo>
                  <a:lnTo>
                    <a:pt x="70235" y="30066"/>
                  </a:lnTo>
                  <a:lnTo>
                    <a:pt x="31041" y="42111"/>
                  </a:lnTo>
                  <a:lnTo>
                    <a:pt x="9848" y="46528"/>
                  </a:lnTo>
                  <a:lnTo>
                    <a:pt x="2206" y="41372"/>
                  </a:lnTo>
                  <a:lnTo>
                    <a:pt x="0" y="30017"/>
                  </a:lnTo>
                  <a:lnTo>
                    <a:pt x="621" y="26596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5446116" y="1637715"/>
            <a:ext cx="317500" cy="234950"/>
          </a:xfrm>
          <a:custGeom>
            <a:avLst/>
            <a:gdLst/>
            <a:ahLst/>
            <a:cxnLst/>
            <a:rect l="l" t="t" r="r" b="b"/>
            <a:pathLst>
              <a:path w="317500" h="234950">
                <a:moveTo>
                  <a:pt x="238175" y="23317"/>
                </a:moveTo>
                <a:lnTo>
                  <a:pt x="230670" y="9372"/>
                </a:lnTo>
                <a:lnTo>
                  <a:pt x="217373" y="762"/>
                </a:lnTo>
                <a:lnTo>
                  <a:pt x="200596" y="0"/>
                </a:lnTo>
                <a:lnTo>
                  <a:pt x="23952" y="39776"/>
                </a:lnTo>
                <a:lnTo>
                  <a:pt x="9118" y="47650"/>
                </a:lnTo>
                <a:lnTo>
                  <a:pt x="800" y="61125"/>
                </a:lnTo>
                <a:lnTo>
                  <a:pt x="0" y="76949"/>
                </a:lnTo>
                <a:lnTo>
                  <a:pt x="7721" y="91846"/>
                </a:lnTo>
                <a:lnTo>
                  <a:pt x="130479" y="224967"/>
                </a:lnTo>
                <a:lnTo>
                  <a:pt x="144716" y="233870"/>
                </a:lnTo>
                <a:lnTo>
                  <a:pt x="160540" y="234340"/>
                </a:lnTo>
                <a:lnTo>
                  <a:pt x="174650" y="227126"/>
                </a:lnTo>
                <a:lnTo>
                  <a:pt x="183692" y="212991"/>
                </a:lnTo>
                <a:lnTo>
                  <a:pt x="237591" y="40093"/>
                </a:lnTo>
                <a:lnTo>
                  <a:pt x="238175" y="23317"/>
                </a:lnTo>
                <a:close/>
              </a:path>
              <a:path w="317500" h="234950">
                <a:moveTo>
                  <a:pt x="316941" y="146151"/>
                </a:moveTo>
                <a:lnTo>
                  <a:pt x="312178" y="138264"/>
                </a:lnTo>
                <a:lnTo>
                  <a:pt x="304380" y="136347"/>
                </a:lnTo>
                <a:lnTo>
                  <a:pt x="292087" y="133273"/>
                </a:lnTo>
                <a:lnTo>
                  <a:pt x="279590" y="130073"/>
                </a:lnTo>
                <a:lnTo>
                  <a:pt x="266928" y="126771"/>
                </a:lnTo>
                <a:lnTo>
                  <a:pt x="247535" y="121589"/>
                </a:lnTo>
                <a:lnTo>
                  <a:pt x="240753" y="124663"/>
                </a:lnTo>
                <a:lnTo>
                  <a:pt x="237058" y="131406"/>
                </a:lnTo>
                <a:lnTo>
                  <a:pt x="236613" y="132486"/>
                </a:lnTo>
                <a:lnTo>
                  <a:pt x="234226" y="141389"/>
                </a:lnTo>
                <a:lnTo>
                  <a:pt x="238823" y="149377"/>
                </a:lnTo>
                <a:lnTo>
                  <a:pt x="284962" y="161467"/>
                </a:lnTo>
                <a:lnTo>
                  <a:pt x="305193" y="166509"/>
                </a:lnTo>
                <a:lnTo>
                  <a:pt x="313080" y="161747"/>
                </a:lnTo>
                <a:lnTo>
                  <a:pt x="316941" y="146151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10367" y="1790676"/>
            <a:ext cx="83185" cy="41275"/>
          </a:xfrm>
          <a:custGeom>
            <a:avLst/>
            <a:gdLst/>
            <a:ahLst/>
            <a:cxnLst/>
            <a:rect l="l" t="t" r="r" b="b"/>
            <a:pathLst>
              <a:path w="83185" h="41275">
                <a:moveTo>
                  <a:pt x="2440" y="9815"/>
                </a:moveTo>
                <a:lnTo>
                  <a:pt x="6115" y="3110"/>
                </a:lnTo>
                <a:lnTo>
                  <a:pt x="12422" y="0"/>
                </a:lnTo>
                <a:lnTo>
                  <a:pt x="18836" y="1330"/>
                </a:lnTo>
                <a:lnTo>
                  <a:pt x="31683" y="3941"/>
                </a:lnTo>
                <a:lnTo>
                  <a:pt x="44467" y="6448"/>
                </a:lnTo>
                <a:lnTo>
                  <a:pt x="57141" y="8840"/>
                </a:lnTo>
                <a:lnTo>
                  <a:pt x="69653" y="11117"/>
                </a:lnTo>
                <a:lnTo>
                  <a:pt x="77572" y="12514"/>
                </a:lnTo>
                <a:lnTo>
                  <a:pt x="82852" y="20068"/>
                </a:lnTo>
                <a:lnTo>
                  <a:pt x="80050" y="35902"/>
                </a:lnTo>
                <a:lnTo>
                  <a:pt x="72497" y="41182"/>
                </a:lnTo>
                <a:lnTo>
                  <a:pt x="64582" y="39776"/>
                </a:lnTo>
                <a:lnTo>
                  <a:pt x="25986" y="32486"/>
                </a:lnTo>
                <a:lnTo>
                  <a:pt x="0" y="20498"/>
                </a:lnTo>
                <a:lnTo>
                  <a:pt x="1928" y="11168"/>
                </a:lnTo>
                <a:lnTo>
                  <a:pt x="2440" y="9815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6340072" y="915797"/>
            <a:ext cx="508634" cy="907415"/>
            <a:chOff x="6340072" y="915797"/>
            <a:chExt cx="508634" cy="90741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5617" y="949310"/>
              <a:ext cx="66282" cy="7268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40068" y="915809"/>
              <a:ext cx="460375" cy="907415"/>
            </a:xfrm>
            <a:custGeom>
              <a:avLst/>
              <a:gdLst/>
              <a:ahLst/>
              <a:cxnLst/>
              <a:rect l="l" t="t" r="r" b="b"/>
              <a:pathLst>
                <a:path w="460375" h="907414">
                  <a:moveTo>
                    <a:pt x="81330" y="878522"/>
                  </a:moveTo>
                  <a:lnTo>
                    <a:pt x="76161" y="863307"/>
                  </a:lnTo>
                  <a:lnTo>
                    <a:pt x="67894" y="859231"/>
                  </a:lnTo>
                  <a:lnTo>
                    <a:pt x="60286" y="861822"/>
                  </a:lnTo>
                  <a:lnTo>
                    <a:pt x="48247" y="865797"/>
                  </a:lnTo>
                  <a:lnTo>
                    <a:pt x="36042" y="869619"/>
                  </a:lnTo>
                  <a:lnTo>
                    <a:pt x="23698" y="873264"/>
                  </a:lnTo>
                  <a:lnTo>
                    <a:pt x="11277" y="876719"/>
                  </a:lnTo>
                  <a:lnTo>
                    <a:pt x="7302" y="877785"/>
                  </a:lnTo>
                  <a:lnTo>
                    <a:pt x="4140" y="880427"/>
                  </a:lnTo>
                  <a:lnTo>
                    <a:pt x="571" y="886955"/>
                  </a:lnTo>
                  <a:lnTo>
                    <a:pt x="0" y="890778"/>
                  </a:lnTo>
                  <a:lnTo>
                    <a:pt x="3111" y="902322"/>
                  </a:lnTo>
                  <a:lnTo>
                    <a:pt x="11099" y="906907"/>
                  </a:lnTo>
                  <a:lnTo>
                    <a:pt x="18859" y="904824"/>
                  </a:lnTo>
                  <a:lnTo>
                    <a:pt x="57162" y="893508"/>
                  </a:lnTo>
                  <a:lnTo>
                    <a:pt x="77254" y="886790"/>
                  </a:lnTo>
                  <a:lnTo>
                    <a:pt x="81330" y="878522"/>
                  </a:lnTo>
                  <a:close/>
                </a:path>
                <a:path w="460375" h="907414">
                  <a:moveTo>
                    <a:pt x="101968" y="222529"/>
                  </a:moveTo>
                  <a:lnTo>
                    <a:pt x="99491" y="214884"/>
                  </a:lnTo>
                  <a:lnTo>
                    <a:pt x="96062" y="202958"/>
                  </a:lnTo>
                  <a:lnTo>
                    <a:pt x="93408" y="191046"/>
                  </a:lnTo>
                  <a:lnTo>
                    <a:pt x="91554" y="179184"/>
                  </a:lnTo>
                  <a:lnTo>
                    <a:pt x="90525" y="167424"/>
                  </a:lnTo>
                  <a:lnTo>
                    <a:pt x="90093" y="159397"/>
                  </a:lnTo>
                  <a:lnTo>
                    <a:pt x="83248" y="153238"/>
                  </a:lnTo>
                  <a:lnTo>
                    <a:pt x="70002" y="153949"/>
                  </a:lnTo>
                  <a:lnTo>
                    <a:pt x="65570" y="156946"/>
                  </a:lnTo>
                  <a:lnTo>
                    <a:pt x="61963" y="163512"/>
                  </a:lnTo>
                  <a:lnTo>
                    <a:pt x="61315" y="166179"/>
                  </a:lnTo>
                  <a:lnTo>
                    <a:pt x="61468" y="168986"/>
                  </a:lnTo>
                  <a:lnTo>
                    <a:pt x="67830" y="210083"/>
                  </a:lnTo>
                  <a:lnTo>
                    <a:pt x="82473" y="235673"/>
                  </a:lnTo>
                  <a:lnTo>
                    <a:pt x="97764" y="230733"/>
                  </a:lnTo>
                  <a:lnTo>
                    <a:pt x="101968" y="222529"/>
                  </a:lnTo>
                  <a:close/>
                </a:path>
                <a:path w="460375" h="907414">
                  <a:moveTo>
                    <a:pt x="266369" y="9537"/>
                  </a:moveTo>
                  <a:lnTo>
                    <a:pt x="260680" y="2286"/>
                  </a:lnTo>
                  <a:lnTo>
                    <a:pt x="252704" y="1308"/>
                  </a:lnTo>
                  <a:lnTo>
                    <a:pt x="238683" y="127"/>
                  </a:lnTo>
                  <a:lnTo>
                    <a:pt x="224599" y="0"/>
                  </a:lnTo>
                  <a:lnTo>
                    <a:pt x="210489" y="914"/>
                  </a:lnTo>
                  <a:lnTo>
                    <a:pt x="184035" y="16357"/>
                  </a:lnTo>
                  <a:lnTo>
                    <a:pt x="186055" y="27686"/>
                  </a:lnTo>
                  <a:lnTo>
                    <a:pt x="193611" y="32956"/>
                  </a:lnTo>
                  <a:lnTo>
                    <a:pt x="201523" y="31534"/>
                  </a:lnTo>
                  <a:lnTo>
                    <a:pt x="213436" y="29857"/>
                  </a:lnTo>
                  <a:lnTo>
                    <a:pt x="225386" y="29070"/>
                  </a:lnTo>
                  <a:lnTo>
                    <a:pt x="237312" y="29184"/>
                  </a:lnTo>
                  <a:lnTo>
                    <a:pt x="249174" y="30187"/>
                  </a:lnTo>
                  <a:lnTo>
                    <a:pt x="257149" y="31178"/>
                  </a:lnTo>
                  <a:lnTo>
                    <a:pt x="264414" y="25501"/>
                  </a:lnTo>
                  <a:lnTo>
                    <a:pt x="266369" y="9537"/>
                  </a:lnTo>
                  <a:close/>
                </a:path>
                <a:path w="460375" h="907414">
                  <a:moveTo>
                    <a:pt x="385648" y="76327"/>
                  </a:moveTo>
                  <a:lnTo>
                    <a:pt x="357543" y="44196"/>
                  </a:lnTo>
                  <a:lnTo>
                    <a:pt x="327596" y="25298"/>
                  </a:lnTo>
                  <a:lnTo>
                    <a:pt x="318706" y="27711"/>
                  </a:lnTo>
                  <a:lnTo>
                    <a:pt x="314579" y="34937"/>
                  </a:lnTo>
                  <a:lnTo>
                    <a:pt x="310781" y="41871"/>
                  </a:lnTo>
                  <a:lnTo>
                    <a:pt x="313207" y="50596"/>
                  </a:lnTo>
                  <a:lnTo>
                    <a:pt x="320103" y="54546"/>
                  </a:lnTo>
                  <a:lnTo>
                    <a:pt x="330403" y="60845"/>
                  </a:lnTo>
                  <a:lnTo>
                    <a:pt x="340474" y="67754"/>
                  </a:lnTo>
                  <a:lnTo>
                    <a:pt x="350253" y="75285"/>
                  </a:lnTo>
                  <a:lnTo>
                    <a:pt x="359714" y="83375"/>
                  </a:lnTo>
                  <a:lnTo>
                    <a:pt x="365683" y="88760"/>
                  </a:lnTo>
                  <a:lnTo>
                    <a:pt x="374891" y="88277"/>
                  </a:lnTo>
                  <a:lnTo>
                    <a:pt x="385648" y="76327"/>
                  </a:lnTo>
                  <a:close/>
                </a:path>
                <a:path w="460375" h="907414">
                  <a:moveTo>
                    <a:pt x="459828" y="184442"/>
                  </a:moveTo>
                  <a:lnTo>
                    <a:pt x="439724" y="139560"/>
                  </a:lnTo>
                  <a:lnTo>
                    <a:pt x="420128" y="118706"/>
                  </a:lnTo>
                  <a:lnTo>
                    <a:pt x="410883" y="124180"/>
                  </a:lnTo>
                  <a:lnTo>
                    <a:pt x="409092" y="126111"/>
                  </a:lnTo>
                  <a:lnTo>
                    <a:pt x="405485" y="132676"/>
                  </a:lnTo>
                  <a:lnTo>
                    <a:pt x="405384" y="138163"/>
                  </a:lnTo>
                  <a:lnTo>
                    <a:pt x="408114" y="142748"/>
                  </a:lnTo>
                  <a:lnTo>
                    <a:pt x="414108" y="153365"/>
                  </a:lnTo>
                  <a:lnTo>
                    <a:pt x="419735" y="164388"/>
                  </a:lnTo>
                  <a:lnTo>
                    <a:pt x="424967" y="175780"/>
                  </a:lnTo>
                  <a:lnTo>
                    <a:pt x="429806" y="187502"/>
                  </a:lnTo>
                  <a:lnTo>
                    <a:pt x="432714" y="194995"/>
                  </a:lnTo>
                  <a:lnTo>
                    <a:pt x="441147" y="198704"/>
                  </a:lnTo>
                  <a:lnTo>
                    <a:pt x="448640" y="195783"/>
                  </a:lnTo>
                  <a:lnTo>
                    <a:pt x="456120" y="192874"/>
                  </a:lnTo>
                  <a:lnTo>
                    <a:pt x="459828" y="18444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7652" y="1190507"/>
              <a:ext cx="64427" cy="731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65228" y="1720728"/>
              <a:ext cx="78740" cy="57150"/>
            </a:xfrm>
            <a:custGeom>
              <a:avLst/>
              <a:gdLst/>
              <a:ahLst/>
              <a:cxnLst/>
              <a:rect l="l" t="t" r="r" b="b"/>
              <a:pathLst>
                <a:path w="78740" h="57150">
                  <a:moveTo>
                    <a:pt x="319" y="37366"/>
                  </a:moveTo>
                  <a:lnTo>
                    <a:pt x="3907" y="30820"/>
                  </a:lnTo>
                  <a:lnTo>
                    <a:pt x="6162" y="28617"/>
                  </a:lnTo>
                  <a:lnTo>
                    <a:pt x="9071" y="27256"/>
                  </a:lnTo>
                  <a:lnTo>
                    <a:pt x="20668" y="21708"/>
                  </a:lnTo>
                  <a:lnTo>
                    <a:pt x="32125" y="15959"/>
                  </a:lnTo>
                  <a:lnTo>
                    <a:pt x="43402" y="10028"/>
                  </a:lnTo>
                  <a:lnTo>
                    <a:pt x="54455" y="3937"/>
                  </a:lnTo>
                  <a:lnTo>
                    <a:pt x="61457" y="0"/>
                  </a:lnTo>
                  <a:lnTo>
                    <a:pt x="70329" y="2471"/>
                  </a:lnTo>
                  <a:lnTo>
                    <a:pt x="78218" y="16470"/>
                  </a:lnTo>
                  <a:lnTo>
                    <a:pt x="75747" y="25342"/>
                  </a:lnTo>
                  <a:lnTo>
                    <a:pt x="68749" y="29293"/>
                  </a:lnTo>
                  <a:lnTo>
                    <a:pt x="33477" y="47851"/>
                  </a:lnTo>
                  <a:lnTo>
                    <a:pt x="14097" y="57032"/>
                  </a:lnTo>
                  <a:lnTo>
                    <a:pt x="5445" y="53888"/>
                  </a:lnTo>
                  <a:lnTo>
                    <a:pt x="0" y="42229"/>
                  </a:lnTo>
                  <a:lnTo>
                    <a:pt x="319" y="37366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7910" y="1288282"/>
              <a:ext cx="72016" cy="664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643268" y="1368834"/>
              <a:ext cx="78740" cy="58419"/>
            </a:xfrm>
            <a:custGeom>
              <a:avLst/>
              <a:gdLst/>
              <a:ahLst/>
              <a:cxnLst/>
              <a:rect l="l" t="t" r="r" b="b"/>
              <a:pathLst>
                <a:path w="78740" h="58419">
                  <a:moveTo>
                    <a:pt x="0" y="16364"/>
                  </a:moveTo>
                  <a:lnTo>
                    <a:pt x="3821" y="9394"/>
                  </a:lnTo>
                  <a:lnTo>
                    <a:pt x="8312" y="2125"/>
                  </a:lnTo>
                  <a:lnTo>
                    <a:pt x="17277" y="0"/>
                  </a:lnTo>
                  <a:lnTo>
                    <a:pt x="24113" y="4231"/>
                  </a:lnTo>
                  <a:lnTo>
                    <a:pt x="29945" y="7784"/>
                  </a:lnTo>
                  <a:lnTo>
                    <a:pt x="75696" y="32176"/>
                  </a:lnTo>
                  <a:lnTo>
                    <a:pt x="78726" y="40877"/>
                  </a:lnTo>
                  <a:lnTo>
                    <a:pt x="75229" y="48117"/>
                  </a:lnTo>
                  <a:lnTo>
                    <a:pt x="71755" y="55334"/>
                  </a:lnTo>
                  <a:lnTo>
                    <a:pt x="33440" y="43348"/>
                  </a:lnTo>
                  <a:lnTo>
                    <a:pt x="2191" y="24893"/>
                  </a:lnTo>
                  <a:lnTo>
                    <a:pt x="0" y="16364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4935" y="1542336"/>
              <a:ext cx="63513" cy="7496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44751" y="1422989"/>
              <a:ext cx="103396" cy="8149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9433" y="1643619"/>
              <a:ext cx="71813" cy="65832"/>
            </a:xfrm>
            <a:prstGeom prst="rect">
              <a:avLst/>
            </a:prstGeom>
          </p:spPr>
        </p:pic>
      </p:grpSp>
      <p:grpSp>
        <p:nvGrpSpPr>
          <p:cNvPr id="3" name="object 3"/>
          <p:cNvGrpSpPr/>
          <p:nvPr/>
        </p:nvGrpSpPr>
        <p:grpSpPr>
          <a:xfrm>
            <a:off x="213046" y="2177344"/>
            <a:ext cx="5336540" cy="7833995"/>
            <a:chOff x="213046" y="2177344"/>
            <a:chExt cx="5336540" cy="7833995"/>
          </a:xfrm>
        </p:grpSpPr>
        <p:sp>
          <p:nvSpPr>
            <p:cNvPr id="4" name="object 4"/>
            <p:cNvSpPr/>
            <p:nvPr/>
          </p:nvSpPr>
          <p:spPr>
            <a:xfrm>
              <a:off x="1305356" y="2177350"/>
              <a:ext cx="2995930" cy="2330450"/>
            </a:xfrm>
            <a:custGeom>
              <a:avLst/>
              <a:gdLst/>
              <a:ahLst/>
              <a:cxnLst/>
              <a:rect l="l" t="t" r="r" b="b"/>
              <a:pathLst>
                <a:path w="2995929" h="2330450">
                  <a:moveTo>
                    <a:pt x="2836291" y="114300"/>
                  </a:moveTo>
                  <a:lnTo>
                    <a:pt x="2827591" y="70561"/>
                  </a:lnTo>
                  <a:lnTo>
                    <a:pt x="2802813" y="33477"/>
                  </a:lnTo>
                  <a:lnTo>
                    <a:pt x="2765729" y="8699"/>
                  </a:lnTo>
                  <a:lnTo>
                    <a:pt x="2721991" y="0"/>
                  </a:lnTo>
                  <a:lnTo>
                    <a:pt x="114300" y="0"/>
                  </a:lnTo>
                  <a:lnTo>
                    <a:pt x="70561" y="8699"/>
                  </a:lnTo>
                  <a:lnTo>
                    <a:pt x="33489" y="33477"/>
                  </a:lnTo>
                  <a:lnTo>
                    <a:pt x="8712" y="70561"/>
                  </a:lnTo>
                  <a:lnTo>
                    <a:pt x="0" y="114300"/>
                  </a:lnTo>
                  <a:lnTo>
                    <a:pt x="0" y="576745"/>
                  </a:lnTo>
                  <a:lnTo>
                    <a:pt x="8712" y="620496"/>
                  </a:lnTo>
                  <a:lnTo>
                    <a:pt x="33489" y="657567"/>
                  </a:lnTo>
                  <a:lnTo>
                    <a:pt x="70561" y="682345"/>
                  </a:lnTo>
                  <a:lnTo>
                    <a:pt x="114300" y="691045"/>
                  </a:lnTo>
                  <a:lnTo>
                    <a:pt x="2721991" y="691045"/>
                  </a:lnTo>
                  <a:lnTo>
                    <a:pt x="2765729" y="682345"/>
                  </a:lnTo>
                  <a:lnTo>
                    <a:pt x="2802813" y="657567"/>
                  </a:lnTo>
                  <a:lnTo>
                    <a:pt x="2827591" y="620496"/>
                  </a:lnTo>
                  <a:lnTo>
                    <a:pt x="2836291" y="576745"/>
                  </a:lnTo>
                  <a:lnTo>
                    <a:pt x="2836291" y="114300"/>
                  </a:lnTo>
                  <a:close/>
                </a:path>
                <a:path w="2995929" h="2330450">
                  <a:moveTo>
                    <a:pt x="2995625" y="1679117"/>
                  </a:moveTo>
                  <a:lnTo>
                    <a:pt x="2987154" y="1637157"/>
                  </a:lnTo>
                  <a:lnTo>
                    <a:pt x="2962668" y="1600822"/>
                  </a:lnTo>
                  <a:lnTo>
                    <a:pt x="2926334" y="1576336"/>
                  </a:lnTo>
                  <a:lnTo>
                    <a:pt x="2881846" y="1567345"/>
                  </a:lnTo>
                  <a:lnTo>
                    <a:pt x="114300" y="1567345"/>
                  </a:lnTo>
                  <a:lnTo>
                    <a:pt x="69811" y="1576336"/>
                  </a:lnTo>
                  <a:lnTo>
                    <a:pt x="33489" y="1600822"/>
                  </a:lnTo>
                  <a:lnTo>
                    <a:pt x="8991" y="1637157"/>
                  </a:lnTo>
                  <a:lnTo>
                    <a:pt x="0" y="1681645"/>
                  </a:lnTo>
                  <a:lnTo>
                    <a:pt x="0" y="2216112"/>
                  </a:lnTo>
                  <a:lnTo>
                    <a:pt x="8991" y="2260600"/>
                  </a:lnTo>
                  <a:lnTo>
                    <a:pt x="33489" y="2296934"/>
                  </a:lnTo>
                  <a:lnTo>
                    <a:pt x="69811" y="2321433"/>
                  </a:lnTo>
                  <a:lnTo>
                    <a:pt x="114300" y="2330412"/>
                  </a:lnTo>
                  <a:lnTo>
                    <a:pt x="2881846" y="2330412"/>
                  </a:lnTo>
                  <a:lnTo>
                    <a:pt x="2926334" y="2321433"/>
                  </a:lnTo>
                  <a:lnTo>
                    <a:pt x="2962668" y="2296934"/>
                  </a:lnTo>
                  <a:lnTo>
                    <a:pt x="2987154" y="2260600"/>
                  </a:lnTo>
                  <a:lnTo>
                    <a:pt x="2995625" y="2218639"/>
                  </a:lnTo>
                  <a:lnTo>
                    <a:pt x="2995625" y="1679117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83459" y="2798126"/>
              <a:ext cx="476884" cy="2579370"/>
            </a:xfrm>
            <a:custGeom>
              <a:avLst/>
              <a:gdLst/>
              <a:ahLst/>
              <a:cxnLst/>
              <a:rect l="l" t="t" r="r" b="b"/>
              <a:pathLst>
                <a:path w="476885" h="2579370">
                  <a:moveTo>
                    <a:pt x="439813" y="2257615"/>
                  </a:moveTo>
                  <a:lnTo>
                    <a:pt x="279222" y="2257615"/>
                  </a:lnTo>
                  <a:lnTo>
                    <a:pt x="279222" y="1709674"/>
                  </a:lnTo>
                  <a:lnTo>
                    <a:pt x="160591" y="1709674"/>
                  </a:lnTo>
                  <a:lnTo>
                    <a:pt x="160591" y="2257615"/>
                  </a:lnTo>
                  <a:lnTo>
                    <a:pt x="0" y="2257615"/>
                  </a:lnTo>
                  <a:lnTo>
                    <a:pt x="219913" y="2578785"/>
                  </a:lnTo>
                  <a:lnTo>
                    <a:pt x="439813" y="2257615"/>
                  </a:lnTo>
                  <a:close/>
                </a:path>
                <a:path w="476885" h="2579370">
                  <a:moveTo>
                    <a:pt x="476719" y="682396"/>
                  </a:moveTo>
                  <a:lnTo>
                    <a:pt x="342582" y="682396"/>
                  </a:lnTo>
                  <a:lnTo>
                    <a:pt x="342582" y="0"/>
                  </a:lnTo>
                  <a:lnTo>
                    <a:pt x="195554" y="0"/>
                  </a:lnTo>
                  <a:lnTo>
                    <a:pt x="195554" y="682396"/>
                  </a:lnTo>
                  <a:lnTo>
                    <a:pt x="61417" y="682396"/>
                  </a:lnTo>
                  <a:lnTo>
                    <a:pt x="269074" y="950658"/>
                  </a:lnTo>
                  <a:lnTo>
                    <a:pt x="476719" y="682396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2417" y="7209888"/>
              <a:ext cx="4801870" cy="880744"/>
            </a:xfrm>
            <a:custGeom>
              <a:avLst/>
              <a:gdLst/>
              <a:ahLst/>
              <a:cxnLst/>
              <a:rect l="l" t="t" r="r" b="b"/>
              <a:pathLst>
                <a:path w="4801870" h="880745">
                  <a:moveTo>
                    <a:pt x="4687736" y="880520"/>
                  </a:moveTo>
                  <a:lnTo>
                    <a:pt x="114300" y="880520"/>
                  </a:lnTo>
                  <a:lnTo>
                    <a:pt x="91897" y="878303"/>
                  </a:lnTo>
                  <a:lnTo>
                    <a:pt x="50886" y="861316"/>
                  </a:lnTo>
                  <a:lnTo>
                    <a:pt x="19203" y="829633"/>
                  </a:lnTo>
                  <a:lnTo>
                    <a:pt x="2216" y="788622"/>
                  </a:lnTo>
                  <a:lnTo>
                    <a:pt x="0" y="76622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4687736" y="0"/>
                  </a:lnTo>
                  <a:lnTo>
                    <a:pt x="4710139" y="2216"/>
                  </a:lnTo>
                  <a:lnTo>
                    <a:pt x="4751150" y="19203"/>
                  </a:lnTo>
                  <a:lnTo>
                    <a:pt x="4782833" y="50886"/>
                  </a:lnTo>
                  <a:lnTo>
                    <a:pt x="4799820" y="91897"/>
                  </a:lnTo>
                  <a:lnTo>
                    <a:pt x="4801586" y="109747"/>
                  </a:lnTo>
                  <a:lnTo>
                    <a:pt x="4801586" y="770772"/>
                  </a:lnTo>
                  <a:lnTo>
                    <a:pt x="4793336" y="809960"/>
                  </a:lnTo>
                  <a:lnTo>
                    <a:pt x="4768559" y="847042"/>
                  </a:lnTo>
                  <a:lnTo>
                    <a:pt x="4731477" y="871819"/>
                  </a:lnTo>
                  <a:lnTo>
                    <a:pt x="4687736" y="880520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83458" y="6257437"/>
              <a:ext cx="440055" cy="974090"/>
            </a:xfrm>
            <a:custGeom>
              <a:avLst/>
              <a:gdLst/>
              <a:ahLst/>
              <a:cxnLst/>
              <a:rect l="l" t="t" r="r" b="b"/>
              <a:pathLst>
                <a:path w="440055" h="974090">
                  <a:moveTo>
                    <a:pt x="0" y="644592"/>
                  </a:moveTo>
                  <a:lnTo>
                    <a:pt x="439811" y="644592"/>
                  </a:lnTo>
                  <a:lnTo>
                    <a:pt x="219905" y="973903"/>
                  </a:lnTo>
                  <a:lnTo>
                    <a:pt x="0" y="644592"/>
                  </a:lnTo>
                  <a:close/>
                </a:path>
                <a:path w="440055" h="974090">
                  <a:moveTo>
                    <a:pt x="164655" y="644592"/>
                  </a:moveTo>
                  <a:lnTo>
                    <a:pt x="164655" y="0"/>
                  </a:lnTo>
                  <a:lnTo>
                    <a:pt x="275155" y="0"/>
                  </a:lnTo>
                  <a:lnTo>
                    <a:pt x="275155" y="644592"/>
                  </a:lnTo>
                  <a:lnTo>
                    <a:pt x="164655" y="64459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3046" y="8991544"/>
              <a:ext cx="5336540" cy="1019810"/>
            </a:xfrm>
            <a:custGeom>
              <a:avLst/>
              <a:gdLst/>
              <a:ahLst/>
              <a:cxnLst/>
              <a:rect l="l" t="t" r="r" b="b"/>
              <a:pathLst>
                <a:path w="5336540" h="1019809">
                  <a:moveTo>
                    <a:pt x="5221664" y="1019614"/>
                  </a:moveTo>
                  <a:lnTo>
                    <a:pt x="114299" y="1019614"/>
                  </a:lnTo>
                  <a:lnTo>
                    <a:pt x="91897" y="1017398"/>
                  </a:lnTo>
                  <a:lnTo>
                    <a:pt x="50886" y="1000410"/>
                  </a:lnTo>
                  <a:lnTo>
                    <a:pt x="19203" y="968728"/>
                  </a:lnTo>
                  <a:lnTo>
                    <a:pt x="2216" y="927717"/>
                  </a:lnTo>
                  <a:lnTo>
                    <a:pt x="0" y="90531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21664" y="0"/>
                  </a:lnTo>
                  <a:lnTo>
                    <a:pt x="5265404" y="8700"/>
                  </a:lnTo>
                  <a:lnTo>
                    <a:pt x="5302486" y="33477"/>
                  </a:lnTo>
                  <a:lnTo>
                    <a:pt x="5327263" y="70559"/>
                  </a:lnTo>
                  <a:lnTo>
                    <a:pt x="5335964" y="114299"/>
                  </a:lnTo>
                  <a:lnTo>
                    <a:pt x="5335964" y="905314"/>
                  </a:lnTo>
                  <a:lnTo>
                    <a:pt x="5327263" y="949055"/>
                  </a:lnTo>
                  <a:lnTo>
                    <a:pt x="5302486" y="986136"/>
                  </a:lnTo>
                  <a:lnTo>
                    <a:pt x="5265404" y="1010914"/>
                  </a:lnTo>
                  <a:lnTo>
                    <a:pt x="5221664" y="1019614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91849" y="8090404"/>
              <a:ext cx="423545" cy="995044"/>
            </a:xfrm>
            <a:custGeom>
              <a:avLst/>
              <a:gdLst/>
              <a:ahLst/>
              <a:cxnLst/>
              <a:rect l="l" t="t" r="r" b="b"/>
              <a:pathLst>
                <a:path w="423544" h="995045">
                  <a:moveTo>
                    <a:pt x="0" y="674644"/>
                  </a:moveTo>
                  <a:lnTo>
                    <a:pt x="423140" y="674644"/>
                  </a:lnTo>
                  <a:lnTo>
                    <a:pt x="212084" y="995040"/>
                  </a:lnTo>
                  <a:lnTo>
                    <a:pt x="211055" y="995040"/>
                  </a:lnTo>
                  <a:lnTo>
                    <a:pt x="0" y="674644"/>
                  </a:lnTo>
                  <a:close/>
                </a:path>
                <a:path w="423544" h="995045">
                  <a:moveTo>
                    <a:pt x="160588" y="674644"/>
                  </a:moveTo>
                  <a:lnTo>
                    <a:pt x="160588" y="0"/>
                  </a:lnTo>
                  <a:lnTo>
                    <a:pt x="262551" y="0"/>
                  </a:lnTo>
                  <a:lnTo>
                    <a:pt x="262551" y="674644"/>
                  </a:lnTo>
                  <a:lnTo>
                    <a:pt x="160588" y="674644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0934" y="5376868"/>
              <a:ext cx="3841115" cy="880744"/>
            </a:xfrm>
            <a:custGeom>
              <a:avLst/>
              <a:gdLst/>
              <a:ahLst/>
              <a:cxnLst/>
              <a:rect l="l" t="t" r="r" b="b"/>
              <a:pathLst>
                <a:path w="3841115" h="880745">
                  <a:moveTo>
                    <a:pt x="3726201" y="880520"/>
                  </a:moveTo>
                  <a:lnTo>
                    <a:pt x="114299" y="880520"/>
                  </a:lnTo>
                  <a:lnTo>
                    <a:pt x="91897" y="878303"/>
                  </a:lnTo>
                  <a:lnTo>
                    <a:pt x="50886" y="861316"/>
                  </a:lnTo>
                  <a:lnTo>
                    <a:pt x="19203" y="829633"/>
                  </a:lnTo>
                  <a:lnTo>
                    <a:pt x="2216" y="788623"/>
                  </a:lnTo>
                  <a:lnTo>
                    <a:pt x="0" y="766220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726201" y="0"/>
                  </a:lnTo>
                  <a:lnTo>
                    <a:pt x="3769942" y="8700"/>
                  </a:lnTo>
                  <a:lnTo>
                    <a:pt x="3807023" y="33477"/>
                  </a:lnTo>
                  <a:lnTo>
                    <a:pt x="3831800" y="70559"/>
                  </a:lnTo>
                  <a:lnTo>
                    <a:pt x="3840501" y="114299"/>
                  </a:lnTo>
                  <a:lnTo>
                    <a:pt x="3840501" y="766220"/>
                  </a:lnTo>
                  <a:lnTo>
                    <a:pt x="3831800" y="809960"/>
                  </a:lnTo>
                  <a:lnTo>
                    <a:pt x="3807023" y="847042"/>
                  </a:lnTo>
                  <a:lnTo>
                    <a:pt x="3769942" y="871819"/>
                  </a:lnTo>
                  <a:lnTo>
                    <a:pt x="3726201" y="880520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26327" y="1328720"/>
            <a:ext cx="4660265" cy="1383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390" i="1">
                <a:latin typeface="Cambria"/>
                <a:cs typeface="Cambria"/>
              </a:rPr>
              <a:t>Offline</a:t>
            </a:r>
            <a:r>
              <a:rPr dirty="0" sz="3300" spc="550" i="1">
                <a:latin typeface="Cambria"/>
                <a:cs typeface="Cambria"/>
              </a:rPr>
              <a:t> </a:t>
            </a:r>
            <a:r>
              <a:rPr dirty="0" sz="3300" spc="385" i="1">
                <a:latin typeface="Cambria"/>
                <a:cs typeface="Cambria"/>
              </a:rPr>
              <a:t>Data</a:t>
            </a:r>
            <a:r>
              <a:rPr dirty="0" sz="3300" spc="555" i="1">
                <a:latin typeface="Cambria"/>
                <a:cs typeface="Cambria"/>
              </a:rPr>
              <a:t> </a:t>
            </a:r>
            <a:r>
              <a:rPr dirty="0" sz="3300" spc="325" i="1">
                <a:latin typeface="Cambria"/>
                <a:cs typeface="Cambria"/>
              </a:rPr>
              <a:t>Pipeline</a:t>
            </a:r>
            <a:endParaRPr sz="3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300">
              <a:latin typeface="Cambria"/>
              <a:cs typeface="Cambria"/>
            </a:endParaRPr>
          </a:p>
          <a:p>
            <a:pPr algn="ctr" marR="711835">
              <a:lnSpc>
                <a:spcPct val="100000"/>
              </a:lnSpc>
            </a:pPr>
            <a:r>
              <a:rPr dirty="0" sz="2350">
                <a:latin typeface="Segoe UI"/>
                <a:cs typeface="Segoe UI"/>
              </a:rPr>
              <a:t>PubMedQA</a:t>
            </a:r>
            <a:r>
              <a:rPr dirty="0" sz="2350" spc="-105">
                <a:latin typeface="Segoe UI"/>
                <a:cs typeface="Segoe UI"/>
              </a:rPr>
              <a:t> </a:t>
            </a:r>
            <a:r>
              <a:rPr dirty="0" sz="2350" spc="-10">
                <a:latin typeface="Segoe UI"/>
                <a:cs typeface="Segoe UI"/>
              </a:rPr>
              <a:t>Dataset</a:t>
            </a:r>
            <a:endParaRPr sz="2350">
              <a:latin typeface="Segoe UI"/>
              <a:cs typeface="Segoe U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42418" y="1813063"/>
            <a:ext cx="82550" cy="36195"/>
          </a:xfrm>
          <a:custGeom>
            <a:avLst/>
            <a:gdLst/>
            <a:ahLst/>
            <a:cxnLst/>
            <a:rect l="l" t="t" r="r" b="b"/>
            <a:pathLst>
              <a:path w="82550" h="36194">
                <a:moveTo>
                  <a:pt x="1811" y="9759"/>
                </a:moveTo>
                <a:lnTo>
                  <a:pt x="2670" y="8194"/>
                </a:lnTo>
                <a:lnTo>
                  <a:pt x="5448" y="3125"/>
                </a:lnTo>
                <a:lnTo>
                  <a:pt x="11119" y="0"/>
                </a:lnTo>
                <a:lnTo>
                  <a:pt x="17216" y="754"/>
                </a:lnTo>
                <a:lnTo>
                  <a:pt x="30151" y="2290"/>
                </a:lnTo>
                <a:lnTo>
                  <a:pt x="43049" y="3701"/>
                </a:lnTo>
                <a:lnTo>
                  <a:pt x="55867" y="4980"/>
                </a:lnTo>
                <a:lnTo>
                  <a:pt x="68557" y="6124"/>
                </a:lnTo>
                <a:lnTo>
                  <a:pt x="76566" y="6810"/>
                </a:lnTo>
                <a:lnTo>
                  <a:pt x="82507" y="13852"/>
                </a:lnTo>
                <a:lnTo>
                  <a:pt x="81133" y="29871"/>
                </a:lnTo>
                <a:lnTo>
                  <a:pt x="74092" y="35811"/>
                </a:lnTo>
                <a:lnTo>
                  <a:pt x="66082" y="35124"/>
                </a:lnTo>
                <a:lnTo>
                  <a:pt x="26850" y="31205"/>
                </a:lnTo>
                <a:lnTo>
                  <a:pt x="0" y="21373"/>
                </a:lnTo>
                <a:lnTo>
                  <a:pt x="1226" y="11520"/>
                </a:lnTo>
                <a:lnTo>
                  <a:pt x="1811" y="9759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76217" y="1822731"/>
            <a:ext cx="81915" cy="30480"/>
          </a:xfrm>
          <a:custGeom>
            <a:avLst/>
            <a:gdLst/>
            <a:ahLst/>
            <a:cxnLst/>
            <a:rect l="l" t="t" r="r" b="b"/>
            <a:pathLst>
              <a:path w="81914" h="30480">
                <a:moveTo>
                  <a:pt x="821" y="10242"/>
                </a:moveTo>
                <a:lnTo>
                  <a:pt x="4434" y="3652"/>
                </a:lnTo>
                <a:lnTo>
                  <a:pt x="9349" y="583"/>
                </a:lnTo>
                <a:lnTo>
                  <a:pt x="14943" y="682"/>
                </a:lnTo>
                <a:lnTo>
                  <a:pt x="27812" y="827"/>
                </a:lnTo>
                <a:lnTo>
                  <a:pt x="40706" y="808"/>
                </a:lnTo>
                <a:lnTo>
                  <a:pt x="53579" y="626"/>
                </a:lnTo>
                <a:lnTo>
                  <a:pt x="66389" y="278"/>
                </a:lnTo>
                <a:lnTo>
                  <a:pt x="74421" y="0"/>
                </a:lnTo>
                <a:lnTo>
                  <a:pt x="81148" y="6299"/>
                </a:lnTo>
                <a:lnTo>
                  <a:pt x="81687" y="22354"/>
                </a:lnTo>
                <a:lnTo>
                  <a:pt x="75388" y="29081"/>
                </a:lnTo>
                <a:lnTo>
                  <a:pt x="67360" y="29350"/>
                </a:lnTo>
                <a:lnTo>
                  <a:pt x="54182" y="29723"/>
                </a:lnTo>
                <a:lnTo>
                  <a:pt x="40934" y="29912"/>
                </a:lnTo>
                <a:lnTo>
                  <a:pt x="27667" y="29931"/>
                </a:lnTo>
                <a:lnTo>
                  <a:pt x="14428" y="29780"/>
                </a:lnTo>
                <a:lnTo>
                  <a:pt x="6393" y="29643"/>
                </a:lnTo>
                <a:lnTo>
                  <a:pt x="0" y="23009"/>
                </a:lnTo>
                <a:lnTo>
                  <a:pt x="175" y="12533"/>
                </a:lnTo>
                <a:lnTo>
                  <a:pt x="821" y="10242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09321" y="1808330"/>
            <a:ext cx="82550" cy="38735"/>
          </a:xfrm>
          <a:custGeom>
            <a:avLst/>
            <a:gdLst/>
            <a:ahLst/>
            <a:cxnLst/>
            <a:rect l="l" t="t" r="r" b="b"/>
            <a:pathLst>
              <a:path w="82550" h="38735">
                <a:moveTo>
                  <a:pt x="641" y="18741"/>
                </a:moveTo>
                <a:lnTo>
                  <a:pt x="4234" y="12186"/>
                </a:lnTo>
                <a:lnTo>
                  <a:pt x="8267" y="9279"/>
                </a:lnTo>
                <a:lnTo>
                  <a:pt x="13132" y="8713"/>
                </a:lnTo>
                <a:lnTo>
                  <a:pt x="25933" y="7135"/>
                </a:lnTo>
                <a:lnTo>
                  <a:pt x="38705" y="5381"/>
                </a:lnTo>
                <a:lnTo>
                  <a:pt x="51401" y="3459"/>
                </a:lnTo>
                <a:lnTo>
                  <a:pt x="63974" y="1374"/>
                </a:lnTo>
                <a:lnTo>
                  <a:pt x="71895" y="0"/>
                </a:lnTo>
                <a:lnTo>
                  <a:pt x="79426" y="5313"/>
                </a:lnTo>
                <a:lnTo>
                  <a:pt x="42861" y="34179"/>
                </a:lnTo>
                <a:lnTo>
                  <a:pt x="8509" y="38549"/>
                </a:lnTo>
                <a:lnTo>
                  <a:pt x="1277" y="32836"/>
                </a:lnTo>
                <a:lnTo>
                  <a:pt x="0" y="21736"/>
                </a:lnTo>
                <a:lnTo>
                  <a:pt x="641" y="18741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364167" y="3850172"/>
            <a:ext cx="287909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>
                <a:latin typeface="Segoe UI"/>
                <a:cs typeface="Segoe UI"/>
              </a:rPr>
              <a:t>Data </a:t>
            </a:r>
            <a:r>
              <a:rPr dirty="0" sz="3000" spc="-10">
                <a:latin typeface="Segoe UI"/>
                <a:cs typeface="Segoe UI"/>
              </a:rPr>
              <a:t>Preparation</a:t>
            </a:r>
            <a:endParaRPr sz="30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004" y="5533332"/>
            <a:ext cx="4620895" cy="4256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16510">
              <a:lnSpc>
                <a:spcPct val="100000"/>
              </a:lnSpc>
              <a:spcBef>
                <a:spcPts val="90"/>
              </a:spcBef>
            </a:pPr>
            <a:r>
              <a:rPr dirty="0" sz="3550">
                <a:latin typeface="Segoe UI"/>
                <a:cs typeface="Segoe UI"/>
              </a:rPr>
              <a:t>Category</a:t>
            </a:r>
            <a:r>
              <a:rPr dirty="0" sz="3550" spc="-114">
                <a:latin typeface="Segoe UI"/>
                <a:cs typeface="Segoe UI"/>
              </a:rPr>
              <a:t> </a:t>
            </a:r>
            <a:r>
              <a:rPr dirty="0" sz="3550" spc="-10">
                <a:latin typeface="Segoe UI"/>
                <a:cs typeface="Segoe UI"/>
              </a:rPr>
              <a:t>Labelling</a:t>
            </a:r>
            <a:endParaRPr sz="3550">
              <a:latin typeface="Segoe UI"/>
              <a:cs typeface="Segoe UI"/>
            </a:endParaRPr>
          </a:p>
          <a:p>
            <a:pPr algn="ctr" marL="12700" marR="5080">
              <a:lnSpc>
                <a:spcPts val="14630"/>
              </a:lnSpc>
              <a:spcBef>
                <a:spcPts val="1820"/>
              </a:spcBef>
            </a:pPr>
            <a:r>
              <a:rPr dirty="0" sz="3550">
                <a:latin typeface="Segoe UI"/>
                <a:cs typeface="Segoe UI"/>
              </a:rPr>
              <a:t>Embedding</a:t>
            </a:r>
            <a:r>
              <a:rPr dirty="0" sz="3550" spc="-225">
                <a:latin typeface="Segoe UI"/>
                <a:cs typeface="Segoe UI"/>
              </a:rPr>
              <a:t> </a:t>
            </a:r>
            <a:r>
              <a:rPr dirty="0" sz="3550" spc="-10">
                <a:latin typeface="Segoe UI"/>
                <a:cs typeface="Segoe UI"/>
              </a:rPr>
              <a:t>Generation </a:t>
            </a:r>
            <a:r>
              <a:rPr dirty="0" sz="3550" spc="-20">
                <a:latin typeface="Segoe UI"/>
                <a:cs typeface="Segoe UI"/>
              </a:rPr>
              <a:t>FAISS</a:t>
            </a:r>
            <a:r>
              <a:rPr dirty="0" sz="3550" spc="-200">
                <a:latin typeface="Segoe UI"/>
                <a:cs typeface="Segoe UI"/>
              </a:rPr>
              <a:t> </a:t>
            </a:r>
            <a:r>
              <a:rPr dirty="0" sz="3550" spc="-20">
                <a:latin typeface="Segoe UI"/>
                <a:cs typeface="Segoe UI"/>
              </a:rPr>
              <a:t>Vector</a:t>
            </a:r>
            <a:r>
              <a:rPr dirty="0" sz="3550" spc="-200">
                <a:latin typeface="Segoe UI"/>
                <a:cs typeface="Segoe UI"/>
              </a:rPr>
              <a:t> </a:t>
            </a:r>
            <a:r>
              <a:rPr dirty="0" sz="3550" spc="-10">
                <a:latin typeface="Segoe UI"/>
                <a:cs typeface="Segoe UI"/>
              </a:rPr>
              <a:t>Database</a:t>
            </a:r>
            <a:endParaRPr sz="3550">
              <a:latin typeface="Segoe UI"/>
              <a:cs typeface="Segoe U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50214" y="2630825"/>
            <a:ext cx="11621001" cy="6813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4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425" i="1">
                <a:solidFill>
                  <a:srgbClr val="000000"/>
                </a:solidFill>
                <a:latin typeface="Cambria"/>
                <a:cs typeface="Cambria"/>
              </a:rPr>
              <a:t>What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425" i="1">
                <a:solidFill>
                  <a:srgbClr val="000000"/>
                </a:solidFill>
                <a:latin typeface="Cambria"/>
                <a:cs typeface="Cambria"/>
              </a:rPr>
              <a:t>Happens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450" i="1">
                <a:solidFill>
                  <a:srgbClr val="000000"/>
                </a:solidFill>
                <a:latin typeface="Cambria"/>
                <a:cs typeface="Cambria"/>
              </a:rPr>
              <a:t>When</a:t>
            </a:r>
            <a:r>
              <a:rPr dirty="0" sz="4050" spc="665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170" i="1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75" i="1">
                <a:solidFill>
                  <a:srgbClr val="000000"/>
                </a:solidFill>
                <a:latin typeface="Cambria"/>
                <a:cs typeface="Cambria"/>
              </a:rPr>
              <a:t>User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40" i="1">
                <a:solidFill>
                  <a:srgbClr val="000000"/>
                </a:solidFill>
                <a:latin typeface="Cambria"/>
                <a:cs typeface="Cambria"/>
              </a:rPr>
              <a:t>Asks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170" i="1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405" i="1">
                <a:solidFill>
                  <a:srgbClr val="000000"/>
                </a:solidFill>
                <a:latin typeface="Cambria"/>
                <a:cs typeface="Cambria"/>
              </a:rPr>
              <a:t>Question?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6570" y="2551049"/>
            <a:ext cx="3064510" cy="942340"/>
          </a:xfrm>
          <a:custGeom>
            <a:avLst/>
            <a:gdLst/>
            <a:ahLst/>
            <a:cxnLst/>
            <a:rect l="l" t="t" r="r" b="b"/>
            <a:pathLst>
              <a:path w="3064510" h="942339">
                <a:moveTo>
                  <a:pt x="2949652" y="942006"/>
                </a:moveTo>
                <a:lnTo>
                  <a:pt x="114300" y="942006"/>
                </a:lnTo>
                <a:lnTo>
                  <a:pt x="91897" y="939789"/>
                </a:lnTo>
                <a:lnTo>
                  <a:pt x="50886" y="922802"/>
                </a:lnTo>
                <a:lnTo>
                  <a:pt x="19203" y="891119"/>
                </a:lnTo>
                <a:lnTo>
                  <a:pt x="2216" y="850109"/>
                </a:lnTo>
                <a:lnTo>
                  <a:pt x="0" y="827706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2949652" y="0"/>
                </a:lnTo>
                <a:lnTo>
                  <a:pt x="2993393" y="8700"/>
                </a:lnTo>
                <a:lnTo>
                  <a:pt x="3030475" y="33477"/>
                </a:lnTo>
                <a:lnTo>
                  <a:pt x="3055252" y="70559"/>
                </a:lnTo>
                <a:lnTo>
                  <a:pt x="3063952" y="114300"/>
                </a:lnTo>
                <a:lnTo>
                  <a:pt x="3063952" y="827706"/>
                </a:lnTo>
                <a:lnTo>
                  <a:pt x="3055252" y="871446"/>
                </a:lnTo>
                <a:lnTo>
                  <a:pt x="3030475" y="908528"/>
                </a:lnTo>
                <a:lnTo>
                  <a:pt x="2993393" y="933305"/>
                </a:lnTo>
                <a:lnTo>
                  <a:pt x="2949652" y="942006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97543" y="2786919"/>
            <a:ext cx="2242185" cy="450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00">
                <a:latin typeface="Segoe UI"/>
                <a:cs typeface="Segoe UI"/>
              </a:rPr>
              <a:t>User</a:t>
            </a:r>
            <a:r>
              <a:rPr dirty="0" sz="2800" spc="-80">
                <a:latin typeface="Segoe UI"/>
                <a:cs typeface="Segoe UI"/>
              </a:rPr>
              <a:t> </a:t>
            </a:r>
            <a:r>
              <a:rPr dirty="0" sz="2800" spc="-10">
                <a:latin typeface="Segoe UI"/>
                <a:cs typeface="Segoe UI"/>
              </a:rPr>
              <a:t>Question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85083" y="2517525"/>
            <a:ext cx="3474085" cy="975994"/>
          </a:xfrm>
          <a:custGeom>
            <a:avLst/>
            <a:gdLst/>
            <a:ahLst/>
            <a:cxnLst/>
            <a:rect l="l" t="t" r="r" b="b"/>
            <a:pathLst>
              <a:path w="3474084" h="975995">
                <a:moveTo>
                  <a:pt x="3359451" y="975530"/>
                </a:moveTo>
                <a:lnTo>
                  <a:pt x="114299" y="975530"/>
                </a:lnTo>
                <a:lnTo>
                  <a:pt x="91897" y="973313"/>
                </a:lnTo>
                <a:lnTo>
                  <a:pt x="50886" y="956326"/>
                </a:lnTo>
                <a:lnTo>
                  <a:pt x="19203" y="924643"/>
                </a:lnTo>
                <a:lnTo>
                  <a:pt x="2216" y="883633"/>
                </a:lnTo>
                <a:lnTo>
                  <a:pt x="0" y="861230"/>
                </a:lnTo>
                <a:lnTo>
                  <a:pt x="0" y="114299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299" y="0"/>
                </a:lnTo>
                <a:lnTo>
                  <a:pt x="3359451" y="0"/>
                </a:lnTo>
                <a:lnTo>
                  <a:pt x="3403192" y="8700"/>
                </a:lnTo>
                <a:lnTo>
                  <a:pt x="3440273" y="33477"/>
                </a:lnTo>
                <a:lnTo>
                  <a:pt x="3465051" y="70559"/>
                </a:lnTo>
                <a:lnTo>
                  <a:pt x="3473751" y="114299"/>
                </a:lnTo>
                <a:lnTo>
                  <a:pt x="3473751" y="861230"/>
                </a:lnTo>
                <a:lnTo>
                  <a:pt x="3465051" y="904970"/>
                </a:lnTo>
                <a:lnTo>
                  <a:pt x="3440273" y="942052"/>
                </a:lnTo>
                <a:lnTo>
                  <a:pt x="3403192" y="966829"/>
                </a:lnTo>
                <a:lnTo>
                  <a:pt x="3359451" y="975530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91345" y="2424588"/>
            <a:ext cx="3061335" cy="103314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46075" marR="5080" indent="-334010">
              <a:lnSpc>
                <a:spcPct val="115999"/>
              </a:lnSpc>
              <a:spcBef>
                <a:spcPts val="90"/>
              </a:spcBef>
            </a:pPr>
            <a:r>
              <a:rPr dirty="0" sz="2850">
                <a:latin typeface="Segoe UI"/>
                <a:cs typeface="Segoe UI"/>
              </a:rPr>
              <a:t>Category</a:t>
            </a:r>
            <a:r>
              <a:rPr dirty="0" sz="2850" spc="110">
                <a:latin typeface="Segoe UI"/>
                <a:cs typeface="Segoe UI"/>
              </a:rPr>
              <a:t> </a:t>
            </a:r>
            <a:r>
              <a:rPr dirty="0" sz="2850" spc="-10">
                <a:latin typeface="Segoe UI"/>
                <a:cs typeface="Segoe UI"/>
              </a:rPr>
              <a:t>Selection </a:t>
            </a:r>
            <a:r>
              <a:rPr dirty="0" sz="2850">
                <a:latin typeface="Segoe UI"/>
                <a:cs typeface="Segoe UI"/>
              </a:rPr>
              <a:t>(Or</a:t>
            </a:r>
            <a:r>
              <a:rPr dirty="0" sz="2850" spc="45">
                <a:latin typeface="Segoe UI"/>
                <a:cs typeface="Segoe UI"/>
              </a:rPr>
              <a:t> </a:t>
            </a:r>
            <a:r>
              <a:rPr dirty="0" sz="2850" spc="-10">
                <a:latin typeface="Segoe UI"/>
                <a:cs typeface="Segoe UI"/>
              </a:rPr>
              <a:t>prediction)</a:t>
            </a:r>
            <a:endParaRPr sz="285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0523" y="2551049"/>
            <a:ext cx="12428220" cy="975994"/>
            <a:chOff x="4450523" y="2551049"/>
            <a:chExt cx="12428220" cy="975994"/>
          </a:xfrm>
        </p:grpSpPr>
        <p:sp>
          <p:nvSpPr>
            <p:cNvPr id="8" name="object 8"/>
            <p:cNvSpPr/>
            <p:nvPr/>
          </p:nvSpPr>
          <p:spPr>
            <a:xfrm>
              <a:off x="4450523" y="2672567"/>
              <a:ext cx="2334895" cy="699135"/>
            </a:xfrm>
            <a:custGeom>
              <a:avLst/>
              <a:gdLst/>
              <a:ahLst/>
              <a:cxnLst/>
              <a:rect l="l" t="t" r="r" b="b"/>
              <a:pathLst>
                <a:path w="2334895" h="699135">
                  <a:moveTo>
                    <a:pt x="1985074" y="698969"/>
                  </a:moveTo>
                  <a:lnTo>
                    <a:pt x="1985074" y="524227"/>
                  </a:lnTo>
                  <a:lnTo>
                    <a:pt x="0" y="524227"/>
                  </a:lnTo>
                  <a:lnTo>
                    <a:pt x="0" y="174742"/>
                  </a:lnTo>
                  <a:lnTo>
                    <a:pt x="1985074" y="174742"/>
                  </a:lnTo>
                  <a:lnTo>
                    <a:pt x="1985074" y="0"/>
                  </a:lnTo>
                  <a:lnTo>
                    <a:pt x="2334450" y="349484"/>
                  </a:lnTo>
                  <a:lnTo>
                    <a:pt x="1985074" y="69896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855508" y="2551049"/>
              <a:ext cx="4023360" cy="975994"/>
            </a:xfrm>
            <a:custGeom>
              <a:avLst/>
              <a:gdLst/>
              <a:ahLst/>
              <a:cxnLst/>
              <a:rect l="l" t="t" r="r" b="b"/>
              <a:pathLst>
                <a:path w="4023359" h="975995">
                  <a:moveTo>
                    <a:pt x="3908629" y="975530"/>
                  </a:moveTo>
                  <a:lnTo>
                    <a:pt x="114299" y="975530"/>
                  </a:lnTo>
                  <a:lnTo>
                    <a:pt x="91896" y="973313"/>
                  </a:lnTo>
                  <a:lnTo>
                    <a:pt x="50886" y="956326"/>
                  </a:lnTo>
                  <a:lnTo>
                    <a:pt x="19203" y="924643"/>
                  </a:lnTo>
                  <a:lnTo>
                    <a:pt x="2216" y="883633"/>
                  </a:lnTo>
                  <a:lnTo>
                    <a:pt x="0" y="861230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08629" y="0"/>
                  </a:lnTo>
                  <a:lnTo>
                    <a:pt x="3952370" y="8700"/>
                  </a:lnTo>
                  <a:lnTo>
                    <a:pt x="3989452" y="33477"/>
                  </a:lnTo>
                  <a:lnTo>
                    <a:pt x="4014229" y="70559"/>
                  </a:lnTo>
                  <a:lnTo>
                    <a:pt x="4022929" y="114299"/>
                  </a:lnTo>
                  <a:lnTo>
                    <a:pt x="4022929" y="861230"/>
                  </a:lnTo>
                  <a:lnTo>
                    <a:pt x="4014229" y="904970"/>
                  </a:lnTo>
                  <a:lnTo>
                    <a:pt x="3989452" y="942052"/>
                  </a:lnTo>
                  <a:lnTo>
                    <a:pt x="3952370" y="966829"/>
                  </a:lnTo>
                  <a:lnTo>
                    <a:pt x="3908629" y="975530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982854" y="2810097"/>
            <a:ext cx="376809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latin typeface="Segoe UI"/>
                <a:cs typeface="Segoe UI"/>
              </a:rPr>
              <a:t>Embedding</a:t>
            </a:r>
            <a:r>
              <a:rPr dirty="0" sz="2850" spc="114">
                <a:latin typeface="Segoe UI"/>
                <a:cs typeface="Segoe UI"/>
              </a:rPr>
              <a:t> </a:t>
            </a:r>
            <a:r>
              <a:rPr dirty="0" sz="2850" spc="-10">
                <a:latin typeface="Segoe UI"/>
                <a:cs typeface="Segoe UI"/>
              </a:rPr>
              <a:t>Generation</a:t>
            </a:r>
            <a:endParaRPr sz="285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258834" y="2672568"/>
            <a:ext cx="7281545" cy="3837304"/>
            <a:chOff x="10258834" y="2672568"/>
            <a:chExt cx="7281545" cy="3837304"/>
          </a:xfrm>
        </p:grpSpPr>
        <p:sp>
          <p:nvSpPr>
            <p:cNvPr id="12" name="object 12"/>
            <p:cNvSpPr/>
            <p:nvPr/>
          </p:nvSpPr>
          <p:spPr>
            <a:xfrm>
              <a:off x="10258834" y="2672568"/>
              <a:ext cx="2597150" cy="699135"/>
            </a:xfrm>
            <a:custGeom>
              <a:avLst/>
              <a:gdLst/>
              <a:ahLst/>
              <a:cxnLst/>
              <a:rect l="l" t="t" r="r" b="b"/>
              <a:pathLst>
                <a:path w="2597150" h="699135">
                  <a:moveTo>
                    <a:pt x="2247188" y="698969"/>
                  </a:moveTo>
                  <a:lnTo>
                    <a:pt x="2247188" y="524227"/>
                  </a:lnTo>
                  <a:lnTo>
                    <a:pt x="0" y="524227"/>
                  </a:lnTo>
                  <a:lnTo>
                    <a:pt x="0" y="174742"/>
                  </a:lnTo>
                  <a:lnTo>
                    <a:pt x="2247188" y="174742"/>
                  </a:lnTo>
                  <a:lnTo>
                    <a:pt x="2247188" y="0"/>
                  </a:lnTo>
                  <a:lnTo>
                    <a:pt x="2596563" y="349484"/>
                  </a:lnTo>
                  <a:lnTo>
                    <a:pt x="2247188" y="69896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296449" y="5583647"/>
              <a:ext cx="3243580" cy="926465"/>
            </a:xfrm>
            <a:custGeom>
              <a:avLst/>
              <a:gdLst/>
              <a:ahLst/>
              <a:cxnLst/>
              <a:rect l="l" t="t" r="r" b="b"/>
              <a:pathLst>
                <a:path w="3243580" h="926465">
                  <a:moveTo>
                    <a:pt x="3129216" y="925989"/>
                  </a:moveTo>
                  <a:lnTo>
                    <a:pt x="114299" y="925989"/>
                  </a:lnTo>
                  <a:lnTo>
                    <a:pt x="91896" y="923773"/>
                  </a:lnTo>
                  <a:lnTo>
                    <a:pt x="50886" y="906786"/>
                  </a:lnTo>
                  <a:lnTo>
                    <a:pt x="19203" y="875103"/>
                  </a:lnTo>
                  <a:lnTo>
                    <a:pt x="2216" y="834092"/>
                  </a:lnTo>
                  <a:lnTo>
                    <a:pt x="0" y="811690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129216" y="0"/>
                  </a:lnTo>
                  <a:lnTo>
                    <a:pt x="3172957" y="8700"/>
                  </a:lnTo>
                  <a:lnTo>
                    <a:pt x="3210038" y="33477"/>
                  </a:lnTo>
                  <a:lnTo>
                    <a:pt x="3234815" y="70559"/>
                  </a:lnTo>
                  <a:lnTo>
                    <a:pt x="3243516" y="114299"/>
                  </a:lnTo>
                  <a:lnTo>
                    <a:pt x="3243516" y="811690"/>
                  </a:lnTo>
                  <a:lnTo>
                    <a:pt x="3234815" y="855430"/>
                  </a:lnTo>
                  <a:lnTo>
                    <a:pt x="3210038" y="892511"/>
                  </a:lnTo>
                  <a:lnTo>
                    <a:pt x="3172957" y="917289"/>
                  </a:lnTo>
                  <a:lnTo>
                    <a:pt x="3129216" y="925989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4589227" y="5711681"/>
            <a:ext cx="2658110" cy="588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700" spc="-20">
                <a:latin typeface="Segoe UI"/>
                <a:cs typeface="Segoe UI"/>
              </a:rPr>
              <a:t>FAISS</a:t>
            </a:r>
            <a:r>
              <a:rPr dirty="0" sz="3700" spc="-220">
                <a:latin typeface="Segoe UI"/>
                <a:cs typeface="Segoe UI"/>
              </a:rPr>
              <a:t> </a:t>
            </a:r>
            <a:r>
              <a:rPr dirty="0" sz="3700" spc="-10">
                <a:latin typeface="Segoe UI"/>
                <a:cs typeface="Segoe UI"/>
              </a:rPr>
              <a:t>Search</a:t>
            </a:r>
            <a:endParaRPr sz="37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339411" y="3526623"/>
            <a:ext cx="6772909" cy="2995295"/>
            <a:chOff x="9339411" y="3526623"/>
            <a:chExt cx="6772909" cy="2995295"/>
          </a:xfrm>
        </p:grpSpPr>
        <p:sp>
          <p:nvSpPr>
            <p:cNvPr id="16" name="object 16"/>
            <p:cNvSpPr/>
            <p:nvPr/>
          </p:nvSpPr>
          <p:spPr>
            <a:xfrm>
              <a:off x="15491782" y="3526623"/>
              <a:ext cx="620395" cy="2018030"/>
            </a:xfrm>
            <a:custGeom>
              <a:avLst/>
              <a:gdLst/>
              <a:ahLst/>
              <a:cxnLst/>
              <a:rect l="l" t="t" r="r" b="b"/>
              <a:pathLst>
                <a:path w="620394" h="2018029">
                  <a:moveTo>
                    <a:pt x="0" y="1746710"/>
                  </a:moveTo>
                  <a:lnTo>
                    <a:pt x="620182" y="1746710"/>
                  </a:lnTo>
                  <a:lnTo>
                    <a:pt x="310486" y="2018015"/>
                  </a:lnTo>
                  <a:lnTo>
                    <a:pt x="309696" y="2018015"/>
                  </a:lnTo>
                  <a:lnTo>
                    <a:pt x="0" y="1746710"/>
                  </a:lnTo>
                  <a:close/>
                </a:path>
                <a:path w="620394" h="2018029">
                  <a:moveTo>
                    <a:pt x="135826" y="1746710"/>
                  </a:moveTo>
                  <a:lnTo>
                    <a:pt x="135826" y="0"/>
                  </a:lnTo>
                  <a:lnTo>
                    <a:pt x="484357" y="0"/>
                  </a:lnTo>
                  <a:lnTo>
                    <a:pt x="484357" y="1746710"/>
                  </a:lnTo>
                  <a:lnTo>
                    <a:pt x="135826" y="174671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339411" y="5544940"/>
              <a:ext cx="3685540" cy="977265"/>
            </a:xfrm>
            <a:custGeom>
              <a:avLst/>
              <a:gdLst/>
              <a:ahLst/>
              <a:cxnLst/>
              <a:rect l="l" t="t" r="r" b="b"/>
              <a:pathLst>
                <a:path w="3685540" h="977265">
                  <a:moveTo>
                    <a:pt x="3571969" y="976645"/>
                  </a:moveTo>
                  <a:lnTo>
                    <a:pt x="114300" y="976645"/>
                  </a:lnTo>
                  <a:lnTo>
                    <a:pt x="91897" y="974428"/>
                  </a:lnTo>
                  <a:lnTo>
                    <a:pt x="50886" y="957441"/>
                  </a:lnTo>
                  <a:lnTo>
                    <a:pt x="19203" y="925759"/>
                  </a:lnTo>
                  <a:lnTo>
                    <a:pt x="2216" y="884748"/>
                  </a:lnTo>
                  <a:lnTo>
                    <a:pt x="0" y="862345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571969" y="0"/>
                  </a:lnTo>
                  <a:lnTo>
                    <a:pt x="3615710" y="8700"/>
                  </a:lnTo>
                  <a:lnTo>
                    <a:pt x="3652791" y="33477"/>
                  </a:lnTo>
                  <a:lnTo>
                    <a:pt x="3677568" y="70559"/>
                  </a:lnTo>
                  <a:lnTo>
                    <a:pt x="3685309" y="104598"/>
                  </a:lnTo>
                  <a:lnTo>
                    <a:pt x="3685309" y="872047"/>
                  </a:lnTo>
                  <a:lnTo>
                    <a:pt x="3667065" y="925759"/>
                  </a:lnTo>
                  <a:lnTo>
                    <a:pt x="3635383" y="957441"/>
                  </a:lnTo>
                  <a:lnTo>
                    <a:pt x="3594372" y="974428"/>
                  </a:lnTo>
                  <a:lnTo>
                    <a:pt x="3571969" y="976645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383748" y="5768626"/>
            <a:ext cx="359791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70">
                <a:latin typeface="Segoe UI"/>
                <a:cs typeface="Segoe UI"/>
              </a:rPr>
              <a:t>Top-</a:t>
            </a:r>
            <a:r>
              <a:rPr dirty="0" sz="2850">
                <a:latin typeface="Segoe UI"/>
                <a:cs typeface="Segoe UI"/>
              </a:rPr>
              <a:t>k</a:t>
            </a:r>
            <a:r>
              <a:rPr dirty="0" sz="2850" spc="80">
                <a:latin typeface="Segoe UI"/>
                <a:cs typeface="Segoe UI"/>
              </a:rPr>
              <a:t> </a:t>
            </a:r>
            <a:r>
              <a:rPr dirty="0" sz="2850">
                <a:latin typeface="Segoe UI"/>
                <a:cs typeface="Segoe UI"/>
              </a:rPr>
              <a:t>Medical</a:t>
            </a:r>
            <a:r>
              <a:rPr dirty="0" sz="2850" spc="80">
                <a:latin typeface="Segoe UI"/>
                <a:cs typeface="Segoe UI"/>
              </a:rPr>
              <a:t> </a:t>
            </a:r>
            <a:r>
              <a:rPr dirty="0" sz="2850" spc="-10">
                <a:latin typeface="Segoe UI"/>
                <a:cs typeface="Segoe UI"/>
              </a:rPr>
              <a:t>Chunks</a:t>
            </a:r>
            <a:endParaRPr sz="28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43400" y="5579578"/>
            <a:ext cx="8753475" cy="942340"/>
            <a:chOff x="5543400" y="5579578"/>
            <a:chExt cx="8753475" cy="942340"/>
          </a:xfrm>
        </p:grpSpPr>
        <p:sp>
          <p:nvSpPr>
            <p:cNvPr id="20" name="object 20"/>
            <p:cNvSpPr/>
            <p:nvPr/>
          </p:nvSpPr>
          <p:spPr>
            <a:xfrm>
              <a:off x="13026761" y="5697084"/>
              <a:ext cx="1270000" cy="699135"/>
            </a:xfrm>
            <a:custGeom>
              <a:avLst/>
              <a:gdLst/>
              <a:ahLst/>
              <a:cxnLst/>
              <a:rect l="l" t="t" r="r" b="b"/>
              <a:pathLst>
                <a:path w="1270000" h="699135">
                  <a:moveTo>
                    <a:pt x="348328" y="0"/>
                  </a:moveTo>
                  <a:lnTo>
                    <a:pt x="348328" y="174742"/>
                  </a:lnTo>
                  <a:lnTo>
                    <a:pt x="1269613" y="174742"/>
                  </a:lnTo>
                  <a:lnTo>
                    <a:pt x="1269613" y="524227"/>
                  </a:lnTo>
                  <a:lnTo>
                    <a:pt x="348328" y="524227"/>
                  </a:lnTo>
                  <a:lnTo>
                    <a:pt x="348328" y="698969"/>
                  </a:lnTo>
                  <a:lnTo>
                    <a:pt x="0" y="350641"/>
                  </a:lnTo>
                  <a:lnTo>
                    <a:pt x="0" y="348328"/>
                  </a:lnTo>
                  <a:lnTo>
                    <a:pt x="348328" y="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543400" y="5579578"/>
              <a:ext cx="2627630" cy="942340"/>
            </a:xfrm>
            <a:custGeom>
              <a:avLst/>
              <a:gdLst/>
              <a:ahLst/>
              <a:cxnLst/>
              <a:rect l="l" t="t" r="r" b="b"/>
              <a:pathLst>
                <a:path w="2627629" h="942340">
                  <a:moveTo>
                    <a:pt x="2514431" y="942006"/>
                  </a:moveTo>
                  <a:lnTo>
                    <a:pt x="114300" y="942006"/>
                  </a:lnTo>
                  <a:lnTo>
                    <a:pt x="91897" y="939789"/>
                  </a:lnTo>
                  <a:lnTo>
                    <a:pt x="50886" y="922802"/>
                  </a:lnTo>
                  <a:lnTo>
                    <a:pt x="19203" y="891120"/>
                  </a:lnTo>
                  <a:lnTo>
                    <a:pt x="2216" y="850109"/>
                  </a:lnTo>
                  <a:lnTo>
                    <a:pt x="0" y="827706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2514431" y="0"/>
                  </a:lnTo>
                  <a:lnTo>
                    <a:pt x="2558172" y="8700"/>
                  </a:lnTo>
                  <a:lnTo>
                    <a:pt x="2595254" y="33477"/>
                  </a:lnTo>
                  <a:lnTo>
                    <a:pt x="2620030" y="70559"/>
                  </a:lnTo>
                  <a:lnTo>
                    <a:pt x="2627314" y="99974"/>
                  </a:lnTo>
                  <a:lnTo>
                    <a:pt x="2627314" y="842032"/>
                  </a:lnTo>
                  <a:lnTo>
                    <a:pt x="2609527" y="891120"/>
                  </a:lnTo>
                  <a:lnTo>
                    <a:pt x="2577845" y="922802"/>
                  </a:lnTo>
                  <a:lnTo>
                    <a:pt x="2536834" y="939789"/>
                  </a:lnTo>
                  <a:lnTo>
                    <a:pt x="2514431" y="942006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800971" y="5812242"/>
            <a:ext cx="2113915" cy="4514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00">
                <a:latin typeface="Segoe UI"/>
                <a:cs typeface="Segoe UI"/>
              </a:rPr>
              <a:t>Groq</a:t>
            </a:r>
            <a:r>
              <a:rPr dirty="0" sz="2800" spc="-80">
                <a:latin typeface="Segoe UI"/>
                <a:cs typeface="Segoe UI"/>
              </a:rPr>
              <a:t> </a:t>
            </a:r>
            <a:r>
              <a:rPr dirty="0" sz="2800">
                <a:latin typeface="Segoe UI"/>
                <a:cs typeface="Segoe UI"/>
              </a:rPr>
              <a:t>Llama</a:t>
            </a:r>
            <a:r>
              <a:rPr dirty="0" sz="2800" spc="-80">
                <a:latin typeface="Segoe UI"/>
                <a:cs typeface="Segoe UI"/>
              </a:rPr>
              <a:t> </a:t>
            </a:r>
            <a:r>
              <a:rPr dirty="0" sz="2800" spc="-50">
                <a:latin typeface="Segoe UI"/>
                <a:cs typeface="Segoe UI"/>
              </a:rPr>
              <a:t>4</a:t>
            </a:r>
            <a:endParaRPr sz="280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28700" y="5544940"/>
            <a:ext cx="8310880" cy="942340"/>
            <a:chOff x="1028700" y="5544940"/>
            <a:chExt cx="8310880" cy="942340"/>
          </a:xfrm>
        </p:grpSpPr>
        <p:sp>
          <p:nvSpPr>
            <p:cNvPr id="24" name="object 24"/>
            <p:cNvSpPr/>
            <p:nvPr/>
          </p:nvSpPr>
          <p:spPr>
            <a:xfrm>
              <a:off x="4093451" y="5673648"/>
              <a:ext cx="5246370" cy="726440"/>
            </a:xfrm>
            <a:custGeom>
              <a:avLst/>
              <a:gdLst/>
              <a:ahLst/>
              <a:cxnLst/>
              <a:rect l="l" t="t" r="r" b="b"/>
              <a:pathLst>
                <a:path w="5246370" h="726439">
                  <a:moveTo>
                    <a:pt x="1449819" y="202120"/>
                  </a:moveTo>
                  <a:lnTo>
                    <a:pt x="348564" y="202120"/>
                  </a:lnTo>
                  <a:lnTo>
                    <a:pt x="348564" y="27381"/>
                  </a:lnTo>
                  <a:lnTo>
                    <a:pt x="0" y="375932"/>
                  </a:lnTo>
                  <a:lnTo>
                    <a:pt x="0" y="377799"/>
                  </a:lnTo>
                  <a:lnTo>
                    <a:pt x="348564" y="726351"/>
                  </a:lnTo>
                  <a:lnTo>
                    <a:pt x="348564" y="551611"/>
                  </a:lnTo>
                  <a:lnTo>
                    <a:pt x="1449819" y="551611"/>
                  </a:lnTo>
                  <a:lnTo>
                    <a:pt x="1449819" y="202120"/>
                  </a:lnTo>
                  <a:close/>
                </a:path>
                <a:path w="5246370" h="726439">
                  <a:moveTo>
                    <a:pt x="5245938" y="174739"/>
                  </a:moveTo>
                  <a:lnTo>
                    <a:pt x="4428134" y="174739"/>
                  </a:lnTo>
                  <a:lnTo>
                    <a:pt x="4428134" y="0"/>
                  </a:lnTo>
                  <a:lnTo>
                    <a:pt x="4078655" y="349478"/>
                  </a:lnTo>
                  <a:lnTo>
                    <a:pt x="4428134" y="698969"/>
                  </a:lnTo>
                  <a:lnTo>
                    <a:pt x="4428134" y="524230"/>
                  </a:lnTo>
                  <a:lnTo>
                    <a:pt x="5245938" y="524230"/>
                  </a:lnTo>
                  <a:lnTo>
                    <a:pt x="5245938" y="174739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28700" y="5544940"/>
              <a:ext cx="3064510" cy="942340"/>
            </a:xfrm>
            <a:custGeom>
              <a:avLst/>
              <a:gdLst/>
              <a:ahLst/>
              <a:cxnLst/>
              <a:rect l="l" t="t" r="r" b="b"/>
              <a:pathLst>
                <a:path w="3064510" h="942339">
                  <a:moveTo>
                    <a:pt x="2949652" y="942006"/>
                  </a:moveTo>
                  <a:lnTo>
                    <a:pt x="114300" y="942006"/>
                  </a:lnTo>
                  <a:lnTo>
                    <a:pt x="91897" y="939789"/>
                  </a:lnTo>
                  <a:lnTo>
                    <a:pt x="50886" y="922802"/>
                  </a:lnTo>
                  <a:lnTo>
                    <a:pt x="19203" y="891119"/>
                  </a:lnTo>
                  <a:lnTo>
                    <a:pt x="2216" y="850108"/>
                  </a:lnTo>
                  <a:lnTo>
                    <a:pt x="0" y="827706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2949652" y="0"/>
                  </a:lnTo>
                  <a:lnTo>
                    <a:pt x="2993393" y="8700"/>
                  </a:lnTo>
                  <a:lnTo>
                    <a:pt x="3030475" y="33477"/>
                  </a:lnTo>
                  <a:lnTo>
                    <a:pt x="3055252" y="70559"/>
                  </a:lnTo>
                  <a:lnTo>
                    <a:pt x="3063952" y="114300"/>
                  </a:lnTo>
                  <a:lnTo>
                    <a:pt x="3063952" y="827706"/>
                  </a:lnTo>
                  <a:lnTo>
                    <a:pt x="3055252" y="871446"/>
                  </a:lnTo>
                  <a:lnTo>
                    <a:pt x="3030475" y="908528"/>
                  </a:lnTo>
                  <a:lnTo>
                    <a:pt x="2993393" y="933305"/>
                  </a:lnTo>
                  <a:lnTo>
                    <a:pt x="2949652" y="942006"/>
                  </a:lnTo>
                  <a:close/>
                </a:path>
              </a:pathLst>
            </a:custGeom>
            <a:solidFill>
              <a:srgbClr val="3762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531094" y="5784938"/>
            <a:ext cx="205930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latin typeface="Segoe UI"/>
                <a:cs typeface="Segoe UI"/>
              </a:rPr>
              <a:t>Final</a:t>
            </a:r>
            <a:r>
              <a:rPr dirty="0" sz="2850" spc="50">
                <a:latin typeface="Segoe UI"/>
                <a:cs typeface="Segoe UI"/>
              </a:rPr>
              <a:t> </a:t>
            </a:r>
            <a:r>
              <a:rPr dirty="0" sz="2850" spc="-10">
                <a:latin typeface="Segoe UI"/>
                <a:cs typeface="Segoe UI"/>
              </a:rPr>
              <a:t>Answer</a:t>
            </a:r>
            <a:endParaRPr sz="28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58260" y="7927493"/>
            <a:ext cx="5333365" cy="82359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200" spc="665" i="1">
                <a:latin typeface="Cambria"/>
                <a:cs typeface="Cambria"/>
              </a:rPr>
              <a:t>Online</a:t>
            </a:r>
            <a:r>
              <a:rPr dirty="0" sz="5200" spc="880" i="1">
                <a:latin typeface="Cambria"/>
                <a:cs typeface="Cambria"/>
              </a:rPr>
              <a:t> </a:t>
            </a:r>
            <a:r>
              <a:rPr dirty="0" sz="5200" spc="515" i="1">
                <a:latin typeface="Cambria"/>
                <a:cs typeface="Cambria"/>
              </a:rPr>
              <a:t>Pipeline</a:t>
            </a:r>
            <a:endParaRPr sz="5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50" spc="300" i="1">
                <a:solidFill>
                  <a:srgbClr val="000000"/>
                </a:solidFill>
                <a:latin typeface="Cambria"/>
                <a:cs typeface="Cambria"/>
              </a:rPr>
              <a:t>Let's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85" i="1">
                <a:solidFill>
                  <a:srgbClr val="000000"/>
                </a:solidFill>
                <a:latin typeface="Cambria"/>
                <a:cs typeface="Cambria"/>
              </a:rPr>
              <a:t>Ask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550" i="1">
                <a:solidFill>
                  <a:srgbClr val="000000"/>
                </a:solidFill>
                <a:latin typeface="Cambria"/>
                <a:cs typeface="Cambria"/>
              </a:rPr>
              <a:t>Our</a:t>
            </a:r>
            <a:r>
              <a:rPr dirty="0" sz="4050" spc="655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55" i="1">
                <a:solidFill>
                  <a:srgbClr val="000000"/>
                </a:solidFill>
                <a:latin typeface="Cambria"/>
                <a:cs typeface="Cambria"/>
              </a:rPr>
              <a:t>Assistant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3000" y="2611149"/>
            <a:ext cx="4074160" cy="836294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25120" marR="5080" indent="-313055">
              <a:lnSpc>
                <a:spcPts val="3150"/>
              </a:lnSpc>
              <a:spcBef>
                <a:spcPts val="275"/>
              </a:spcBef>
            </a:pPr>
            <a:r>
              <a:rPr dirty="0" sz="2700" spc="275" i="1">
                <a:latin typeface="Cambria"/>
                <a:cs typeface="Cambria"/>
              </a:rPr>
              <a:t>What</a:t>
            </a:r>
            <a:r>
              <a:rPr dirty="0" sz="2700" spc="450" i="1">
                <a:latin typeface="Cambria"/>
                <a:cs typeface="Cambria"/>
              </a:rPr>
              <a:t> </a:t>
            </a:r>
            <a:r>
              <a:rPr dirty="0" sz="2700" spc="170" i="1">
                <a:latin typeface="Cambria"/>
                <a:cs typeface="Cambria"/>
              </a:rPr>
              <a:t>are</a:t>
            </a:r>
            <a:r>
              <a:rPr dirty="0" sz="2700" spc="450" i="1">
                <a:latin typeface="Cambria"/>
                <a:cs typeface="Cambria"/>
              </a:rPr>
              <a:t> </a:t>
            </a:r>
            <a:r>
              <a:rPr dirty="0" sz="2700" spc="135" i="1">
                <a:latin typeface="Cambria"/>
                <a:cs typeface="Cambria"/>
              </a:rPr>
              <a:t>the</a:t>
            </a:r>
            <a:r>
              <a:rPr dirty="0" sz="2700" spc="450" i="1">
                <a:latin typeface="Cambria"/>
                <a:cs typeface="Cambria"/>
              </a:rPr>
              <a:t> </a:t>
            </a:r>
            <a:r>
              <a:rPr dirty="0" sz="2700" spc="185" i="1">
                <a:latin typeface="Cambria"/>
                <a:cs typeface="Cambria"/>
              </a:rPr>
              <a:t>symptoms </a:t>
            </a:r>
            <a:r>
              <a:rPr dirty="0" sz="2700" spc="145" i="1">
                <a:latin typeface="Cambria"/>
                <a:cs typeface="Cambria"/>
              </a:rPr>
              <a:t>of</a:t>
            </a:r>
            <a:r>
              <a:rPr dirty="0" sz="2700" spc="445" i="1">
                <a:latin typeface="Cambria"/>
                <a:cs typeface="Cambria"/>
              </a:rPr>
              <a:t> </a:t>
            </a:r>
            <a:r>
              <a:rPr dirty="0" sz="2700" spc="295" i="1">
                <a:latin typeface="Cambria"/>
                <a:cs typeface="Cambria"/>
              </a:rPr>
              <a:t>Type</a:t>
            </a:r>
            <a:r>
              <a:rPr dirty="0" sz="2700" spc="450" i="1">
                <a:latin typeface="Cambria"/>
                <a:cs typeface="Cambria"/>
              </a:rPr>
              <a:t> </a:t>
            </a:r>
            <a:r>
              <a:rPr dirty="0" sz="2700" spc="254" i="1">
                <a:latin typeface="Cambria"/>
                <a:cs typeface="Cambria"/>
              </a:rPr>
              <a:t>2</a:t>
            </a:r>
            <a:r>
              <a:rPr dirty="0" sz="2700" spc="450" i="1">
                <a:latin typeface="Cambria"/>
                <a:cs typeface="Cambria"/>
              </a:rPr>
              <a:t> </a:t>
            </a:r>
            <a:r>
              <a:rPr dirty="0" sz="2700" spc="225" i="1">
                <a:latin typeface="Cambria"/>
                <a:cs typeface="Cambria"/>
              </a:rPr>
              <a:t>Diabetes?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974340">
              <a:lnSpc>
                <a:spcPct val="100000"/>
              </a:lnSpc>
              <a:spcBef>
                <a:spcPts val="95"/>
              </a:spcBef>
            </a:pPr>
            <a:r>
              <a:rPr dirty="0" sz="4050" spc="425" i="1">
                <a:solidFill>
                  <a:srgbClr val="000000"/>
                </a:solidFill>
                <a:latin typeface="Cambria"/>
                <a:cs typeface="Cambria"/>
              </a:rPr>
              <a:t>What</a:t>
            </a:r>
            <a:r>
              <a:rPr dirty="0" sz="4050" spc="65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580" i="1">
                <a:solidFill>
                  <a:srgbClr val="000000"/>
                </a:solidFill>
                <a:latin typeface="Cambria"/>
                <a:cs typeface="Cambria"/>
              </a:rPr>
              <a:t>Did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420" i="1">
                <a:solidFill>
                  <a:srgbClr val="000000"/>
                </a:solidFill>
                <a:latin typeface="Cambria"/>
                <a:cs typeface="Cambria"/>
              </a:rPr>
              <a:t>We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405" i="1">
                <a:solidFill>
                  <a:srgbClr val="000000"/>
                </a:solidFill>
                <a:latin typeface="Cambria"/>
                <a:cs typeface="Cambria"/>
              </a:rPr>
              <a:t>Achieve?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1794" y="2215219"/>
            <a:ext cx="3821429" cy="1259205"/>
          </a:xfrm>
          <a:custGeom>
            <a:avLst/>
            <a:gdLst/>
            <a:ahLst/>
            <a:cxnLst/>
            <a:rect l="l" t="t" r="r" b="b"/>
            <a:pathLst>
              <a:path w="3821429" h="1259204">
                <a:moveTo>
                  <a:pt x="3706715" y="1259166"/>
                </a:moveTo>
                <a:lnTo>
                  <a:pt x="114299" y="1259166"/>
                </a:lnTo>
                <a:lnTo>
                  <a:pt x="91897" y="1256949"/>
                </a:lnTo>
                <a:lnTo>
                  <a:pt x="50886" y="1239962"/>
                </a:lnTo>
                <a:lnTo>
                  <a:pt x="19203" y="1208279"/>
                </a:lnTo>
                <a:lnTo>
                  <a:pt x="2216" y="1167268"/>
                </a:lnTo>
                <a:lnTo>
                  <a:pt x="0" y="1144866"/>
                </a:lnTo>
                <a:lnTo>
                  <a:pt x="0" y="114299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299" y="0"/>
                </a:lnTo>
                <a:lnTo>
                  <a:pt x="3706715" y="0"/>
                </a:lnTo>
                <a:lnTo>
                  <a:pt x="3750456" y="8700"/>
                </a:lnTo>
                <a:lnTo>
                  <a:pt x="3787537" y="33477"/>
                </a:lnTo>
                <a:lnTo>
                  <a:pt x="3812314" y="70559"/>
                </a:lnTo>
                <a:lnTo>
                  <a:pt x="3821015" y="114299"/>
                </a:lnTo>
                <a:lnTo>
                  <a:pt x="3821015" y="1144866"/>
                </a:lnTo>
                <a:lnTo>
                  <a:pt x="3812314" y="1188606"/>
                </a:lnTo>
                <a:lnTo>
                  <a:pt x="3787537" y="1225688"/>
                </a:lnTo>
                <a:lnTo>
                  <a:pt x="3750456" y="1250465"/>
                </a:lnTo>
                <a:lnTo>
                  <a:pt x="3706715" y="1259166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45588" y="2540539"/>
            <a:ext cx="3093720" cy="628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>
                <a:latin typeface="Segoe UI"/>
                <a:cs typeface="Segoe UI"/>
              </a:rPr>
              <a:t>91%</a:t>
            </a:r>
            <a:r>
              <a:rPr dirty="0" sz="3950" spc="-10">
                <a:latin typeface="Segoe UI"/>
                <a:cs typeface="Segoe UI"/>
              </a:rPr>
              <a:t> Accuracy</a:t>
            </a:r>
            <a:endParaRPr sz="39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37606" y="2215219"/>
            <a:ext cx="4520565" cy="1259205"/>
          </a:xfrm>
          <a:custGeom>
            <a:avLst/>
            <a:gdLst/>
            <a:ahLst/>
            <a:cxnLst/>
            <a:rect l="l" t="t" r="r" b="b"/>
            <a:pathLst>
              <a:path w="4520565" h="1259204">
                <a:moveTo>
                  <a:pt x="4407391" y="1259165"/>
                </a:moveTo>
                <a:lnTo>
                  <a:pt x="114300" y="1259165"/>
                </a:lnTo>
                <a:lnTo>
                  <a:pt x="91897" y="1256949"/>
                </a:lnTo>
                <a:lnTo>
                  <a:pt x="50886" y="1239962"/>
                </a:lnTo>
                <a:lnTo>
                  <a:pt x="19203" y="1208279"/>
                </a:lnTo>
                <a:lnTo>
                  <a:pt x="2216" y="1167268"/>
                </a:lnTo>
                <a:lnTo>
                  <a:pt x="0" y="1144866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4407391" y="0"/>
                </a:lnTo>
                <a:lnTo>
                  <a:pt x="4429794" y="2216"/>
                </a:lnTo>
                <a:lnTo>
                  <a:pt x="4470805" y="19203"/>
                </a:lnTo>
                <a:lnTo>
                  <a:pt x="4502488" y="50886"/>
                </a:lnTo>
                <a:lnTo>
                  <a:pt x="4519474" y="91897"/>
                </a:lnTo>
                <a:lnTo>
                  <a:pt x="4520208" y="99314"/>
                </a:lnTo>
                <a:lnTo>
                  <a:pt x="4520208" y="1159851"/>
                </a:lnTo>
                <a:lnTo>
                  <a:pt x="4502488" y="1208279"/>
                </a:lnTo>
                <a:lnTo>
                  <a:pt x="4470805" y="1239962"/>
                </a:lnTo>
                <a:lnTo>
                  <a:pt x="4429794" y="1256949"/>
                </a:lnTo>
                <a:lnTo>
                  <a:pt x="4407391" y="1259165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082987" y="2528369"/>
            <a:ext cx="3830954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>
                <a:latin typeface="Segoe UI"/>
                <a:cs typeface="Segoe UI"/>
              </a:rPr>
              <a:t>90.66%</a:t>
            </a:r>
            <a:r>
              <a:rPr dirty="0" sz="3950" spc="-30">
                <a:latin typeface="Segoe UI"/>
                <a:cs typeface="Segoe UI"/>
              </a:rPr>
              <a:t> </a:t>
            </a:r>
            <a:r>
              <a:rPr dirty="0" sz="3950">
                <a:latin typeface="Segoe UI"/>
                <a:cs typeface="Segoe UI"/>
              </a:rPr>
              <a:t>Macro</a:t>
            </a:r>
            <a:r>
              <a:rPr dirty="0" sz="3950" spc="-25">
                <a:latin typeface="Segoe UI"/>
                <a:cs typeface="Segoe UI"/>
              </a:rPr>
              <a:t> F1</a:t>
            </a:r>
            <a:endParaRPr sz="395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9025" y="4666316"/>
            <a:ext cx="6131560" cy="1259205"/>
          </a:xfrm>
          <a:custGeom>
            <a:avLst/>
            <a:gdLst/>
            <a:ahLst/>
            <a:cxnLst/>
            <a:rect l="l" t="t" r="r" b="b"/>
            <a:pathLst>
              <a:path w="6131559" h="1259204">
                <a:moveTo>
                  <a:pt x="6017053" y="1259165"/>
                </a:moveTo>
                <a:lnTo>
                  <a:pt x="114299" y="1259165"/>
                </a:lnTo>
                <a:lnTo>
                  <a:pt x="91897" y="1256949"/>
                </a:lnTo>
                <a:lnTo>
                  <a:pt x="50886" y="1239962"/>
                </a:lnTo>
                <a:lnTo>
                  <a:pt x="19203" y="1208279"/>
                </a:lnTo>
                <a:lnTo>
                  <a:pt x="2216" y="1167268"/>
                </a:lnTo>
                <a:lnTo>
                  <a:pt x="0" y="1144865"/>
                </a:lnTo>
                <a:lnTo>
                  <a:pt x="0" y="114299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299" y="0"/>
                </a:lnTo>
                <a:lnTo>
                  <a:pt x="6017053" y="0"/>
                </a:lnTo>
                <a:lnTo>
                  <a:pt x="6060793" y="8700"/>
                </a:lnTo>
                <a:lnTo>
                  <a:pt x="6097875" y="33477"/>
                </a:lnTo>
                <a:lnTo>
                  <a:pt x="6122652" y="70559"/>
                </a:lnTo>
                <a:lnTo>
                  <a:pt x="6131353" y="114299"/>
                </a:lnTo>
                <a:lnTo>
                  <a:pt x="6131353" y="1144865"/>
                </a:lnTo>
                <a:lnTo>
                  <a:pt x="6122652" y="1188606"/>
                </a:lnTo>
                <a:lnTo>
                  <a:pt x="6097875" y="1225688"/>
                </a:lnTo>
                <a:lnTo>
                  <a:pt x="6060793" y="1250465"/>
                </a:lnTo>
                <a:lnTo>
                  <a:pt x="6017053" y="1259165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85264" y="4979466"/>
            <a:ext cx="5518785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>
                <a:latin typeface="Segoe UI"/>
                <a:cs typeface="Segoe UI"/>
              </a:rPr>
              <a:t>94.2%</a:t>
            </a:r>
            <a:r>
              <a:rPr dirty="0" sz="3950" spc="-105">
                <a:latin typeface="Segoe UI"/>
                <a:cs typeface="Segoe UI"/>
              </a:rPr>
              <a:t> </a:t>
            </a:r>
            <a:r>
              <a:rPr dirty="0" sz="3950">
                <a:latin typeface="Segoe UI"/>
                <a:cs typeface="Segoe UI"/>
              </a:rPr>
              <a:t>Retrieval</a:t>
            </a:r>
            <a:r>
              <a:rPr dirty="0" sz="3950" spc="-100">
                <a:latin typeface="Segoe UI"/>
                <a:cs typeface="Segoe UI"/>
              </a:rPr>
              <a:t> </a:t>
            </a:r>
            <a:r>
              <a:rPr dirty="0" sz="3950" spc="-10">
                <a:latin typeface="Segoe UI"/>
                <a:cs typeface="Segoe UI"/>
              </a:rPr>
              <a:t>Precision</a:t>
            </a:r>
            <a:endParaRPr sz="395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737606" y="4666316"/>
            <a:ext cx="4520565" cy="1259205"/>
          </a:xfrm>
          <a:custGeom>
            <a:avLst/>
            <a:gdLst/>
            <a:ahLst/>
            <a:cxnLst/>
            <a:rect l="l" t="t" r="r" b="b"/>
            <a:pathLst>
              <a:path w="4520565" h="1259204">
                <a:moveTo>
                  <a:pt x="4407391" y="1259165"/>
                </a:moveTo>
                <a:lnTo>
                  <a:pt x="114300" y="1259165"/>
                </a:lnTo>
                <a:lnTo>
                  <a:pt x="91897" y="1256949"/>
                </a:lnTo>
                <a:lnTo>
                  <a:pt x="50886" y="1239962"/>
                </a:lnTo>
                <a:lnTo>
                  <a:pt x="19203" y="1208279"/>
                </a:lnTo>
                <a:lnTo>
                  <a:pt x="2216" y="1167268"/>
                </a:lnTo>
                <a:lnTo>
                  <a:pt x="0" y="1144865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4407391" y="0"/>
                </a:lnTo>
                <a:lnTo>
                  <a:pt x="4451132" y="8700"/>
                </a:lnTo>
                <a:lnTo>
                  <a:pt x="4488214" y="33477"/>
                </a:lnTo>
                <a:lnTo>
                  <a:pt x="4512991" y="70559"/>
                </a:lnTo>
                <a:lnTo>
                  <a:pt x="4520208" y="99314"/>
                </a:lnTo>
                <a:lnTo>
                  <a:pt x="4520208" y="1159851"/>
                </a:lnTo>
                <a:lnTo>
                  <a:pt x="4502488" y="1208279"/>
                </a:lnTo>
                <a:lnTo>
                  <a:pt x="4470805" y="1239962"/>
                </a:lnTo>
                <a:lnTo>
                  <a:pt x="4429794" y="1256949"/>
                </a:lnTo>
                <a:lnTo>
                  <a:pt x="4407391" y="1259165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140732" y="4979466"/>
            <a:ext cx="3715385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>
                <a:latin typeface="Segoe UI"/>
                <a:cs typeface="Segoe UI"/>
              </a:rPr>
              <a:t>86%</a:t>
            </a:r>
            <a:r>
              <a:rPr dirty="0" sz="3950" spc="-10">
                <a:latin typeface="Segoe UI"/>
                <a:cs typeface="Segoe UI"/>
              </a:rPr>
              <a:t> Faithfulness</a:t>
            </a:r>
            <a:endParaRPr sz="395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54547" y="6862128"/>
            <a:ext cx="4274820" cy="1259205"/>
          </a:xfrm>
          <a:custGeom>
            <a:avLst/>
            <a:gdLst/>
            <a:ahLst/>
            <a:cxnLst/>
            <a:rect l="l" t="t" r="r" b="b"/>
            <a:pathLst>
              <a:path w="4274820" h="1259204">
                <a:moveTo>
                  <a:pt x="4161208" y="1259165"/>
                </a:moveTo>
                <a:lnTo>
                  <a:pt x="114300" y="1259165"/>
                </a:lnTo>
                <a:lnTo>
                  <a:pt x="91897" y="1256949"/>
                </a:lnTo>
                <a:lnTo>
                  <a:pt x="50886" y="1239962"/>
                </a:lnTo>
                <a:lnTo>
                  <a:pt x="19203" y="1208279"/>
                </a:lnTo>
                <a:lnTo>
                  <a:pt x="2216" y="1167269"/>
                </a:lnTo>
                <a:lnTo>
                  <a:pt x="0" y="1144866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4161208" y="0"/>
                </a:lnTo>
                <a:lnTo>
                  <a:pt x="4204948" y="8700"/>
                </a:lnTo>
                <a:lnTo>
                  <a:pt x="4242030" y="33477"/>
                </a:lnTo>
                <a:lnTo>
                  <a:pt x="4266807" y="70559"/>
                </a:lnTo>
                <a:lnTo>
                  <a:pt x="4274277" y="101867"/>
                </a:lnTo>
                <a:lnTo>
                  <a:pt x="4274277" y="1157299"/>
                </a:lnTo>
                <a:lnTo>
                  <a:pt x="4256304" y="1208279"/>
                </a:lnTo>
                <a:lnTo>
                  <a:pt x="4224621" y="1239962"/>
                </a:lnTo>
                <a:lnTo>
                  <a:pt x="4183610" y="1256949"/>
                </a:lnTo>
                <a:lnTo>
                  <a:pt x="4161208" y="1259165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80704" y="7175278"/>
            <a:ext cx="4023360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>
                <a:latin typeface="Segoe UI"/>
                <a:cs typeface="Segoe UI"/>
              </a:rPr>
              <a:t>10%</a:t>
            </a:r>
            <a:r>
              <a:rPr dirty="0" sz="3950" spc="-10">
                <a:latin typeface="Segoe UI"/>
                <a:cs typeface="Segoe UI"/>
              </a:rPr>
              <a:t> Hallucination</a:t>
            </a:r>
            <a:endParaRPr sz="39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737606" y="6862128"/>
            <a:ext cx="4520565" cy="1259205"/>
          </a:xfrm>
          <a:custGeom>
            <a:avLst/>
            <a:gdLst/>
            <a:ahLst/>
            <a:cxnLst/>
            <a:rect l="l" t="t" r="r" b="b"/>
            <a:pathLst>
              <a:path w="4520565" h="1259204">
                <a:moveTo>
                  <a:pt x="4407391" y="1259165"/>
                </a:moveTo>
                <a:lnTo>
                  <a:pt x="114300" y="1259165"/>
                </a:lnTo>
                <a:lnTo>
                  <a:pt x="91897" y="1256949"/>
                </a:lnTo>
                <a:lnTo>
                  <a:pt x="50886" y="1239962"/>
                </a:lnTo>
                <a:lnTo>
                  <a:pt x="19203" y="1208279"/>
                </a:lnTo>
                <a:lnTo>
                  <a:pt x="2216" y="1167269"/>
                </a:lnTo>
                <a:lnTo>
                  <a:pt x="0" y="1144866"/>
                </a:lnTo>
                <a:lnTo>
                  <a:pt x="0" y="114300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300" y="0"/>
                </a:lnTo>
                <a:lnTo>
                  <a:pt x="4407391" y="0"/>
                </a:lnTo>
                <a:lnTo>
                  <a:pt x="4451132" y="8700"/>
                </a:lnTo>
                <a:lnTo>
                  <a:pt x="4488214" y="33477"/>
                </a:lnTo>
                <a:lnTo>
                  <a:pt x="4512991" y="70559"/>
                </a:lnTo>
                <a:lnTo>
                  <a:pt x="4520208" y="99314"/>
                </a:lnTo>
                <a:lnTo>
                  <a:pt x="4520208" y="1159852"/>
                </a:lnTo>
                <a:lnTo>
                  <a:pt x="4502488" y="1208279"/>
                </a:lnTo>
                <a:lnTo>
                  <a:pt x="4470805" y="1239962"/>
                </a:lnTo>
                <a:lnTo>
                  <a:pt x="4429794" y="1256949"/>
                </a:lnTo>
                <a:lnTo>
                  <a:pt x="4407391" y="1259165"/>
                </a:lnTo>
                <a:close/>
              </a:path>
            </a:pathLst>
          </a:custGeom>
          <a:solidFill>
            <a:srgbClr val="3762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275273" y="7175278"/>
            <a:ext cx="3446145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>
                <a:latin typeface="Segoe UI"/>
                <a:cs typeface="Segoe UI"/>
              </a:rPr>
              <a:t>264</a:t>
            </a:r>
            <a:r>
              <a:rPr dirty="0" sz="3950" spc="-10">
                <a:latin typeface="Segoe UI"/>
                <a:cs typeface="Segoe UI"/>
              </a:rPr>
              <a:t> </a:t>
            </a:r>
            <a:r>
              <a:rPr dirty="0" sz="3950">
                <a:latin typeface="Segoe UI"/>
                <a:cs typeface="Segoe UI"/>
              </a:rPr>
              <a:t>ms</a:t>
            </a:r>
            <a:r>
              <a:rPr dirty="0" sz="3950" spc="-5">
                <a:latin typeface="Segoe UI"/>
                <a:cs typeface="Segoe UI"/>
              </a:rPr>
              <a:t> </a:t>
            </a:r>
            <a:r>
              <a:rPr dirty="0" sz="3950" spc="-10">
                <a:latin typeface="Segoe UI"/>
                <a:cs typeface="Segoe UI"/>
              </a:rPr>
              <a:t>Latency</a:t>
            </a:r>
            <a:endParaRPr sz="39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467" rIns="0" bIns="0" rtlCol="0" vert="horz">
            <a:spAutoFit/>
          </a:bodyPr>
          <a:lstStyle/>
          <a:p>
            <a:pPr marL="2481580">
              <a:lnSpc>
                <a:spcPct val="100000"/>
              </a:lnSpc>
              <a:spcBef>
                <a:spcPts val="95"/>
              </a:spcBef>
            </a:pPr>
            <a:r>
              <a:rPr dirty="0" sz="4050" spc="484" i="1">
                <a:solidFill>
                  <a:srgbClr val="000000"/>
                </a:solidFill>
                <a:latin typeface="Cambria"/>
                <a:cs typeface="Cambria"/>
              </a:rPr>
              <a:t>Why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290" i="1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dirty="0" sz="4050" spc="655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550" i="1">
                <a:solidFill>
                  <a:srgbClr val="000000"/>
                </a:solidFill>
                <a:latin typeface="Cambria"/>
                <a:cs typeface="Cambria"/>
              </a:rPr>
              <a:t>Our</a:t>
            </a:r>
            <a:r>
              <a:rPr dirty="0" sz="4050" spc="660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40" i="1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dirty="0" sz="4050" spc="655" i="1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4050" spc="330" i="1">
                <a:solidFill>
                  <a:srgbClr val="000000"/>
                </a:solidFill>
                <a:latin typeface="Cambria"/>
                <a:cs typeface="Cambria"/>
              </a:rPr>
              <a:t>Better?</a:t>
            </a:r>
            <a:endParaRPr sz="4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130869" y="3180761"/>
          <a:ext cx="14102715" cy="3573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08495"/>
                <a:gridCol w="7008495"/>
              </a:tblGrid>
              <a:tr h="893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20">
                          <a:latin typeface="Verdana"/>
                          <a:cs typeface="Verdana"/>
                        </a:rPr>
                        <a:t>Traditional</a:t>
                      </a:r>
                      <a:r>
                        <a:rPr dirty="0" sz="1500" spc="-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25">
                          <a:latin typeface="Verdana"/>
                          <a:cs typeface="Verdana"/>
                        </a:rPr>
                        <a:t>LLM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25">
                          <a:latin typeface="Verdana"/>
                          <a:cs typeface="Verdana"/>
                        </a:rPr>
                        <a:t>Our</a:t>
                      </a:r>
                      <a:r>
                        <a:rPr dirty="0" sz="1500" spc="-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25">
                          <a:latin typeface="Verdana"/>
                          <a:cs typeface="Verdana"/>
                        </a:rPr>
                        <a:t>RAG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</a:tr>
              <a:tr h="893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20">
                          <a:latin typeface="Verdana"/>
                          <a:cs typeface="Verdana"/>
                        </a:rPr>
                        <a:t>May</a:t>
                      </a:r>
                      <a:r>
                        <a:rPr dirty="0" sz="1500" spc="-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0">
                          <a:latin typeface="Verdana"/>
                          <a:cs typeface="Verdana"/>
                        </a:rPr>
                        <a:t>Hallucinate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30">
                          <a:latin typeface="Verdana"/>
                          <a:cs typeface="Verdana"/>
                        </a:rPr>
                        <a:t>Evidence-</a:t>
                      </a:r>
                      <a:r>
                        <a:rPr dirty="0" sz="1500" spc="-10">
                          <a:latin typeface="Verdana"/>
                          <a:cs typeface="Verdana"/>
                        </a:rPr>
                        <a:t>Based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</a:tr>
              <a:tr h="893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>
                          <a:latin typeface="Verdana"/>
                          <a:cs typeface="Verdana"/>
                        </a:rPr>
                        <a:t>No</a:t>
                      </a:r>
                      <a:r>
                        <a:rPr dirty="0" sz="1500" spc="-1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0">
                          <a:latin typeface="Verdana"/>
                          <a:cs typeface="Verdana"/>
                        </a:rPr>
                        <a:t>Sources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35">
                          <a:latin typeface="Verdana"/>
                          <a:cs typeface="Verdana"/>
                        </a:rPr>
                        <a:t>Source</a:t>
                      </a:r>
                      <a:r>
                        <a:rPr dirty="0" sz="1500" spc="-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0">
                          <a:latin typeface="Verdana"/>
                          <a:cs typeface="Verdana"/>
                        </a:rPr>
                        <a:t>Citations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</a:tr>
              <a:tr h="893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35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1500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0">
                          <a:latin typeface="Verdana"/>
                          <a:cs typeface="Verdana"/>
                        </a:rPr>
                        <a:t>Knowledge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>
                          <a:latin typeface="Verdana"/>
                          <a:cs typeface="Verdana"/>
                        </a:rPr>
                        <a:t>Medical</a:t>
                      </a:r>
                      <a:r>
                        <a:rPr dirty="0" sz="1500" spc="-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0">
                          <a:latin typeface="Verdana"/>
                          <a:cs typeface="Verdana"/>
                        </a:rPr>
                        <a:t>Literature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762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389" rIns="0" bIns="0" rtlCol="0" vert="horz">
            <a:spAutoFit/>
          </a:bodyPr>
          <a:lstStyle/>
          <a:p>
            <a:pPr marL="3029585">
              <a:lnSpc>
                <a:spcPct val="100000"/>
              </a:lnSpc>
              <a:spcBef>
                <a:spcPts val="95"/>
              </a:spcBef>
            </a:pPr>
            <a:r>
              <a:rPr dirty="0" spc="-265"/>
              <a:t>Future</a:t>
            </a:r>
            <a:r>
              <a:rPr dirty="0" spc="-415"/>
              <a:t> </a:t>
            </a:r>
            <a:r>
              <a:rPr dirty="0" spc="-290"/>
              <a:t>Improvements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9055" y="3647218"/>
            <a:ext cx="191975" cy="191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9055" y="4358657"/>
            <a:ext cx="191975" cy="191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9055" y="5070097"/>
            <a:ext cx="191975" cy="1919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9055" y="5781536"/>
            <a:ext cx="191975" cy="1919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9055" y="6492976"/>
            <a:ext cx="191975" cy="19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12700" marR="5080">
              <a:lnSpc>
                <a:spcPts val="5600"/>
              </a:lnSpc>
              <a:spcBef>
                <a:spcPts val="415"/>
              </a:spcBef>
            </a:pPr>
            <a:r>
              <a:rPr dirty="0" spc="465"/>
              <a:t>Automatic</a:t>
            </a:r>
            <a:r>
              <a:rPr dirty="0" spc="790"/>
              <a:t> </a:t>
            </a:r>
            <a:r>
              <a:rPr dirty="0" spc="455"/>
              <a:t>Classification </a:t>
            </a:r>
            <a:r>
              <a:rPr dirty="0" spc="610"/>
              <a:t>Hybrid</a:t>
            </a:r>
            <a:r>
              <a:rPr dirty="0" spc="785"/>
              <a:t> </a:t>
            </a:r>
            <a:r>
              <a:rPr dirty="0" spc="400"/>
              <a:t>Search</a:t>
            </a:r>
          </a:p>
          <a:p>
            <a:pPr marL="12700" marR="485775">
              <a:lnSpc>
                <a:spcPts val="5600"/>
              </a:lnSpc>
              <a:spcBef>
                <a:spcPts val="5"/>
              </a:spcBef>
            </a:pPr>
            <a:r>
              <a:rPr dirty="0" spc="490"/>
              <a:t>Larger</a:t>
            </a:r>
            <a:r>
              <a:rPr dirty="0" spc="790"/>
              <a:t> </a:t>
            </a:r>
            <a:r>
              <a:rPr dirty="0" spc="525"/>
              <a:t>Medical</a:t>
            </a:r>
            <a:r>
              <a:rPr dirty="0" spc="795"/>
              <a:t> </a:t>
            </a:r>
            <a:r>
              <a:rPr dirty="0" spc="459"/>
              <a:t>Corpus </a:t>
            </a:r>
            <a:r>
              <a:rPr dirty="0" spc="540"/>
              <a:t>Multilingual</a:t>
            </a:r>
            <a:r>
              <a:rPr dirty="0" spc="830"/>
              <a:t> </a:t>
            </a:r>
            <a:r>
              <a:rPr dirty="0" spc="420"/>
              <a:t>Support</a:t>
            </a:r>
          </a:p>
          <a:p>
            <a:pPr marL="12700">
              <a:lnSpc>
                <a:spcPts val="5445"/>
              </a:lnSpc>
            </a:pPr>
            <a:r>
              <a:rPr dirty="0" spc="459"/>
              <a:t>Production</a:t>
            </a:r>
            <a:r>
              <a:rPr dirty="0" spc="819"/>
              <a:t> </a:t>
            </a:r>
            <a:r>
              <a:rPr dirty="0" spc="450"/>
              <a:t>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7401" y="1588739"/>
            <a:ext cx="7599545" cy="7489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Youssef George</dc:creator>
  <cp:keywords>DAHO4e3vzwE,BAGCJAsR4gI,0</cp:keywords>
  <dc:title>Healthcare RAG-Powered</dc:title>
  <dcterms:created xsi:type="dcterms:W3CDTF">2026-07-09T20:04:50Z</dcterms:created>
  <dcterms:modified xsi:type="dcterms:W3CDTF">2026-07-09T20:04:50Z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2026-07-09T00:00:00Z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2026-07-09T00:00:00Z</vt:filetime>
  </property>
  <property fmtid="{D5CDD505-2E9C-101B-9397-08002B2CF9AE}" pid="6" name="Producer">
    <vt:lpwstr>Canva</vt:lpwstr>
  </property>
</Properties>
</file>